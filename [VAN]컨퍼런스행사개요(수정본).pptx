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C2CD"/>
    <a:srgbClr val="A7814D"/>
    <a:srgbClr val="898C97"/>
    <a:srgbClr val="DAC7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3" autoAdjust="0"/>
    <p:restoredTop sz="94660"/>
  </p:normalViewPr>
  <p:slideViewPr>
    <p:cSldViewPr>
      <p:cViewPr>
        <p:scale>
          <a:sx n="100" d="100"/>
          <a:sy n="100" d="100"/>
        </p:scale>
        <p:origin x="2885" y="-9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rgbClr val="1C2136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A7814D"/>
                </a:solidFill>
                <a:latin typeface="Consolas"/>
                <a:cs typeface="Consolas"/>
              </a:defRPr>
            </a:lvl1pPr>
          </a:lstStyle>
          <a:p>
            <a:pPr marL="12700">
              <a:lnSpc>
                <a:spcPts val="735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rgbClr val="1C2136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A7814D"/>
                </a:solidFill>
                <a:latin typeface="Consolas"/>
                <a:cs typeface="Consolas"/>
              </a:defRPr>
            </a:lvl1pPr>
          </a:lstStyle>
          <a:p>
            <a:pPr marL="12700">
              <a:lnSpc>
                <a:spcPts val="735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rgbClr val="1C2136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A7814D"/>
                </a:solidFill>
                <a:latin typeface="Consolas"/>
                <a:cs typeface="Consolas"/>
              </a:defRPr>
            </a:lvl1pPr>
          </a:lstStyle>
          <a:p>
            <a:pPr marL="12700">
              <a:lnSpc>
                <a:spcPts val="735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rgbClr val="1C2136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A7814D"/>
                </a:solidFill>
                <a:latin typeface="Consolas"/>
                <a:cs typeface="Consolas"/>
              </a:defRPr>
            </a:lvl1pPr>
          </a:lstStyle>
          <a:p>
            <a:pPr marL="12700">
              <a:lnSpc>
                <a:spcPts val="735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3"/>
            <a:ext cx="7556500" cy="10692130"/>
          </a:xfrm>
          <a:custGeom>
            <a:avLst/>
            <a:gdLst/>
            <a:ahLst/>
            <a:cxnLst/>
            <a:rect l="l" t="t" r="r" b="b"/>
            <a:pathLst>
              <a:path w="7556500" h="10692130">
                <a:moveTo>
                  <a:pt x="7555992" y="10691957"/>
                </a:moveTo>
                <a:lnTo>
                  <a:pt x="0" y="10691957"/>
                </a:lnTo>
                <a:lnTo>
                  <a:pt x="0" y="0"/>
                </a:lnTo>
                <a:lnTo>
                  <a:pt x="7555992" y="0"/>
                </a:lnTo>
                <a:lnTo>
                  <a:pt x="7555992" y="10691957"/>
                </a:lnTo>
                <a:close/>
              </a:path>
            </a:pathLst>
          </a:custGeom>
          <a:solidFill>
            <a:srgbClr val="1317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A7814D"/>
                </a:solidFill>
                <a:latin typeface="Consolas"/>
                <a:cs typeface="Consolas"/>
              </a:defRPr>
            </a:lvl1pPr>
          </a:lstStyle>
          <a:p>
            <a:pPr marL="12700">
              <a:lnSpc>
                <a:spcPts val="735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7556500" cy="10692130"/>
          </a:xfrm>
          <a:custGeom>
            <a:avLst/>
            <a:gdLst/>
            <a:ahLst/>
            <a:cxnLst/>
            <a:rect l="l" t="t" r="r" b="b"/>
            <a:pathLst>
              <a:path w="7556500" h="10692130">
                <a:moveTo>
                  <a:pt x="7555992" y="10691957"/>
                </a:moveTo>
                <a:lnTo>
                  <a:pt x="0" y="10691957"/>
                </a:lnTo>
                <a:lnTo>
                  <a:pt x="0" y="0"/>
                </a:lnTo>
                <a:lnTo>
                  <a:pt x="7555992" y="0"/>
                </a:lnTo>
                <a:lnTo>
                  <a:pt x="7555992" y="10691957"/>
                </a:lnTo>
                <a:close/>
              </a:path>
            </a:pathLst>
          </a:custGeom>
          <a:solidFill>
            <a:srgbClr val="F4EF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7700" y="1419224"/>
            <a:ext cx="6267450" cy="9525"/>
          </a:xfrm>
          <a:custGeom>
            <a:avLst/>
            <a:gdLst/>
            <a:ahLst/>
            <a:cxnLst/>
            <a:rect l="l" t="t" r="r" b="b"/>
            <a:pathLst>
              <a:path w="6267450" h="9525">
                <a:moveTo>
                  <a:pt x="6267450" y="9525"/>
                </a:moveTo>
                <a:lnTo>
                  <a:pt x="0" y="9525"/>
                </a:lnTo>
                <a:lnTo>
                  <a:pt x="0" y="0"/>
                </a:lnTo>
                <a:lnTo>
                  <a:pt x="6267450" y="0"/>
                </a:lnTo>
                <a:lnTo>
                  <a:pt x="6267450" y="9525"/>
                </a:lnTo>
                <a:close/>
              </a:path>
            </a:pathLst>
          </a:custGeom>
          <a:solidFill>
            <a:srgbClr val="1C2136">
              <a:alpha val="141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5298" y="723018"/>
            <a:ext cx="2379980" cy="4345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rgbClr val="1C2136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057399"/>
            <a:ext cx="6343650" cy="4800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84282" y="10134434"/>
            <a:ext cx="168275" cy="1117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A7814D"/>
                </a:solidFill>
                <a:latin typeface="Consolas"/>
                <a:cs typeface="Consolas"/>
              </a:defRPr>
            </a:lvl1pPr>
          </a:lstStyle>
          <a:p>
            <a:pPr marL="12700">
              <a:lnSpc>
                <a:spcPts val="735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mailto:veritas_van@naver.com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" y="571499"/>
            <a:ext cx="1438275" cy="923925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647700" y="5724407"/>
            <a:ext cx="6267450" cy="685800"/>
          </a:xfrm>
          <a:custGeom>
            <a:avLst/>
            <a:gdLst/>
            <a:ahLst/>
            <a:cxnLst/>
            <a:rect l="l" t="t" r="r" b="b"/>
            <a:pathLst>
              <a:path w="6267450" h="685800">
                <a:moveTo>
                  <a:pt x="6267450" y="0"/>
                </a:moveTo>
                <a:lnTo>
                  <a:pt x="0" y="0"/>
                </a:lnTo>
                <a:lnTo>
                  <a:pt x="0" y="9525"/>
                </a:lnTo>
                <a:lnTo>
                  <a:pt x="1552575" y="9525"/>
                </a:lnTo>
                <a:lnTo>
                  <a:pt x="1552575" y="685800"/>
                </a:lnTo>
                <a:lnTo>
                  <a:pt x="1562100" y="685800"/>
                </a:lnTo>
                <a:lnTo>
                  <a:pt x="1562100" y="9525"/>
                </a:lnTo>
                <a:lnTo>
                  <a:pt x="3124200" y="9525"/>
                </a:lnTo>
                <a:lnTo>
                  <a:pt x="3124200" y="685800"/>
                </a:lnTo>
                <a:lnTo>
                  <a:pt x="3133725" y="685800"/>
                </a:lnTo>
                <a:lnTo>
                  <a:pt x="3133725" y="9525"/>
                </a:lnTo>
                <a:lnTo>
                  <a:pt x="6267450" y="9525"/>
                </a:lnTo>
                <a:lnTo>
                  <a:pt x="6267450" y="0"/>
                </a:lnTo>
                <a:close/>
              </a:path>
            </a:pathLst>
          </a:custGeom>
          <a:solidFill>
            <a:srgbClr val="ECE7DB">
              <a:alpha val="160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61670" y="3636223"/>
            <a:ext cx="2106930" cy="1218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서</a:t>
            </a:r>
            <a:r>
              <a:rPr sz="700" b="1" spc="-50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울</a:t>
            </a:r>
            <a:r>
              <a:rPr sz="700" b="1" spc="-4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권</a:t>
            </a:r>
            <a:r>
              <a:rPr sz="700" b="1" spc="15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대</a:t>
            </a:r>
            <a:r>
              <a:rPr sz="700" b="1" spc="-40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학</a:t>
            </a:r>
            <a:r>
              <a:rPr sz="700" b="1" spc="15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학</a:t>
            </a:r>
            <a:r>
              <a:rPr sz="700" b="1" spc="-4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회</a:t>
            </a:r>
            <a:r>
              <a:rPr sz="700" b="1" spc="-4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Consolas"/>
              </a:rPr>
              <a:t>·</a:t>
            </a:r>
            <a:r>
              <a:rPr sz="700" b="1" spc="-18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Consolas"/>
              </a:rPr>
              <a:t>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학</a:t>
            </a:r>
            <a:r>
              <a:rPr sz="700" b="1" spc="-4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술</a:t>
            </a:r>
            <a:r>
              <a:rPr sz="700" b="1" spc="15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총</a:t>
            </a:r>
            <a:r>
              <a:rPr sz="700" b="1" spc="-4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연</a:t>
            </a:r>
            <a:r>
              <a:rPr sz="700" b="1" spc="-4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합</a:t>
            </a:r>
            <a:r>
              <a:rPr sz="700" b="1" spc="-4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체</a:t>
            </a:r>
            <a:r>
              <a:rPr sz="700" b="1" spc="15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Consolas"/>
              </a:rPr>
              <a:t>V</a:t>
            </a:r>
            <a:r>
              <a:rPr sz="700" b="1" spc="-18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Consolas"/>
              </a:rPr>
              <a:t> </a:t>
            </a:r>
            <a:r>
              <a:rPr sz="700" b="1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Consolas"/>
              </a:rPr>
              <a:t>A</a:t>
            </a:r>
            <a:r>
              <a:rPr sz="700" b="1" spc="-18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Consolas"/>
              </a:rPr>
              <a:t> </a:t>
            </a:r>
            <a:r>
              <a:rPr sz="700" b="1" spc="-50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Consolas"/>
              </a:rPr>
              <a:t>N</a:t>
            </a:r>
            <a:endParaRPr sz="7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5298" y="3931961"/>
            <a:ext cx="2756535" cy="1444625"/>
          </a:xfrm>
          <a:prstGeom prst="rect">
            <a:avLst/>
          </a:prstGeom>
          <a:ln>
            <a:noFill/>
          </a:ln>
        </p:spPr>
        <p:txBody>
          <a:bodyPr vert="horz" wrap="square" lIns="0" tIns="85090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670"/>
              </a:spcBef>
            </a:pPr>
            <a:r>
              <a:rPr sz="3800" spc="-600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대격변의</a:t>
            </a:r>
            <a:r>
              <a:rPr sz="3800" spc="-355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3800" spc="-484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시대</a:t>
            </a:r>
            <a:r>
              <a:rPr sz="3800" spc="-484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Bookman Old Style"/>
              </a:rPr>
              <a:t>, </a:t>
            </a:r>
            <a:r>
              <a:rPr sz="3800" spc="-595" dirty="0">
                <a:solidFill>
                  <a:srgbClr val="C8A062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혁신</a:t>
            </a:r>
            <a:r>
              <a:rPr sz="3800" spc="-595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을</a:t>
            </a:r>
            <a:r>
              <a:rPr sz="3800" spc="-355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3800" spc="-625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묻다</a:t>
            </a:r>
            <a:endParaRPr sz="38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550" i="1" spc="-40" dirty="0">
                <a:solidFill>
                  <a:srgbClr val="BEC2CD"/>
                </a:solidFill>
                <a:latin typeface="Georgia"/>
                <a:cs typeface="Georgia"/>
              </a:rPr>
              <a:t>The</a:t>
            </a:r>
            <a:r>
              <a:rPr sz="1550" i="1" spc="-55" dirty="0">
                <a:solidFill>
                  <a:srgbClr val="BEC2CD"/>
                </a:solidFill>
                <a:latin typeface="Georgia"/>
                <a:cs typeface="Georgia"/>
              </a:rPr>
              <a:t> </a:t>
            </a:r>
            <a:r>
              <a:rPr sz="1550" i="1" spc="-120" dirty="0">
                <a:solidFill>
                  <a:srgbClr val="BEC2CD"/>
                </a:solidFill>
                <a:latin typeface="Georgia" panose="02040502050405020303" pitchFamily="18" charset="0"/>
                <a:cs typeface="Georgia"/>
              </a:rPr>
              <a:t>Arena</a:t>
            </a:r>
            <a:r>
              <a:rPr sz="1550" i="1" spc="20" dirty="0">
                <a:solidFill>
                  <a:srgbClr val="BEC2CD"/>
                </a:solidFill>
                <a:latin typeface="Georgia" panose="02040502050405020303" pitchFamily="18" charset="0"/>
                <a:cs typeface="Georgia"/>
              </a:rPr>
              <a:t> </a:t>
            </a:r>
            <a:r>
              <a:rPr sz="1550" i="1" dirty="0">
                <a:solidFill>
                  <a:srgbClr val="BEC2CD"/>
                </a:solidFill>
                <a:latin typeface="Georgia" panose="02040502050405020303" pitchFamily="18" charset="0"/>
                <a:cs typeface="Georgia"/>
              </a:rPr>
              <a:t>of</a:t>
            </a:r>
            <a:r>
              <a:rPr sz="1550" i="1" spc="-55" dirty="0">
                <a:solidFill>
                  <a:srgbClr val="BEC2CD"/>
                </a:solidFill>
                <a:latin typeface="Georgia" panose="02040502050405020303" pitchFamily="18" charset="0"/>
                <a:cs typeface="Georgia"/>
              </a:rPr>
              <a:t> </a:t>
            </a:r>
            <a:r>
              <a:rPr sz="1550" i="1" spc="-10" dirty="0">
                <a:solidFill>
                  <a:srgbClr val="BEC2CD"/>
                </a:solidFill>
                <a:latin typeface="Georgia" panose="02040502050405020303" pitchFamily="18" charset="0"/>
                <a:cs typeface="Georgia"/>
              </a:rPr>
              <a:t>Innovation</a:t>
            </a:r>
            <a:endParaRPr sz="1550" dirty="0">
              <a:latin typeface="Georgia" panose="02040502050405020303" pitchFamily="18" charset="0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5298" y="5875537"/>
            <a:ext cx="255270" cy="11413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D</a:t>
            </a:r>
            <a:r>
              <a:rPr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A</a:t>
            </a:r>
            <a:r>
              <a:rPr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T</a:t>
            </a:r>
            <a:r>
              <a:rPr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50" spc="-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E</a:t>
            </a:r>
            <a:endParaRPr sz="650" dirty="0">
              <a:latin typeface="Georgia" panose="02040502050405020303" pitchFamily="18" charset="0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5298" y="6006038"/>
            <a:ext cx="1203220" cy="391774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300" b="1" spc="-10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Garamond"/>
              </a:rPr>
              <a:t>2026</a:t>
            </a:r>
            <a:r>
              <a:rPr sz="1150" b="1" spc="-10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Bookman Old Style"/>
              </a:rPr>
              <a:t>.</a:t>
            </a:r>
            <a:r>
              <a:rPr sz="1150" b="1" spc="-75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Bookman Old Style"/>
              </a:rPr>
              <a:t> </a:t>
            </a:r>
            <a:r>
              <a:rPr sz="1300" b="1" spc="-10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Garamond"/>
              </a:rPr>
              <a:t>09</a:t>
            </a:r>
            <a:r>
              <a:rPr sz="1150" b="1" spc="-10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Bookman Old Style"/>
              </a:rPr>
              <a:t>.</a:t>
            </a:r>
            <a:r>
              <a:rPr sz="1150" b="1" spc="-75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Bookman Old Style"/>
              </a:rPr>
              <a:t> </a:t>
            </a:r>
            <a:r>
              <a:rPr sz="1300" b="1" spc="-25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Garamond"/>
              </a:rPr>
              <a:t>12</a:t>
            </a:r>
            <a:r>
              <a:rPr sz="1150" b="1" spc="-25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Bookman Old Style"/>
              </a:rPr>
              <a:t>.</a:t>
            </a:r>
            <a:endParaRPr sz="115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Bookman Old Style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700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토요일</a:t>
            </a:r>
            <a:r>
              <a:rPr sz="700" spc="195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14:00-</a:t>
            </a:r>
            <a:r>
              <a:rPr sz="700" spc="-10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18:00</a:t>
            </a:r>
            <a:endParaRPr sz="7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01262" y="5875537"/>
            <a:ext cx="316230" cy="11413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V</a:t>
            </a:r>
            <a:r>
              <a:rPr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E</a:t>
            </a:r>
            <a:r>
              <a:rPr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N</a:t>
            </a:r>
            <a:r>
              <a:rPr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U</a:t>
            </a:r>
            <a:r>
              <a:rPr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50" spc="-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E</a:t>
            </a:r>
            <a:endParaRPr sz="650" dirty="0">
              <a:latin typeface="Georgia" panose="02040502050405020303" pitchFamily="18" charset="0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01262" y="6019165"/>
            <a:ext cx="927735" cy="39433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150" b="1" spc="-135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숙명여자대학교</a:t>
            </a:r>
            <a:endParaRPr sz="115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700" spc="-10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눈꽃광장홀</a:t>
            </a:r>
            <a:endParaRPr sz="7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334000" y="5733933"/>
            <a:ext cx="9525" cy="676275"/>
          </a:xfrm>
          <a:custGeom>
            <a:avLst/>
            <a:gdLst/>
            <a:ahLst/>
            <a:cxnLst/>
            <a:rect l="l" t="t" r="r" b="b"/>
            <a:pathLst>
              <a:path w="9525" h="676275">
                <a:moveTo>
                  <a:pt x="9525" y="676275"/>
                </a:moveTo>
                <a:lnTo>
                  <a:pt x="0" y="676275"/>
                </a:lnTo>
                <a:lnTo>
                  <a:pt x="0" y="0"/>
                </a:lnTo>
                <a:lnTo>
                  <a:pt x="9525" y="0"/>
                </a:lnTo>
                <a:lnTo>
                  <a:pt x="9525" y="676275"/>
                </a:lnTo>
                <a:close/>
              </a:path>
            </a:pathLst>
          </a:custGeom>
          <a:solidFill>
            <a:srgbClr val="ECE7DB">
              <a:alpha val="160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767239" y="5875537"/>
            <a:ext cx="499745" cy="11413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A</a:t>
            </a:r>
            <a:r>
              <a:rPr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U</a:t>
            </a:r>
            <a:r>
              <a:rPr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D</a:t>
            </a:r>
            <a:r>
              <a:rPr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I</a:t>
            </a:r>
            <a:r>
              <a:rPr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E</a:t>
            </a:r>
            <a:r>
              <a:rPr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N</a:t>
            </a:r>
            <a:r>
              <a:rPr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C</a:t>
            </a:r>
            <a:r>
              <a:rPr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50" spc="-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E</a:t>
            </a:r>
            <a:endParaRPr sz="650" dirty="0">
              <a:latin typeface="Georgia" panose="02040502050405020303" pitchFamily="18" charset="0"/>
              <a:cs typeface="Consola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35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17" name="object 17"/>
          <p:cNvSpPr txBox="1"/>
          <p:nvPr/>
        </p:nvSpPr>
        <p:spPr>
          <a:xfrm>
            <a:off x="3767239" y="6019165"/>
            <a:ext cx="891540" cy="39433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150" b="1" spc="-145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수백</a:t>
            </a:r>
            <a:r>
              <a:rPr sz="1150" b="1" spc="-70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1150" b="1" spc="-145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명</a:t>
            </a:r>
            <a:r>
              <a:rPr sz="1150" b="1" spc="-70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1150" b="1" spc="-25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규모</a:t>
            </a:r>
            <a:endParaRPr sz="115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700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서울권</a:t>
            </a:r>
            <a:r>
              <a:rPr sz="700" spc="80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대학생</a:t>
            </a:r>
            <a:r>
              <a:rPr sz="700" spc="85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·</a:t>
            </a:r>
            <a:r>
              <a:rPr sz="700" spc="85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spc="-35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청년</a:t>
            </a:r>
            <a:endParaRPr sz="7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33206" y="5875537"/>
            <a:ext cx="316230" cy="11413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pt-BR"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A</a:t>
            </a:r>
            <a:r>
              <a:rPr lang="pt-BR"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lang="pt-BR"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F</a:t>
            </a:r>
            <a:r>
              <a:rPr lang="pt-BR"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lang="pt-BR"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T</a:t>
            </a:r>
            <a:r>
              <a:rPr lang="pt-BR"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lang="pt-BR" sz="6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E</a:t>
            </a:r>
            <a:r>
              <a:rPr lang="pt-BR" sz="650" spc="-24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lang="pt-BR" sz="650" spc="-50" dirty="0">
                <a:solidFill>
                  <a:srgbClr val="C8A062"/>
                </a:solidFill>
                <a:latin typeface="Georgia" panose="02040502050405020303" pitchFamily="18" charset="0"/>
                <a:cs typeface="Consolas"/>
              </a:rPr>
              <a:t>R</a:t>
            </a:r>
            <a:endParaRPr sz="650" dirty="0">
              <a:latin typeface="Georgia" panose="02040502050405020303" pitchFamily="18" charset="0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33206" y="6006038"/>
            <a:ext cx="1721644" cy="391774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300" b="1" spc="-50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Garamond"/>
              </a:rPr>
              <a:t>Networking</a:t>
            </a:r>
            <a:r>
              <a:rPr sz="1300" b="1" spc="-5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Garamond"/>
              </a:rPr>
              <a:t> </a:t>
            </a:r>
            <a:r>
              <a:rPr sz="1300" b="1" spc="-60" dirty="0">
                <a:solidFill>
                  <a:srgbClr val="ECE7DB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Garamond"/>
              </a:rPr>
              <a:t>Night</a:t>
            </a:r>
            <a:endParaRPr sz="13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700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알럼나이</a:t>
            </a:r>
            <a:r>
              <a:rPr sz="700" spc="150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네트워킹</a:t>
            </a:r>
            <a:r>
              <a:rPr sz="700" spc="150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700" spc="-25" dirty="0">
                <a:solidFill>
                  <a:srgbClr val="BEC2C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나잇</a:t>
            </a:r>
            <a:endParaRPr sz="7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40450" y="571499"/>
            <a:ext cx="956310" cy="38735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204"/>
              </a:spcBef>
            </a:pPr>
            <a:r>
              <a:rPr sz="1100" i="1" spc="-140" dirty="0">
                <a:solidFill>
                  <a:srgbClr val="BEC2CD"/>
                </a:solidFill>
                <a:latin typeface="Georgia"/>
                <a:cs typeface="Georgia"/>
              </a:rPr>
              <a:t>2026</a:t>
            </a:r>
            <a:r>
              <a:rPr sz="1100" i="1" spc="45" dirty="0">
                <a:solidFill>
                  <a:srgbClr val="BEC2CD"/>
                </a:solidFill>
                <a:latin typeface="Georgia"/>
                <a:cs typeface="Georgia"/>
              </a:rPr>
              <a:t> </a:t>
            </a:r>
            <a:r>
              <a:rPr sz="1100" i="1" spc="-50" dirty="0">
                <a:solidFill>
                  <a:srgbClr val="BEC2CD"/>
                </a:solidFill>
                <a:latin typeface="Georgia"/>
                <a:cs typeface="Georgia"/>
              </a:rPr>
              <a:t>Conference</a:t>
            </a:r>
            <a:endParaRPr sz="1100" dirty="0">
              <a:latin typeface="Georgia"/>
              <a:cs typeface="Georgia"/>
            </a:endParaRPr>
          </a:p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sz="1100" i="1" spc="-10" dirty="0">
                <a:solidFill>
                  <a:srgbClr val="BEC2CD"/>
                </a:solidFill>
                <a:latin typeface="Georgia"/>
                <a:cs typeface="Georgia"/>
              </a:rPr>
              <a:t>Seoul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2B3E7D3C-D111-FD15-5B40-6D35409E09C6}"/>
              </a:ext>
            </a:extLst>
          </p:cNvPr>
          <p:cNvSpPr/>
          <p:nvPr/>
        </p:nvSpPr>
        <p:spPr>
          <a:xfrm>
            <a:off x="0" y="156845"/>
            <a:ext cx="7556500" cy="84455"/>
          </a:xfrm>
          <a:custGeom>
            <a:avLst/>
            <a:gdLst/>
            <a:ahLst/>
            <a:cxnLst/>
            <a:rect l="l" t="t" r="r" b="b"/>
            <a:pathLst>
              <a:path w="7556500" h="84455">
                <a:moveTo>
                  <a:pt x="0" y="0"/>
                </a:moveTo>
                <a:lnTo>
                  <a:pt x="3989928" y="0"/>
                </a:lnTo>
                <a:lnTo>
                  <a:pt x="4199924" y="83998"/>
                </a:lnTo>
                <a:lnTo>
                  <a:pt x="7555992" y="83998"/>
                </a:lnTo>
              </a:path>
            </a:pathLst>
          </a:custGeom>
          <a:ln w="5249">
            <a:solidFill>
              <a:srgbClr val="ECE7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34B8D-0984-FB02-3A83-2654E0718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82A29D9-C558-7D1B-9401-F5D7717C0EE6}"/>
              </a:ext>
            </a:extLst>
          </p:cNvPr>
          <p:cNvSpPr/>
          <p:nvPr/>
        </p:nvSpPr>
        <p:spPr>
          <a:xfrm>
            <a:off x="0" y="0"/>
            <a:ext cx="7556500" cy="10692130"/>
          </a:xfrm>
          <a:custGeom>
            <a:avLst/>
            <a:gdLst/>
            <a:ahLst/>
            <a:cxnLst/>
            <a:rect l="l" t="t" r="r" b="b"/>
            <a:pathLst>
              <a:path w="7556500" h="10692130">
                <a:moveTo>
                  <a:pt x="7555992" y="10691957"/>
                </a:moveTo>
                <a:lnTo>
                  <a:pt x="0" y="10691957"/>
                </a:lnTo>
                <a:lnTo>
                  <a:pt x="0" y="0"/>
                </a:lnTo>
                <a:lnTo>
                  <a:pt x="7555992" y="0"/>
                </a:lnTo>
                <a:lnTo>
                  <a:pt x="7555992" y="10691957"/>
                </a:lnTo>
                <a:close/>
              </a:path>
            </a:pathLst>
          </a:custGeom>
          <a:solidFill>
            <a:srgbClr val="F4EFE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426936C-3306-ED90-7A70-3538304EEFFA}"/>
              </a:ext>
            </a:extLst>
          </p:cNvPr>
          <p:cNvSpPr/>
          <p:nvPr/>
        </p:nvSpPr>
        <p:spPr>
          <a:xfrm>
            <a:off x="647700" y="1419209"/>
            <a:ext cx="6267450" cy="9525"/>
          </a:xfrm>
          <a:custGeom>
            <a:avLst/>
            <a:gdLst/>
            <a:ahLst/>
            <a:cxnLst/>
            <a:rect l="l" t="t" r="r" b="b"/>
            <a:pathLst>
              <a:path w="6267450" h="9525">
                <a:moveTo>
                  <a:pt x="6267450" y="9525"/>
                </a:moveTo>
                <a:lnTo>
                  <a:pt x="0" y="9525"/>
                </a:lnTo>
                <a:lnTo>
                  <a:pt x="0" y="0"/>
                </a:lnTo>
                <a:lnTo>
                  <a:pt x="6267450" y="0"/>
                </a:lnTo>
                <a:lnTo>
                  <a:pt x="6267450" y="9525"/>
                </a:lnTo>
                <a:close/>
              </a:path>
            </a:pathLst>
          </a:custGeom>
          <a:solidFill>
            <a:srgbClr val="1C2136">
              <a:alpha val="141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5E5E372-45A4-FF09-9BF1-35723F3856BA}"/>
              </a:ext>
            </a:extLst>
          </p:cNvPr>
          <p:cNvSpPr txBox="1"/>
          <p:nvPr/>
        </p:nvSpPr>
        <p:spPr>
          <a:xfrm>
            <a:off x="635298" y="649271"/>
            <a:ext cx="601345" cy="1339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" b="1" dirty="0">
                <a:solidFill>
                  <a:srgbClr val="A7814D"/>
                </a:solidFill>
                <a:latin typeface="Consolas"/>
                <a:cs typeface="Consolas"/>
              </a:rPr>
              <a:t>O</a:t>
            </a:r>
            <a:r>
              <a:rPr sz="700" b="1" spc="-190" dirty="0">
                <a:solidFill>
                  <a:srgbClr val="A7814D"/>
                </a:solidFill>
                <a:latin typeface="Consolas"/>
                <a:cs typeface="Consolas"/>
              </a:rPr>
              <a:t> </a:t>
            </a:r>
            <a:r>
              <a:rPr sz="700" b="1" dirty="0">
                <a:solidFill>
                  <a:srgbClr val="A7814D"/>
                </a:solidFill>
                <a:latin typeface="Consolas"/>
                <a:cs typeface="Consolas"/>
              </a:rPr>
              <a:t>V</a:t>
            </a:r>
            <a:r>
              <a:rPr sz="700" b="1" spc="-185" dirty="0">
                <a:solidFill>
                  <a:srgbClr val="A7814D"/>
                </a:solidFill>
                <a:latin typeface="Consolas"/>
                <a:cs typeface="Consolas"/>
              </a:rPr>
              <a:t> </a:t>
            </a:r>
            <a:r>
              <a:rPr sz="700" b="1" dirty="0">
                <a:solidFill>
                  <a:srgbClr val="A7814D"/>
                </a:solidFill>
                <a:latin typeface="Consolas"/>
                <a:cs typeface="Consolas"/>
              </a:rPr>
              <a:t>E</a:t>
            </a:r>
            <a:r>
              <a:rPr sz="700" b="1" spc="-185" dirty="0">
                <a:solidFill>
                  <a:srgbClr val="A7814D"/>
                </a:solidFill>
                <a:latin typeface="Consolas"/>
                <a:cs typeface="Consolas"/>
              </a:rPr>
              <a:t> </a:t>
            </a:r>
            <a:r>
              <a:rPr sz="700" b="1" dirty="0">
                <a:solidFill>
                  <a:srgbClr val="A7814D"/>
                </a:solidFill>
                <a:latin typeface="Consolas"/>
                <a:cs typeface="Consolas"/>
              </a:rPr>
              <a:t>R</a:t>
            </a:r>
            <a:r>
              <a:rPr sz="700" b="1" spc="-185" dirty="0">
                <a:solidFill>
                  <a:srgbClr val="A7814D"/>
                </a:solidFill>
                <a:latin typeface="Consolas"/>
                <a:cs typeface="Consolas"/>
              </a:rPr>
              <a:t> </a:t>
            </a:r>
            <a:r>
              <a:rPr sz="700" b="1" dirty="0">
                <a:solidFill>
                  <a:srgbClr val="A7814D"/>
                </a:solidFill>
                <a:latin typeface="Consolas"/>
                <a:cs typeface="Consolas"/>
              </a:rPr>
              <a:t>V</a:t>
            </a:r>
            <a:r>
              <a:rPr sz="700" b="1" spc="-190" dirty="0">
                <a:solidFill>
                  <a:srgbClr val="A7814D"/>
                </a:solidFill>
                <a:latin typeface="Consolas"/>
                <a:cs typeface="Consolas"/>
              </a:rPr>
              <a:t> </a:t>
            </a:r>
            <a:r>
              <a:rPr sz="700" b="1" dirty="0">
                <a:solidFill>
                  <a:srgbClr val="A7814D"/>
                </a:solidFill>
                <a:latin typeface="Consolas"/>
                <a:cs typeface="Consolas"/>
              </a:rPr>
              <a:t>I</a:t>
            </a:r>
            <a:r>
              <a:rPr sz="700" b="1" spc="-185" dirty="0">
                <a:solidFill>
                  <a:srgbClr val="A7814D"/>
                </a:solidFill>
                <a:latin typeface="Consolas"/>
                <a:cs typeface="Consolas"/>
              </a:rPr>
              <a:t> </a:t>
            </a:r>
            <a:r>
              <a:rPr sz="700" b="1" dirty="0">
                <a:solidFill>
                  <a:srgbClr val="A7814D"/>
                </a:solidFill>
                <a:latin typeface="Consolas"/>
                <a:cs typeface="Consolas"/>
              </a:rPr>
              <a:t>E</a:t>
            </a:r>
            <a:r>
              <a:rPr sz="700" b="1" spc="-185" dirty="0">
                <a:solidFill>
                  <a:srgbClr val="A7814D"/>
                </a:solidFill>
                <a:latin typeface="Consolas"/>
                <a:cs typeface="Consolas"/>
              </a:rPr>
              <a:t> </a:t>
            </a:r>
            <a:r>
              <a:rPr sz="700" b="1" spc="-50" dirty="0">
                <a:solidFill>
                  <a:srgbClr val="A7814D"/>
                </a:solidFill>
                <a:latin typeface="Consolas"/>
                <a:cs typeface="Consolas"/>
              </a:rPr>
              <a:t>W</a:t>
            </a:r>
            <a:endParaRPr sz="700" dirty="0">
              <a:latin typeface="Consolas"/>
              <a:cs typeface="Consolas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AF5836F-9F2B-B101-3DC3-0987393CB92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35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8D7D764-0F8F-FC4B-CEF3-033DE8AE1919}"/>
              </a:ext>
            </a:extLst>
          </p:cNvPr>
          <p:cNvSpPr txBox="1"/>
          <p:nvPr/>
        </p:nvSpPr>
        <p:spPr>
          <a:xfrm>
            <a:off x="635298" y="751475"/>
            <a:ext cx="556895" cy="400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50" b="1" spc="-405" dirty="0">
                <a:solidFill>
                  <a:srgbClr val="1C2136"/>
                </a:solidFill>
                <a:latin typeface="Malgun Gothic"/>
                <a:cs typeface="Malgun Gothic"/>
              </a:rPr>
              <a:t>개요</a:t>
            </a:r>
            <a:endParaRPr sz="2450" dirty="0">
              <a:latin typeface="Malgun Gothic"/>
              <a:cs typeface="Malgun Gothic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1A08F06-872C-E1EB-EA49-F0303E17F9C5}"/>
              </a:ext>
            </a:extLst>
          </p:cNvPr>
          <p:cNvSpPr txBox="1"/>
          <p:nvPr/>
        </p:nvSpPr>
        <p:spPr>
          <a:xfrm>
            <a:off x="6771481" y="958834"/>
            <a:ext cx="1416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solidFill>
                  <a:srgbClr val="596074"/>
                </a:solidFill>
                <a:latin typeface="Consolas"/>
                <a:cs typeface="Consolas"/>
              </a:rPr>
              <a:t>02</a:t>
            </a:r>
            <a:endParaRPr sz="750">
              <a:latin typeface="Consolas"/>
              <a:cs typeface="Consolas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205B55C-5450-0E37-4CA9-064FEBF657BF}"/>
              </a:ext>
            </a:extLst>
          </p:cNvPr>
          <p:cNvSpPr txBox="1"/>
          <p:nvPr/>
        </p:nvSpPr>
        <p:spPr>
          <a:xfrm>
            <a:off x="635298" y="1673857"/>
            <a:ext cx="6038552" cy="57201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l">
              <a:lnSpc>
                <a:spcPct val="150000"/>
              </a:lnSpc>
              <a:spcBef>
                <a:spcPts val="55"/>
              </a:spcBef>
            </a:pPr>
            <a:r>
              <a:rPr sz="1300" spc="-15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Century"/>
              </a:rPr>
              <a:t>VAN</a:t>
            </a:r>
            <a:r>
              <a:rPr sz="1300" spc="-15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Batang"/>
              </a:rPr>
              <a:t>은 급격한 기술 변화와 사회 구조의 전환 속에서</a:t>
            </a:r>
            <a:r>
              <a:rPr sz="1300" spc="-15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Gungsuh"/>
              </a:rPr>
              <a:t>, </a:t>
            </a:r>
            <a:r>
              <a:rPr sz="1300" spc="-15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Batang"/>
              </a:rPr>
              <a:t>오늘의 청년 세대가 마주 한 핵심 질문을 함께 논의하기 위해 </a:t>
            </a:r>
            <a:r>
              <a:rPr sz="1300" spc="-150" dirty="0">
                <a:solidFill>
                  <a:srgbClr val="A7814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PMingLiU"/>
              </a:rPr>
              <a:t>「</a:t>
            </a:r>
            <a:r>
              <a:rPr sz="1300" spc="-150" dirty="0">
                <a:solidFill>
                  <a:srgbClr val="A7814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Batang"/>
              </a:rPr>
              <a:t>대격변의 시대</a:t>
            </a:r>
            <a:r>
              <a:rPr sz="1300" spc="-150" dirty="0">
                <a:solidFill>
                  <a:srgbClr val="A7814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Gungsuh"/>
              </a:rPr>
              <a:t>, </a:t>
            </a:r>
            <a:r>
              <a:rPr sz="1300" spc="-150" dirty="0" err="1">
                <a:solidFill>
                  <a:srgbClr val="A7814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Batang"/>
              </a:rPr>
              <a:t>혁신을</a:t>
            </a:r>
            <a:r>
              <a:rPr sz="1300" spc="-150" dirty="0">
                <a:solidFill>
                  <a:srgbClr val="A7814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Batang"/>
              </a:rPr>
              <a:t> </a:t>
            </a:r>
            <a:r>
              <a:rPr sz="1300" spc="-150" dirty="0" err="1">
                <a:solidFill>
                  <a:srgbClr val="A7814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Batang"/>
              </a:rPr>
              <a:t>묻다</a:t>
            </a:r>
            <a:r>
              <a:rPr lang="ko-KR" altLang="en-US" sz="1300" spc="-150" dirty="0">
                <a:solidFill>
                  <a:srgbClr val="A7814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PMingLiU"/>
              </a:rPr>
              <a:t>」</a:t>
            </a:r>
            <a:r>
              <a:rPr sz="1300" spc="-15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Batang"/>
              </a:rPr>
              <a:t>를 </a:t>
            </a:r>
            <a:r>
              <a:rPr sz="1300" spc="-150" dirty="0" err="1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Batang"/>
              </a:rPr>
              <a:t>개최합니다</a:t>
            </a:r>
            <a:r>
              <a:rPr sz="1300" spc="-15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Gungsuh"/>
              </a:rPr>
              <a:t>.</a:t>
            </a:r>
            <a:endParaRPr sz="1300" spc="-15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Gungsuh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05FB611E-939E-A09C-0A97-EEA1045FBE9B}"/>
              </a:ext>
            </a:extLst>
          </p:cNvPr>
          <p:cNvSpPr txBox="1"/>
          <p:nvPr/>
        </p:nvSpPr>
        <p:spPr>
          <a:xfrm>
            <a:off x="635298" y="2374900"/>
            <a:ext cx="6038552" cy="639989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lvl="2" algn="l">
              <a:lnSpc>
                <a:spcPct val="200000"/>
              </a:lnSpc>
              <a:spcBef>
                <a:spcPts val="55"/>
              </a:spcBef>
            </a:pPr>
            <a:r>
              <a:rPr lang="ko-KR" altLang="en-US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인공지능을 비롯한 기술 혁신은 산업의 질서뿐 아니라 교육</a:t>
            </a:r>
            <a:r>
              <a:rPr lang="en-US" altLang="ko-KR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, </a:t>
            </a:r>
            <a:r>
              <a:rPr lang="ko-KR" altLang="en-US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노동</a:t>
            </a:r>
            <a:r>
              <a:rPr lang="en-US" altLang="ko-KR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, </a:t>
            </a:r>
            <a:r>
              <a:rPr lang="ko-KR" altLang="en-US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정치</a:t>
            </a:r>
            <a:r>
              <a:rPr lang="en-US" altLang="ko-KR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, </a:t>
            </a:r>
            <a:r>
              <a:rPr lang="ko-KR" altLang="en-US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공동체의 방식까지 빠르게 재편하고 있습니다</a:t>
            </a:r>
            <a:r>
              <a:rPr lang="en-US" altLang="ko-KR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. </a:t>
            </a:r>
            <a:r>
              <a:rPr lang="ko-KR" altLang="en-US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이에 </a:t>
            </a:r>
            <a:r>
              <a:rPr lang="en-US" altLang="ko-KR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VAN</a:t>
            </a:r>
            <a:r>
              <a:rPr lang="ko-KR" altLang="en-US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은 변화의 속도 앞에서 청년들이 단순한 관찰자에 머무르지 않고</a:t>
            </a:r>
            <a:r>
              <a:rPr lang="en-US" altLang="ko-KR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, </a:t>
            </a:r>
            <a:r>
              <a:rPr lang="ko-KR" altLang="en-US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미래 사회의 방향을 스스로 질문하고 해석할 수 있는 공론장을 마련하고자 합니다</a:t>
            </a:r>
            <a:r>
              <a:rPr lang="en-US" altLang="ko-KR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.</a:t>
            </a:r>
          </a:p>
          <a:p>
            <a:pPr marL="12700" marR="5080" lvl="2" algn="l">
              <a:lnSpc>
                <a:spcPct val="200000"/>
              </a:lnSpc>
              <a:spcBef>
                <a:spcPts val="55"/>
              </a:spcBef>
            </a:pPr>
            <a:endParaRPr lang="en-US" altLang="ko-KR" sz="1300" dirty="0">
              <a:solidFill>
                <a:srgbClr val="596074"/>
              </a:solidFill>
              <a:latin typeface="Noto Serif KR Light" panose="02020200000000000000" pitchFamily="18" charset="-127"/>
              <a:ea typeface="Noto Serif KR Light" panose="02020200000000000000" pitchFamily="18" charset="-127"/>
              <a:cs typeface="Century"/>
            </a:endParaRPr>
          </a:p>
          <a:p>
            <a:pPr marL="12700" marR="5080" lvl="2" algn="l">
              <a:lnSpc>
                <a:spcPct val="200000"/>
              </a:lnSpc>
              <a:spcBef>
                <a:spcPts val="55"/>
              </a:spcBef>
            </a:pPr>
            <a:r>
              <a:rPr lang="ko-KR" altLang="en-US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이번 행사는 </a:t>
            </a:r>
            <a:r>
              <a:rPr lang="en-US" altLang="ko-KR" sz="1300" dirty="0">
                <a:solidFill>
                  <a:srgbClr val="A7814D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2026</a:t>
            </a:r>
            <a:r>
              <a:rPr lang="ko-KR" altLang="en-US" sz="1300" dirty="0">
                <a:solidFill>
                  <a:srgbClr val="A7814D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년 </a:t>
            </a:r>
            <a:r>
              <a:rPr lang="en-US" altLang="ko-KR" sz="1300" dirty="0">
                <a:solidFill>
                  <a:srgbClr val="A7814D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9</a:t>
            </a:r>
            <a:r>
              <a:rPr lang="ko-KR" altLang="en-US" sz="1300" dirty="0">
                <a:solidFill>
                  <a:srgbClr val="A7814D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월 </a:t>
            </a:r>
            <a:r>
              <a:rPr lang="en-US" altLang="ko-KR" sz="1300" dirty="0">
                <a:solidFill>
                  <a:srgbClr val="A7814D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12</a:t>
            </a:r>
            <a:r>
              <a:rPr lang="ko-KR" altLang="en-US" sz="1300" dirty="0">
                <a:solidFill>
                  <a:srgbClr val="A7814D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일 토요일</a:t>
            </a:r>
            <a:r>
              <a:rPr lang="en-US" altLang="ko-KR" sz="1300" dirty="0">
                <a:solidFill>
                  <a:srgbClr val="A7814D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, </a:t>
            </a:r>
            <a:r>
              <a:rPr lang="ko-KR" altLang="en-US" sz="1300" dirty="0">
                <a:solidFill>
                  <a:srgbClr val="A7814D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숙명 여자 대학교 눈꽃 광장홀</a:t>
            </a:r>
            <a:r>
              <a:rPr lang="ko-KR" altLang="en-US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에서 대학생 및 청년 수백 명 규모를 대상으로 진행됩니다</a:t>
            </a:r>
            <a:r>
              <a:rPr lang="en-US" altLang="ko-KR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. </a:t>
            </a:r>
            <a:r>
              <a:rPr lang="ko-KR" altLang="en-US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학계</a:t>
            </a:r>
            <a:r>
              <a:rPr lang="en-US" altLang="ko-KR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·</a:t>
            </a:r>
            <a:r>
              <a:rPr lang="ko-KR" altLang="en-US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산업계</a:t>
            </a:r>
            <a:r>
              <a:rPr lang="en-US" altLang="ko-KR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·</a:t>
            </a:r>
            <a:r>
              <a:rPr lang="ko-KR" altLang="en-US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정계 및 각 분야 </a:t>
            </a:r>
            <a:r>
              <a:rPr lang="ko-KR" altLang="en-US" sz="1300" dirty="0" err="1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알럼나이가</a:t>
            </a:r>
            <a:r>
              <a:rPr lang="ko-KR" altLang="en-US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 함께 참여하여 각 영역에서 바라본 혁신의 의미와 과제를 공유하고</a:t>
            </a:r>
            <a:r>
              <a:rPr lang="en-US" altLang="ko-KR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, </a:t>
            </a:r>
            <a:r>
              <a:rPr lang="ko-KR" altLang="en-US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청년 참가자들은 이를 바탕으로 토론과 네트워킹을 통해 자신의 문제의식을 확장하게 됩니다</a:t>
            </a:r>
            <a:r>
              <a:rPr lang="en-US" altLang="ko-KR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.</a:t>
            </a:r>
            <a:r>
              <a:rPr lang="ko-KR" altLang="en-US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전체 프로그램은 기술혁신</a:t>
            </a:r>
            <a:r>
              <a:rPr lang="en-US" altLang="ko-KR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, </a:t>
            </a:r>
            <a:r>
              <a:rPr lang="ko-KR" altLang="en-US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사회</a:t>
            </a:r>
            <a:r>
              <a:rPr lang="en-US" altLang="ko-KR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·</a:t>
            </a:r>
            <a:r>
              <a:rPr lang="ko-KR" altLang="en-US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정치혁신</a:t>
            </a:r>
            <a:r>
              <a:rPr lang="en-US" altLang="ko-KR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, </a:t>
            </a:r>
            <a:r>
              <a:rPr lang="ko-KR" altLang="en-US" sz="1300" dirty="0" err="1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디스커션</a:t>
            </a:r>
            <a:r>
              <a:rPr lang="en-US" altLang="ko-KR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, </a:t>
            </a:r>
            <a:r>
              <a:rPr lang="ko-KR" altLang="en-US" sz="1300" dirty="0" err="1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알럼나이</a:t>
            </a:r>
            <a:r>
              <a:rPr lang="ko-KR" altLang="en-US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 네트워킹 세션으로 구성됩니다</a:t>
            </a:r>
            <a:r>
              <a:rPr lang="en-US" altLang="ko-KR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. </a:t>
            </a:r>
          </a:p>
          <a:p>
            <a:pPr marL="12700" marR="5080" lvl="2" algn="l">
              <a:lnSpc>
                <a:spcPct val="200000"/>
              </a:lnSpc>
              <a:spcBef>
                <a:spcPts val="55"/>
              </a:spcBef>
            </a:pPr>
            <a:endParaRPr lang="en-US" altLang="ko-KR" sz="1300" dirty="0">
              <a:solidFill>
                <a:srgbClr val="596074"/>
              </a:solidFill>
              <a:latin typeface="Noto Serif KR Light" panose="02020200000000000000" pitchFamily="18" charset="-127"/>
              <a:ea typeface="Noto Serif KR Light" panose="02020200000000000000" pitchFamily="18" charset="-127"/>
              <a:cs typeface="Century"/>
            </a:endParaRPr>
          </a:p>
          <a:p>
            <a:pPr marL="12700" marR="5080" lvl="2" algn="l">
              <a:lnSpc>
                <a:spcPct val="200000"/>
              </a:lnSpc>
              <a:spcBef>
                <a:spcPts val="55"/>
              </a:spcBef>
            </a:pPr>
            <a:r>
              <a:rPr lang="ko-KR" altLang="en-US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각 세션은 강연과 교류</a:t>
            </a:r>
            <a:r>
              <a:rPr lang="en-US" altLang="ko-KR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, </a:t>
            </a:r>
            <a:r>
              <a:rPr lang="ko-KR" altLang="en-US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참여형 논의를 유기적으로 연결하여 지식 전달에 그치지 않고 실질적인 대화와 관계 형성으로 이어지도록 설계되었습니다</a:t>
            </a:r>
            <a:r>
              <a:rPr lang="en-US" altLang="ko-KR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. VAN</a:t>
            </a:r>
            <a:r>
              <a:rPr lang="ko-KR" altLang="en-US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은 본 행사를 통해 청년들이 변화의 시대를 이해하는 것을 넘어</a:t>
            </a:r>
            <a:r>
              <a:rPr lang="en-US" altLang="ko-KR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, </a:t>
            </a:r>
            <a:r>
              <a:rPr lang="ko-KR" altLang="en-US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새로운 혁신의 기준과 방향을 함께 모색하는 계기를 만들고자 합니다</a:t>
            </a:r>
            <a:r>
              <a:rPr lang="en-US" altLang="ko-KR" sz="13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entury"/>
              </a:rPr>
              <a:t>.</a:t>
            </a:r>
            <a:endParaRPr sz="1300" dirty="0">
              <a:latin typeface="Noto Serif KR Light" panose="02020200000000000000" pitchFamily="18" charset="-127"/>
              <a:ea typeface="Noto Serif KR Light" panose="02020200000000000000" pitchFamily="18" charset="-127"/>
              <a:cs typeface="Gungsuh"/>
            </a:endParaRPr>
          </a:p>
        </p:txBody>
      </p:sp>
    </p:spTree>
    <p:extLst>
      <p:ext uri="{BB962C8B-B14F-4D97-AF65-F5344CB8AC3E}">
        <p14:creationId xmlns:p14="http://schemas.microsoft.com/office/powerpoint/2010/main" val="3059183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"/>
            <a:ext cx="7556500" cy="10692130"/>
          </a:xfrm>
          <a:custGeom>
            <a:avLst/>
            <a:gdLst/>
            <a:ahLst/>
            <a:cxnLst/>
            <a:rect l="l" t="t" r="r" b="b"/>
            <a:pathLst>
              <a:path w="7556500" h="10692130">
                <a:moveTo>
                  <a:pt x="7555992" y="10691957"/>
                </a:moveTo>
                <a:lnTo>
                  <a:pt x="0" y="10691957"/>
                </a:lnTo>
                <a:lnTo>
                  <a:pt x="0" y="0"/>
                </a:lnTo>
                <a:lnTo>
                  <a:pt x="7555992" y="0"/>
                </a:lnTo>
                <a:lnTo>
                  <a:pt x="7555992" y="10691957"/>
                </a:lnTo>
                <a:close/>
              </a:path>
            </a:pathLst>
          </a:custGeom>
          <a:solidFill>
            <a:srgbClr val="131729"/>
          </a:solidFill>
        </p:spPr>
        <p:txBody>
          <a:bodyPr wrap="square" lIns="0" tIns="0" rIns="0" bIns="0" rtlCol="0"/>
          <a:lstStyle/>
          <a:p>
            <a:endParaRPr>
              <a:latin typeface="Noto Serif KR Light" panose="02020200000000000000" pitchFamily="18" charset="-127"/>
              <a:ea typeface="Noto Serif KR Light" panose="02020200000000000000" pitchFamily="18" charset="-127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700" y="1419224"/>
            <a:ext cx="6267450" cy="9525"/>
          </a:xfrm>
          <a:custGeom>
            <a:avLst/>
            <a:gdLst/>
            <a:ahLst/>
            <a:cxnLst/>
            <a:rect l="l" t="t" r="r" b="b"/>
            <a:pathLst>
              <a:path w="6267450" h="9525">
                <a:moveTo>
                  <a:pt x="6267450" y="9525"/>
                </a:moveTo>
                <a:lnTo>
                  <a:pt x="0" y="9525"/>
                </a:lnTo>
                <a:lnTo>
                  <a:pt x="0" y="0"/>
                </a:lnTo>
                <a:lnTo>
                  <a:pt x="6267450" y="0"/>
                </a:lnTo>
                <a:lnTo>
                  <a:pt x="6267450" y="9525"/>
                </a:lnTo>
                <a:close/>
              </a:path>
            </a:pathLst>
          </a:custGeom>
          <a:solidFill>
            <a:srgbClr val="ECE7DB">
              <a:alpha val="16079"/>
            </a:srgbClr>
          </a:solidFill>
        </p:spPr>
        <p:txBody>
          <a:bodyPr wrap="square" lIns="0" tIns="0" rIns="0" bIns="0" rtlCol="0"/>
          <a:lstStyle/>
          <a:p>
            <a:endParaRPr>
              <a:latin typeface="Noto Serif KR Light" panose="02020200000000000000" pitchFamily="18" charset="-127"/>
              <a:ea typeface="Noto Serif KR Light" panose="02020200000000000000" pitchFamily="18" charset="-127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298" y="649287"/>
            <a:ext cx="525780" cy="1218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" dirty="0">
                <a:solidFill>
                  <a:srgbClr val="C8A062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P</a:t>
            </a:r>
            <a:r>
              <a:rPr sz="700" spc="-190" dirty="0">
                <a:solidFill>
                  <a:srgbClr val="C8A062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700" dirty="0">
                <a:solidFill>
                  <a:srgbClr val="C8A062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R</a:t>
            </a:r>
            <a:r>
              <a:rPr sz="700" spc="-185" dirty="0">
                <a:solidFill>
                  <a:srgbClr val="C8A062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700" dirty="0">
                <a:solidFill>
                  <a:srgbClr val="C8A062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O</a:t>
            </a:r>
            <a:r>
              <a:rPr sz="700" spc="-185" dirty="0">
                <a:solidFill>
                  <a:srgbClr val="C8A062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700" dirty="0">
                <a:solidFill>
                  <a:srgbClr val="C8A062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G</a:t>
            </a:r>
            <a:r>
              <a:rPr sz="700" spc="-185" dirty="0">
                <a:solidFill>
                  <a:srgbClr val="C8A062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700" dirty="0">
                <a:solidFill>
                  <a:srgbClr val="C8A062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R</a:t>
            </a:r>
            <a:r>
              <a:rPr sz="700" spc="-190" dirty="0">
                <a:solidFill>
                  <a:srgbClr val="C8A062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700" dirty="0">
                <a:solidFill>
                  <a:srgbClr val="C8A062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A</a:t>
            </a:r>
            <a:r>
              <a:rPr sz="700" spc="-185" dirty="0">
                <a:solidFill>
                  <a:srgbClr val="C8A062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700" spc="-50" dirty="0">
                <a:solidFill>
                  <a:srgbClr val="C8A062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M</a:t>
            </a:r>
            <a:endParaRPr sz="700" dirty="0">
              <a:latin typeface="Georgia" panose="02040502050405020303" pitchFamily="18" charset="0"/>
              <a:ea typeface="Noto Serif KR Light" panose="02020200000000000000" pitchFamily="18" charset="-127"/>
              <a:cs typeface="Consola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7849" y="799690"/>
            <a:ext cx="1972943" cy="39049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b="0" dirty="0">
                <a:solidFill>
                  <a:srgbClr val="ECE7DB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Time</a:t>
            </a:r>
            <a:r>
              <a:rPr lang="ko-KR" altLang="en-US" b="0" dirty="0">
                <a:solidFill>
                  <a:srgbClr val="ECE7DB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 </a:t>
            </a:r>
            <a:r>
              <a:rPr lang="en-US" altLang="ko-KR" b="0" dirty="0">
                <a:solidFill>
                  <a:srgbClr val="ECE7DB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Table</a:t>
            </a:r>
            <a:endParaRPr b="0" dirty="0">
              <a:solidFill>
                <a:srgbClr val="ECE7DB"/>
              </a:solidFill>
              <a:latin typeface="Noto Serif KR Light" panose="02020200000000000000" pitchFamily="18" charset="-127"/>
              <a:ea typeface="Noto Serif KR Light" panose="02020200000000000000" pitchFamily="18" charset="-127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71481" y="958850"/>
            <a:ext cx="14160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solidFill>
                  <a:srgbClr val="BEC2CD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onsolas"/>
              </a:rPr>
              <a:t>03</a:t>
            </a:r>
            <a:endParaRPr sz="750">
              <a:latin typeface="Noto Serif KR Light" panose="02020200000000000000" pitchFamily="18" charset="-127"/>
              <a:ea typeface="Noto Serif KR Light" panose="02020200000000000000" pitchFamily="18" charset="-127"/>
              <a:cs typeface="Consolas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308367"/>
              </p:ext>
            </p:extLst>
          </p:nvPr>
        </p:nvGraphicFramePr>
        <p:xfrm>
          <a:off x="704850" y="1709737"/>
          <a:ext cx="6205855" cy="5262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05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6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75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Times New Roman"/>
                      </a:endParaRPr>
                    </a:p>
                    <a:p>
                      <a:pPr marL="253365">
                        <a:lnSpc>
                          <a:spcPct val="100000"/>
                        </a:lnSpc>
                        <a:tabLst>
                          <a:tab pos="1657350" algn="l"/>
                        </a:tabLst>
                      </a:pPr>
                      <a:r>
                        <a:rPr sz="750" dirty="0">
                          <a:solidFill>
                            <a:srgbClr val="C8A062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Consolas"/>
                        </a:rPr>
                        <a:t>13:30-</a:t>
                      </a:r>
                      <a:r>
                        <a:rPr sz="750" spc="-10" dirty="0">
                          <a:solidFill>
                            <a:srgbClr val="C8A062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Consolas"/>
                        </a:rPr>
                        <a:t>14:00</a:t>
                      </a:r>
                      <a:r>
                        <a:rPr sz="750" dirty="0">
                          <a:solidFill>
                            <a:srgbClr val="C8A062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Consolas"/>
                        </a:rPr>
                        <a:t>	</a:t>
                      </a:r>
                      <a:r>
                        <a:rPr sz="1725" b="1" spc="-217" baseline="-28985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부스</a:t>
                      </a:r>
                      <a:r>
                        <a:rPr sz="1725" b="1" spc="-120" baseline="-28985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1725" b="1" spc="-217" baseline="-28985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운영</a:t>
                      </a:r>
                      <a:r>
                        <a:rPr sz="1725" b="1" spc="-104" baseline="-28985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1725" b="1" spc="-217" baseline="-28985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및</a:t>
                      </a:r>
                      <a:r>
                        <a:rPr sz="1725" b="1" spc="-97" baseline="-28985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1725" b="1" spc="-37" baseline="-28985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입장</a:t>
                      </a:r>
                      <a:endParaRPr sz="1725" baseline="-28985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75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Times New Roman"/>
                      </a:endParaRPr>
                    </a:p>
                    <a:p>
                      <a:pPr marL="1657350">
                        <a:lnSpc>
                          <a:spcPct val="100000"/>
                        </a:lnSpc>
                      </a:pPr>
                      <a:r>
                        <a:rPr sz="75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도서</a:t>
                      </a:r>
                      <a:r>
                        <a:rPr sz="750" spc="45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75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·</a:t>
                      </a:r>
                      <a:r>
                        <a:rPr sz="750" spc="5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75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포토</a:t>
                      </a:r>
                      <a:r>
                        <a:rPr sz="750" spc="45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75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·</a:t>
                      </a:r>
                      <a:r>
                        <a:rPr sz="750" spc="5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75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팝업</a:t>
                      </a:r>
                      <a:r>
                        <a:rPr sz="750" spc="45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75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·</a:t>
                      </a:r>
                      <a:r>
                        <a:rPr sz="750" spc="5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75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후원</a:t>
                      </a:r>
                      <a:r>
                        <a:rPr sz="750" spc="45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750" spc="-25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부스</a:t>
                      </a:r>
                      <a:endParaRPr sz="75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Malgun Gothic"/>
                      </a:endParaRPr>
                    </a:p>
                  </a:txBody>
                  <a:tcPr marL="0" marR="0" marT="1270" marB="0">
                    <a:lnL w="9525">
                      <a:solidFill>
                        <a:srgbClr val="ECE7DB"/>
                      </a:solidFill>
                      <a:prstDash val="solid"/>
                    </a:lnL>
                    <a:lnB w="9525">
                      <a:solidFill>
                        <a:srgbClr val="ECE7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5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Times New Roman"/>
                      </a:endParaRPr>
                    </a:p>
                    <a:p>
                      <a:pPr marL="253365">
                        <a:lnSpc>
                          <a:spcPct val="100000"/>
                        </a:lnSpc>
                        <a:tabLst>
                          <a:tab pos="1657350" algn="l"/>
                        </a:tabLst>
                      </a:pPr>
                      <a:r>
                        <a:rPr sz="750" dirty="0">
                          <a:solidFill>
                            <a:srgbClr val="C8A062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Consolas"/>
                        </a:rPr>
                        <a:t>14:00-</a:t>
                      </a:r>
                      <a:r>
                        <a:rPr sz="750" spc="-10" dirty="0">
                          <a:solidFill>
                            <a:srgbClr val="C8A062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Consolas"/>
                        </a:rPr>
                        <a:t>14:40</a:t>
                      </a:r>
                      <a:r>
                        <a:rPr sz="750" dirty="0">
                          <a:solidFill>
                            <a:srgbClr val="C8A062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Consolas"/>
                        </a:rPr>
                        <a:t>	</a:t>
                      </a:r>
                      <a:r>
                        <a:rPr sz="1725" b="1" spc="-217" baseline="-28985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개회</a:t>
                      </a:r>
                      <a:r>
                        <a:rPr sz="1725" b="1" spc="-120" baseline="-28985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1725" b="1" spc="-217" baseline="-28985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및</a:t>
                      </a:r>
                      <a:r>
                        <a:rPr sz="1725" b="1" spc="-104" baseline="-28985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1725" b="1" spc="-217" baseline="-28985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공식</a:t>
                      </a:r>
                      <a:r>
                        <a:rPr sz="1725" b="1" spc="-97" baseline="-28985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1725" b="1" spc="-37" baseline="-28985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순서</a:t>
                      </a:r>
                      <a:endParaRPr sz="1725" baseline="-28985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75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Times New Roman"/>
                      </a:endParaRPr>
                    </a:p>
                    <a:p>
                      <a:pPr marL="1657350">
                        <a:lnSpc>
                          <a:spcPct val="100000"/>
                        </a:lnSpc>
                      </a:pPr>
                      <a:r>
                        <a:rPr sz="75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소개</a:t>
                      </a:r>
                      <a:r>
                        <a:rPr sz="750" spc="45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75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·</a:t>
                      </a:r>
                      <a:r>
                        <a:rPr sz="750" spc="5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75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축사</a:t>
                      </a:r>
                      <a:r>
                        <a:rPr sz="750" spc="5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75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·</a:t>
                      </a:r>
                      <a:r>
                        <a:rPr sz="750" spc="5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75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사진</a:t>
                      </a:r>
                      <a:r>
                        <a:rPr sz="750" spc="5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750" spc="-25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촬영</a:t>
                      </a:r>
                      <a:endParaRPr sz="75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ECE7DB"/>
                      </a:solidFill>
                      <a:prstDash val="solid"/>
                    </a:lnL>
                    <a:lnT w="9525">
                      <a:solidFill>
                        <a:srgbClr val="ECE7DB"/>
                      </a:solidFill>
                      <a:prstDash val="solid"/>
                    </a:lnT>
                    <a:lnB w="9525">
                      <a:solidFill>
                        <a:srgbClr val="ECE7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5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Times New Roman"/>
                      </a:endParaRPr>
                    </a:p>
                    <a:p>
                      <a:pPr marL="253365">
                        <a:lnSpc>
                          <a:spcPct val="100000"/>
                        </a:lnSpc>
                        <a:tabLst>
                          <a:tab pos="1657350" algn="l"/>
                        </a:tabLst>
                      </a:pPr>
                      <a:r>
                        <a:rPr sz="750" dirty="0">
                          <a:solidFill>
                            <a:srgbClr val="C8A062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Consolas"/>
                        </a:rPr>
                        <a:t>14:40-</a:t>
                      </a:r>
                      <a:r>
                        <a:rPr sz="750" spc="-10" dirty="0">
                          <a:solidFill>
                            <a:srgbClr val="C8A062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Consolas"/>
                        </a:rPr>
                        <a:t>15:50</a:t>
                      </a:r>
                      <a:r>
                        <a:rPr sz="750" dirty="0">
                          <a:solidFill>
                            <a:srgbClr val="C8A062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Consolas"/>
                        </a:rPr>
                        <a:t>	</a:t>
                      </a:r>
                      <a:r>
                        <a:rPr sz="1725" b="1" spc="-30" baseline="-28985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기술혁신</a:t>
                      </a:r>
                      <a:endParaRPr sz="1725" baseline="-28985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75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Times New Roman"/>
                      </a:endParaRPr>
                    </a:p>
                    <a:p>
                      <a:pPr marL="1657350">
                        <a:lnSpc>
                          <a:spcPct val="100000"/>
                        </a:lnSpc>
                      </a:pPr>
                      <a:r>
                        <a:rPr sz="75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기업인·교수</a:t>
                      </a:r>
                      <a:r>
                        <a:rPr sz="750" spc="10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75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등</a:t>
                      </a:r>
                      <a:r>
                        <a:rPr sz="750" spc="105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75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관계자</a:t>
                      </a:r>
                      <a:r>
                        <a:rPr sz="750" spc="10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750" spc="-25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6인</a:t>
                      </a:r>
                      <a:endParaRPr sz="75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ECE7DB"/>
                      </a:solidFill>
                      <a:prstDash val="solid"/>
                    </a:lnL>
                    <a:lnT w="9525">
                      <a:solidFill>
                        <a:srgbClr val="ECE7DB"/>
                      </a:solidFill>
                      <a:prstDash val="solid"/>
                    </a:lnT>
                    <a:lnB w="9525">
                      <a:solidFill>
                        <a:srgbClr val="ECE7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75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Times New Roman"/>
                      </a:endParaRPr>
                    </a:p>
                    <a:p>
                      <a:pPr marL="253365">
                        <a:lnSpc>
                          <a:spcPct val="100000"/>
                        </a:lnSpc>
                        <a:tabLst>
                          <a:tab pos="1657350" algn="l"/>
                        </a:tabLst>
                      </a:pPr>
                      <a:r>
                        <a:rPr sz="750" dirty="0">
                          <a:solidFill>
                            <a:srgbClr val="C8A062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Consolas"/>
                        </a:rPr>
                        <a:t>15:50-</a:t>
                      </a:r>
                      <a:r>
                        <a:rPr sz="750" spc="-10" dirty="0">
                          <a:solidFill>
                            <a:srgbClr val="C8A062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Consolas"/>
                        </a:rPr>
                        <a:t>16:00</a:t>
                      </a:r>
                      <a:r>
                        <a:rPr sz="750" dirty="0">
                          <a:solidFill>
                            <a:srgbClr val="C8A062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Consolas"/>
                        </a:rPr>
                        <a:t>	</a:t>
                      </a:r>
                      <a:r>
                        <a:rPr sz="1725" b="1" spc="-37" baseline="-28985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휴식</a:t>
                      </a:r>
                      <a:endParaRPr sz="1725" baseline="-28985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Malgun Gothic"/>
                      </a:endParaRPr>
                    </a:p>
                  </a:txBody>
                  <a:tcPr marL="0" marR="0" marT="15875" marB="0">
                    <a:lnL w="9525">
                      <a:solidFill>
                        <a:srgbClr val="ECE7DB"/>
                      </a:solidFill>
                      <a:prstDash val="solid"/>
                    </a:lnL>
                    <a:lnT w="9525">
                      <a:solidFill>
                        <a:srgbClr val="ECE7DB"/>
                      </a:solidFill>
                      <a:prstDash val="solid"/>
                    </a:lnT>
                    <a:lnB w="9525">
                      <a:solidFill>
                        <a:srgbClr val="ECE7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253365">
                        <a:lnSpc>
                          <a:spcPct val="100000"/>
                        </a:lnSpc>
                        <a:spcBef>
                          <a:spcPts val="760"/>
                        </a:spcBef>
                        <a:tabLst>
                          <a:tab pos="1657350" algn="l"/>
                        </a:tabLst>
                      </a:pPr>
                      <a:r>
                        <a:rPr sz="750" dirty="0">
                          <a:solidFill>
                            <a:srgbClr val="C8A062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Consolas"/>
                        </a:rPr>
                        <a:t>16:00-</a:t>
                      </a:r>
                      <a:r>
                        <a:rPr sz="750" spc="-10" dirty="0">
                          <a:solidFill>
                            <a:srgbClr val="C8A062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Consolas"/>
                        </a:rPr>
                        <a:t>17:20</a:t>
                      </a:r>
                      <a:r>
                        <a:rPr sz="750" dirty="0">
                          <a:solidFill>
                            <a:srgbClr val="C8A062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Consolas"/>
                        </a:rPr>
                        <a:t>	</a:t>
                      </a:r>
                      <a:r>
                        <a:rPr sz="1725" b="1" spc="-15" baseline="-28985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사회</a:t>
                      </a:r>
                      <a:r>
                        <a:rPr sz="1950" b="1" spc="-15" baseline="-25641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Garamond"/>
                        </a:rPr>
                        <a:t>·</a:t>
                      </a:r>
                      <a:r>
                        <a:rPr sz="1725" b="1" spc="-15" baseline="-28985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정치혁신</a:t>
                      </a:r>
                      <a:endParaRPr sz="1725" baseline="-28985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75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Times New Roman"/>
                      </a:endParaRPr>
                    </a:p>
                    <a:p>
                      <a:pPr marL="1657350">
                        <a:lnSpc>
                          <a:spcPct val="100000"/>
                        </a:lnSpc>
                      </a:pPr>
                      <a:r>
                        <a:rPr sz="75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현직</a:t>
                      </a:r>
                      <a:r>
                        <a:rPr sz="750" spc="9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75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30대</a:t>
                      </a:r>
                      <a:r>
                        <a:rPr sz="750" spc="9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75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국회의원</a:t>
                      </a:r>
                      <a:r>
                        <a:rPr sz="750" spc="90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750" spc="-25" dirty="0">
                          <a:solidFill>
                            <a:srgbClr val="BEC2C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4인</a:t>
                      </a:r>
                      <a:endParaRPr sz="75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Malgun Gothic"/>
                      </a:endParaRPr>
                    </a:p>
                  </a:txBody>
                  <a:tcPr marL="0" marR="0" marT="96520" marB="0">
                    <a:lnL w="9525">
                      <a:solidFill>
                        <a:srgbClr val="ECE7DB"/>
                      </a:solidFill>
                      <a:prstDash val="solid"/>
                    </a:lnL>
                    <a:lnT w="9525">
                      <a:solidFill>
                        <a:srgbClr val="ECE7DB"/>
                      </a:solidFill>
                      <a:prstDash val="solid"/>
                    </a:lnT>
                    <a:lnB w="9525">
                      <a:solidFill>
                        <a:srgbClr val="ECE7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5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Times New Roman"/>
                      </a:endParaRPr>
                    </a:p>
                    <a:p>
                      <a:pPr marL="253365">
                        <a:lnSpc>
                          <a:spcPct val="100000"/>
                        </a:lnSpc>
                        <a:tabLst>
                          <a:tab pos="1657350" algn="l"/>
                        </a:tabLst>
                      </a:pPr>
                      <a:r>
                        <a:rPr sz="750" dirty="0">
                          <a:solidFill>
                            <a:srgbClr val="C8A062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Consolas"/>
                        </a:rPr>
                        <a:t>17:20-</a:t>
                      </a:r>
                      <a:r>
                        <a:rPr sz="750" spc="-10" dirty="0">
                          <a:solidFill>
                            <a:srgbClr val="C8A062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Consolas"/>
                        </a:rPr>
                        <a:t>17:50</a:t>
                      </a:r>
                      <a:r>
                        <a:rPr sz="750" dirty="0">
                          <a:solidFill>
                            <a:srgbClr val="C8A062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Consolas"/>
                        </a:rPr>
                        <a:t>	</a:t>
                      </a:r>
                      <a:r>
                        <a:rPr sz="1725" b="1" spc="-217" baseline="-28985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종합</a:t>
                      </a:r>
                      <a:r>
                        <a:rPr sz="1725" b="1" spc="-104" baseline="-28985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1725" b="1" spc="-30" baseline="-28985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디스커션</a:t>
                      </a:r>
                      <a:endParaRPr sz="1725" baseline="-28985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ECE7DB"/>
                      </a:solidFill>
                      <a:prstDash val="solid"/>
                    </a:lnL>
                    <a:lnT w="9525">
                      <a:solidFill>
                        <a:srgbClr val="ECE7DB"/>
                      </a:solidFill>
                      <a:prstDash val="solid"/>
                    </a:lnT>
                    <a:lnB w="9525">
                      <a:solidFill>
                        <a:srgbClr val="ECE7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05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Times New Roman"/>
                      </a:endParaRPr>
                    </a:p>
                    <a:p>
                      <a:pPr marL="253365">
                        <a:lnSpc>
                          <a:spcPct val="100000"/>
                        </a:lnSpc>
                        <a:tabLst>
                          <a:tab pos="1657350" algn="l"/>
                        </a:tabLst>
                      </a:pPr>
                      <a:r>
                        <a:rPr sz="1125" baseline="44444" dirty="0">
                          <a:solidFill>
                            <a:srgbClr val="C8A062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Consolas"/>
                        </a:rPr>
                        <a:t>17:50-</a:t>
                      </a:r>
                      <a:r>
                        <a:rPr sz="1125" spc="-15" baseline="44444" dirty="0">
                          <a:solidFill>
                            <a:srgbClr val="C8A062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Consolas"/>
                        </a:rPr>
                        <a:t>18:00</a:t>
                      </a:r>
                      <a:r>
                        <a:rPr sz="1125" baseline="44444" dirty="0">
                          <a:solidFill>
                            <a:srgbClr val="C8A062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Consolas"/>
                        </a:rPr>
                        <a:t>	</a:t>
                      </a:r>
                      <a:r>
                        <a:rPr sz="1150" b="1" spc="-140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마무리</a:t>
                      </a:r>
                      <a:r>
                        <a:rPr sz="1150" b="1" spc="-70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1150" b="1" spc="-145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멘트</a:t>
                      </a:r>
                      <a:r>
                        <a:rPr sz="1150" b="1" spc="-70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1150" b="1" spc="-145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및</a:t>
                      </a:r>
                      <a:r>
                        <a:rPr sz="1150" b="1" spc="-70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1150" b="1" spc="-140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네트워킹</a:t>
                      </a:r>
                      <a:r>
                        <a:rPr sz="1150" b="1" spc="-70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1150" b="1" spc="-145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장소</a:t>
                      </a:r>
                      <a:r>
                        <a:rPr sz="1150" b="1" spc="-70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1150" b="1" spc="-145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이동</a:t>
                      </a:r>
                      <a:r>
                        <a:rPr sz="1150" b="1" spc="-70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1150" b="1" spc="-25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안내</a:t>
                      </a:r>
                      <a:endParaRPr sz="1150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Malgun Gothic"/>
                      </a:endParaRPr>
                    </a:p>
                  </a:txBody>
                  <a:tcPr marL="0" marR="0" marT="38735" marB="0">
                    <a:lnL w="9525">
                      <a:solidFill>
                        <a:srgbClr val="ECE7DB"/>
                      </a:solidFill>
                      <a:prstDash val="solid"/>
                    </a:lnL>
                    <a:lnT w="9525">
                      <a:solidFill>
                        <a:srgbClr val="ECE7DB"/>
                      </a:solidFill>
                      <a:prstDash val="solid"/>
                    </a:lnT>
                    <a:lnB w="9525">
                      <a:solidFill>
                        <a:srgbClr val="ECE7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05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Times New Roman"/>
                      </a:endParaRPr>
                    </a:p>
                    <a:p>
                      <a:pPr marL="253365">
                        <a:lnSpc>
                          <a:spcPct val="100000"/>
                        </a:lnSpc>
                        <a:tabLst>
                          <a:tab pos="1657350" algn="l"/>
                        </a:tabLst>
                      </a:pPr>
                      <a:r>
                        <a:rPr sz="1125" spc="-15" baseline="44444" dirty="0">
                          <a:solidFill>
                            <a:srgbClr val="C8A062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Consolas"/>
                        </a:rPr>
                        <a:t>18:00-</a:t>
                      </a:r>
                      <a:r>
                        <a:rPr sz="1125" baseline="44444" dirty="0">
                          <a:solidFill>
                            <a:srgbClr val="C8A062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Consolas"/>
                        </a:rPr>
                        <a:t>	</a:t>
                      </a:r>
                      <a:r>
                        <a:rPr sz="1150" b="1" spc="-140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알럼나이와</a:t>
                      </a:r>
                      <a:r>
                        <a:rPr sz="1150" b="1" spc="-75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1150" b="1" spc="-140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함께하는</a:t>
                      </a:r>
                      <a:r>
                        <a:rPr sz="1150" b="1" spc="-70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1150" b="1" spc="-140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네트워킹</a:t>
                      </a:r>
                      <a:r>
                        <a:rPr sz="1150" b="1" spc="-70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1150" b="1" spc="-35" dirty="0">
                          <a:solidFill>
                            <a:srgbClr val="ECE7DB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나잇</a:t>
                      </a:r>
                      <a:endParaRPr sz="1150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Malgun Gothic"/>
                      </a:endParaRPr>
                    </a:p>
                  </a:txBody>
                  <a:tcPr marL="0" marR="0" marT="38735" marB="0">
                    <a:lnL w="9525">
                      <a:solidFill>
                        <a:srgbClr val="ECE7DB"/>
                      </a:solidFill>
                      <a:prstDash val="solid"/>
                    </a:lnL>
                    <a:lnT w="9525">
                      <a:solidFill>
                        <a:srgbClr val="ECE7DB"/>
                      </a:solidFill>
                      <a:prstDash val="solid"/>
                    </a:lnT>
                    <a:lnB w="9525">
                      <a:solidFill>
                        <a:srgbClr val="ECE7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275" y="1933574"/>
            <a:ext cx="85725" cy="8572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2686049"/>
            <a:ext cx="85725" cy="9525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3448049"/>
            <a:ext cx="85725" cy="9525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4210049"/>
            <a:ext cx="85725" cy="9525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6275" y="4772024"/>
            <a:ext cx="85725" cy="8572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5524499"/>
            <a:ext cx="85725" cy="9525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275" y="6086474"/>
            <a:ext cx="85725" cy="8572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6638925"/>
            <a:ext cx="85725" cy="95250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6784282" y="10134434"/>
            <a:ext cx="16827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35"/>
              </a:lnSpc>
            </a:pPr>
            <a:r>
              <a:rPr spc="-25" dirty="0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0</a:t>
            </a:r>
            <a:fld id="{81D60167-4931-47E6-BA6A-407CBD079E47}" type="slidenum">
              <a:rPr spc="-25" dirty="0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3</a:t>
            </a:fld>
            <a:endParaRPr spc="-25" dirty="0">
              <a:latin typeface="Noto Serif KR Light" panose="02020200000000000000" pitchFamily="18" charset="-127"/>
              <a:ea typeface="Noto Serif KR Light" panose="02020200000000000000" pitchFamily="18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7700" y="4133925"/>
            <a:ext cx="6267450" cy="9525"/>
          </a:xfrm>
          <a:custGeom>
            <a:avLst/>
            <a:gdLst/>
            <a:ahLst/>
            <a:cxnLst/>
            <a:rect l="l" t="t" r="r" b="b"/>
            <a:pathLst>
              <a:path w="6267450" h="9525">
                <a:moveTo>
                  <a:pt x="6267450" y="9525"/>
                </a:moveTo>
                <a:lnTo>
                  <a:pt x="0" y="9525"/>
                </a:lnTo>
                <a:lnTo>
                  <a:pt x="0" y="0"/>
                </a:lnTo>
                <a:lnTo>
                  <a:pt x="6267450" y="0"/>
                </a:lnTo>
                <a:lnTo>
                  <a:pt x="6267450" y="9525"/>
                </a:lnTo>
                <a:close/>
              </a:path>
            </a:pathLst>
          </a:custGeom>
          <a:solidFill>
            <a:srgbClr val="1C2136">
              <a:alpha val="14118"/>
            </a:srgbClr>
          </a:solidFill>
        </p:spPr>
        <p:txBody>
          <a:bodyPr wrap="square" lIns="0" tIns="0" rIns="0" bIns="0" rtlCol="0"/>
          <a:lstStyle/>
          <a:p>
            <a:endParaRPr>
              <a:latin typeface="Noto Serif KR Light" panose="02020200000000000000" pitchFamily="18" charset="-127"/>
              <a:ea typeface="Noto Serif KR Light" panose="02020200000000000000" pitchFamily="18" charset="-127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700" y="7048575"/>
            <a:ext cx="6267450" cy="9525"/>
          </a:xfrm>
          <a:custGeom>
            <a:avLst/>
            <a:gdLst/>
            <a:ahLst/>
            <a:cxnLst/>
            <a:rect l="l" t="t" r="r" b="b"/>
            <a:pathLst>
              <a:path w="6267450" h="9525">
                <a:moveTo>
                  <a:pt x="6267450" y="9525"/>
                </a:moveTo>
                <a:lnTo>
                  <a:pt x="0" y="9525"/>
                </a:lnTo>
                <a:lnTo>
                  <a:pt x="0" y="0"/>
                </a:lnTo>
                <a:lnTo>
                  <a:pt x="6267450" y="0"/>
                </a:lnTo>
                <a:lnTo>
                  <a:pt x="6267450" y="9525"/>
                </a:lnTo>
                <a:close/>
              </a:path>
            </a:pathLst>
          </a:custGeom>
          <a:solidFill>
            <a:srgbClr val="1C2136">
              <a:alpha val="14118"/>
            </a:srgbClr>
          </a:solidFill>
        </p:spPr>
        <p:txBody>
          <a:bodyPr wrap="square" lIns="0" tIns="0" rIns="0" bIns="0" rtlCol="0"/>
          <a:lstStyle/>
          <a:p>
            <a:endParaRPr>
              <a:latin typeface="Noto Serif KR Light" panose="02020200000000000000" pitchFamily="18" charset="-127"/>
              <a:ea typeface="Noto Serif KR Light" panose="02020200000000000000" pitchFamily="18" charset="-127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298" y="649363"/>
            <a:ext cx="601345" cy="1218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" b="1" dirty="0">
                <a:solidFill>
                  <a:srgbClr val="A7814D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onsolas"/>
              </a:rPr>
              <a:t>S</a:t>
            </a:r>
            <a:r>
              <a:rPr sz="700" b="1" spc="-190" dirty="0">
                <a:solidFill>
                  <a:srgbClr val="A7814D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onsolas"/>
              </a:rPr>
              <a:t> </a:t>
            </a:r>
            <a:r>
              <a:rPr sz="700" b="1" dirty="0">
                <a:solidFill>
                  <a:srgbClr val="A7814D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onsolas"/>
              </a:rPr>
              <a:t>E</a:t>
            </a:r>
            <a:r>
              <a:rPr sz="700" b="1" spc="-185" dirty="0">
                <a:solidFill>
                  <a:srgbClr val="A7814D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onsolas"/>
              </a:rPr>
              <a:t> </a:t>
            </a:r>
            <a:r>
              <a:rPr sz="700" b="1" dirty="0">
                <a:solidFill>
                  <a:srgbClr val="A7814D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onsolas"/>
              </a:rPr>
              <a:t>S</a:t>
            </a:r>
            <a:r>
              <a:rPr sz="700" b="1" spc="-185" dirty="0">
                <a:solidFill>
                  <a:srgbClr val="A7814D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onsolas"/>
              </a:rPr>
              <a:t> </a:t>
            </a:r>
            <a:r>
              <a:rPr sz="700" b="1" dirty="0">
                <a:solidFill>
                  <a:srgbClr val="A7814D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onsolas"/>
              </a:rPr>
              <a:t>S</a:t>
            </a:r>
            <a:r>
              <a:rPr sz="700" b="1" spc="-185" dirty="0">
                <a:solidFill>
                  <a:srgbClr val="A7814D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onsolas"/>
              </a:rPr>
              <a:t> </a:t>
            </a:r>
            <a:r>
              <a:rPr sz="700" b="1" dirty="0">
                <a:solidFill>
                  <a:srgbClr val="A7814D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onsolas"/>
              </a:rPr>
              <a:t>I</a:t>
            </a:r>
            <a:r>
              <a:rPr sz="700" b="1" spc="-190" dirty="0">
                <a:solidFill>
                  <a:srgbClr val="A7814D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onsolas"/>
              </a:rPr>
              <a:t> </a:t>
            </a:r>
            <a:r>
              <a:rPr sz="700" b="1" dirty="0">
                <a:solidFill>
                  <a:srgbClr val="A7814D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onsolas"/>
              </a:rPr>
              <a:t>O</a:t>
            </a:r>
            <a:r>
              <a:rPr sz="700" b="1" spc="-185" dirty="0">
                <a:solidFill>
                  <a:srgbClr val="A7814D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onsolas"/>
              </a:rPr>
              <a:t> </a:t>
            </a:r>
            <a:r>
              <a:rPr sz="700" b="1" dirty="0">
                <a:solidFill>
                  <a:srgbClr val="A7814D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onsolas"/>
              </a:rPr>
              <a:t>N</a:t>
            </a:r>
            <a:r>
              <a:rPr sz="700" b="1" spc="-185" dirty="0">
                <a:solidFill>
                  <a:srgbClr val="A7814D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onsolas"/>
              </a:rPr>
              <a:t> </a:t>
            </a:r>
            <a:r>
              <a:rPr sz="700" b="1" spc="-50" dirty="0">
                <a:solidFill>
                  <a:srgbClr val="A7814D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onsolas"/>
              </a:rPr>
              <a:t>S</a:t>
            </a:r>
            <a:endParaRPr sz="700">
              <a:latin typeface="Noto Serif KR Light" panose="02020200000000000000" pitchFamily="18" charset="-127"/>
              <a:ea typeface="Noto Serif KR Light" panose="02020200000000000000" pitchFamily="18" charset="-127"/>
              <a:cs typeface="Consola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35298" y="751566"/>
            <a:ext cx="1167765" cy="400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80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세션</a:t>
            </a:r>
            <a:r>
              <a:rPr spc="-235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 </a:t>
            </a:r>
            <a:r>
              <a:rPr spc="-405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구성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71481" y="958925"/>
            <a:ext cx="141605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Consolas"/>
              </a:rPr>
              <a:t>04</a:t>
            </a:r>
            <a:endParaRPr sz="750">
              <a:latin typeface="Noto Serif KR Light" panose="02020200000000000000" pitchFamily="18" charset="-127"/>
              <a:ea typeface="Noto Serif KR Light" panose="02020200000000000000" pitchFamily="18" charset="-127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5298" y="1282618"/>
            <a:ext cx="469265" cy="1041400"/>
          </a:xfrm>
          <a:prstGeom prst="rect">
            <a:avLst/>
          </a:prstGeom>
        </p:spPr>
        <p:txBody>
          <a:bodyPr vert="horz" wrap="square" lIns="0" tIns="298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350"/>
              </a:spcBef>
            </a:pPr>
            <a:r>
              <a:rPr sz="3900" spc="-615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Georgia"/>
              </a:rPr>
              <a:t>01</a:t>
            </a:r>
            <a:endParaRPr sz="3900" dirty="0">
              <a:latin typeface="Georgia" panose="02040502050405020303" pitchFamily="18" charset="0"/>
              <a:ea typeface="Noto Serif KR Light" panose="02020200000000000000" pitchFamily="18" charset="-127"/>
              <a:cs typeface="Georgia"/>
            </a:endParaRPr>
          </a:p>
          <a:p>
            <a:pPr marL="12700" algn="ctr">
              <a:lnSpc>
                <a:spcPct val="100000"/>
              </a:lnSpc>
              <a:spcBef>
                <a:spcPts val="345"/>
              </a:spcBef>
            </a:pPr>
            <a:r>
              <a:rPr sz="600" b="1" dirty="0">
                <a:solidFill>
                  <a:srgbClr val="596074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S</a:t>
            </a:r>
            <a:r>
              <a:rPr sz="600" b="1" spc="-210" dirty="0">
                <a:solidFill>
                  <a:srgbClr val="596074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b="1" dirty="0">
                <a:solidFill>
                  <a:srgbClr val="596074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E</a:t>
            </a:r>
            <a:r>
              <a:rPr sz="600" b="1" spc="-204" dirty="0">
                <a:solidFill>
                  <a:srgbClr val="596074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b="1" dirty="0">
                <a:solidFill>
                  <a:srgbClr val="596074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S</a:t>
            </a:r>
            <a:r>
              <a:rPr sz="600" b="1" spc="-210" dirty="0">
                <a:solidFill>
                  <a:srgbClr val="596074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b="1" dirty="0">
                <a:solidFill>
                  <a:srgbClr val="596074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S</a:t>
            </a:r>
            <a:r>
              <a:rPr sz="600" b="1" spc="-204" dirty="0">
                <a:solidFill>
                  <a:srgbClr val="596074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b="1" dirty="0">
                <a:solidFill>
                  <a:srgbClr val="596074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I</a:t>
            </a:r>
            <a:r>
              <a:rPr sz="600" b="1" spc="-204" dirty="0">
                <a:solidFill>
                  <a:srgbClr val="596074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b="1" dirty="0">
                <a:solidFill>
                  <a:srgbClr val="596074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O</a:t>
            </a:r>
            <a:r>
              <a:rPr sz="600" b="1" spc="-210" dirty="0">
                <a:solidFill>
                  <a:srgbClr val="596074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b="1" spc="-50" dirty="0">
                <a:solidFill>
                  <a:srgbClr val="596074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N</a:t>
            </a:r>
            <a:endParaRPr sz="600" dirty="0">
              <a:latin typeface="Georgia" panose="02040502050405020303" pitchFamily="18" charset="0"/>
              <a:ea typeface="Noto Serif KR Light" panose="02020200000000000000" pitchFamily="18" charset="-127"/>
              <a:cs typeface="Consola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38325" y="2705176"/>
            <a:ext cx="5076825" cy="9525"/>
          </a:xfrm>
          <a:custGeom>
            <a:avLst/>
            <a:gdLst/>
            <a:ahLst/>
            <a:cxnLst/>
            <a:rect l="l" t="t" r="r" b="b"/>
            <a:pathLst>
              <a:path w="5076825" h="9525">
                <a:moveTo>
                  <a:pt x="5076825" y="9525"/>
                </a:moveTo>
                <a:lnTo>
                  <a:pt x="0" y="9525"/>
                </a:lnTo>
                <a:lnTo>
                  <a:pt x="0" y="0"/>
                </a:lnTo>
                <a:lnTo>
                  <a:pt x="5076825" y="0"/>
                </a:lnTo>
                <a:lnTo>
                  <a:pt x="5076825" y="9525"/>
                </a:lnTo>
                <a:close/>
              </a:path>
            </a:pathLst>
          </a:custGeom>
          <a:solidFill>
            <a:srgbClr val="1C2136">
              <a:alpha val="14118"/>
            </a:srgbClr>
          </a:solidFill>
        </p:spPr>
        <p:txBody>
          <a:bodyPr wrap="square" lIns="0" tIns="0" rIns="0" bIns="0" rtlCol="0"/>
          <a:lstStyle/>
          <a:p>
            <a:endParaRPr>
              <a:latin typeface="Noto Serif KR Light" panose="02020200000000000000" pitchFamily="18" charset="-127"/>
              <a:ea typeface="Noto Serif KR Light" panose="02020200000000000000" pitchFamily="18" charset="-127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23242" y="1795485"/>
            <a:ext cx="829310" cy="3098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50" b="1" spc="-295" dirty="0" err="1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기술</a:t>
            </a:r>
            <a:r>
              <a:rPr lang="en-US" sz="1850" b="1" spc="-29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1850" b="1" spc="-295" dirty="0" err="1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혁신</a:t>
            </a:r>
            <a:endParaRPr sz="185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23243" y="2233371"/>
            <a:ext cx="469264" cy="1070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F</a:t>
            </a:r>
            <a:r>
              <a:rPr sz="600" spc="-245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O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R</a:t>
            </a:r>
            <a:r>
              <a:rPr sz="600" spc="-235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M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A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T</a:t>
            </a:r>
            <a:endParaRPr sz="600" dirty="0">
              <a:latin typeface="Georgia" panose="02040502050405020303" pitchFamily="18" charset="0"/>
              <a:ea typeface="Noto Serif KR Light" panose="02020200000000000000" pitchFamily="18" charset="-127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23243" y="2425140"/>
            <a:ext cx="1368425" cy="1372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토크콘서트</a:t>
            </a:r>
            <a:r>
              <a:rPr sz="800" b="1" spc="2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형식의</a:t>
            </a:r>
            <a:r>
              <a:rPr sz="800" b="1" spc="2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토의</a:t>
            </a:r>
            <a:r>
              <a:rPr sz="800" b="1" spc="30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spc="-2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세션</a:t>
            </a:r>
            <a:endParaRPr sz="8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54247" y="2233371"/>
            <a:ext cx="230504" cy="1070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T</a:t>
            </a:r>
            <a:r>
              <a:rPr sz="600" spc="-235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I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M</a:t>
            </a:r>
            <a:r>
              <a:rPr sz="600" spc="-235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E</a:t>
            </a:r>
            <a:endParaRPr sz="600">
              <a:latin typeface="Georgia" panose="02040502050405020303" pitchFamily="18" charset="0"/>
              <a:ea typeface="Noto Serif KR Light" panose="02020200000000000000" pitchFamily="18" charset="-127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54247" y="2425140"/>
            <a:ext cx="930275" cy="1372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약</a:t>
            </a:r>
            <a:r>
              <a:rPr sz="800" b="1" spc="1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1시간</a:t>
            </a:r>
            <a:r>
              <a:rPr sz="800" b="1" spc="1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10분</a:t>
            </a:r>
            <a:r>
              <a:rPr sz="800" b="1" spc="1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spc="-2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예정</a:t>
            </a:r>
            <a:endParaRPr sz="80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46958" y="2233371"/>
            <a:ext cx="445770" cy="1070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S</a:t>
            </a:r>
            <a:r>
              <a:rPr sz="600" spc="-235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P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E</a:t>
            </a:r>
            <a:r>
              <a:rPr sz="600" spc="-235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A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K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E</a:t>
            </a:r>
            <a:r>
              <a:rPr sz="600" spc="-235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R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S</a:t>
            </a:r>
            <a:endParaRPr sz="600">
              <a:latin typeface="Georgia" panose="02040502050405020303" pitchFamily="18" charset="0"/>
              <a:ea typeface="Noto Serif KR Light" panose="02020200000000000000" pitchFamily="18" charset="-127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46958" y="2425140"/>
            <a:ext cx="1249680" cy="1372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기업인·교수</a:t>
            </a:r>
            <a:r>
              <a:rPr sz="800" b="1" spc="20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등</a:t>
            </a:r>
            <a:r>
              <a:rPr sz="800" b="1" spc="2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관계자</a:t>
            </a:r>
            <a:r>
              <a:rPr sz="800" b="1" spc="20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spc="-2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6인</a:t>
            </a:r>
            <a:endParaRPr sz="80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23243" y="2847161"/>
            <a:ext cx="5092700" cy="9779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56200"/>
              </a:lnSpc>
              <a:spcBef>
                <a:spcPts val="90"/>
              </a:spcBef>
            </a:pP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본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세션은</a:t>
            </a:r>
            <a:r>
              <a:rPr sz="800" spc="14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생성형</a:t>
            </a:r>
            <a:r>
              <a:rPr sz="800" spc="14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AI를</a:t>
            </a:r>
            <a:r>
              <a:rPr sz="800" spc="14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중심으로</a:t>
            </a:r>
            <a:r>
              <a:rPr sz="800" spc="14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급격히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전개되고</a:t>
            </a:r>
            <a:r>
              <a:rPr sz="800" spc="14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있는</a:t>
            </a:r>
            <a:r>
              <a:rPr sz="800" spc="14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기술혁신의</a:t>
            </a:r>
            <a:r>
              <a:rPr sz="800" spc="14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흐름을</a:t>
            </a:r>
            <a:r>
              <a:rPr sz="800" spc="14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학술적</a:t>
            </a:r>
            <a:r>
              <a:rPr sz="800" spc="14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관점에서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거시적으로</a:t>
            </a:r>
            <a:r>
              <a:rPr sz="800" spc="14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spc="-5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조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망합니다.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단순한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기술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소개를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넘어,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오늘날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기술혁신이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어떠한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원리와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방향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속에서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전개되고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있는지,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spc="-2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그리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고</a:t>
            </a:r>
            <a:r>
              <a:rPr sz="800" spc="13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첨단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기술이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산업과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시장</a:t>
            </a:r>
            <a:r>
              <a:rPr sz="800" spc="13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질서를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어떻게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재편하고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있는지를</a:t>
            </a:r>
            <a:r>
              <a:rPr sz="800" spc="13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폭넓게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논의합니다.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국가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차원에서는</a:t>
            </a:r>
            <a:r>
              <a:rPr sz="800" spc="13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spc="-2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기술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패권</a:t>
            </a:r>
            <a:r>
              <a:rPr sz="800" spc="114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경쟁이</a:t>
            </a:r>
            <a:r>
              <a:rPr sz="800" spc="114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심화되는</a:t>
            </a:r>
            <a:r>
              <a:rPr sz="800" spc="114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국제</a:t>
            </a:r>
            <a:r>
              <a:rPr sz="800" spc="1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환경</a:t>
            </a:r>
            <a:r>
              <a:rPr sz="800" spc="114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속</a:t>
            </a:r>
            <a:r>
              <a:rPr sz="800" spc="114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대한민국이</a:t>
            </a:r>
            <a:r>
              <a:rPr sz="800" spc="114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확보해야</a:t>
            </a:r>
            <a:r>
              <a:rPr sz="800" spc="1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할</a:t>
            </a:r>
            <a:r>
              <a:rPr sz="800" spc="114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전략적</a:t>
            </a:r>
            <a:r>
              <a:rPr sz="800" spc="114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위치와</a:t>
            </a:r>
            <a:r>
              <a:rPr sz="800" spc="114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경쟁</a:t>
            </a:r>
            <a:r>
              <a:rPr sz="800" spc="1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우위를,</a:t>
            </a:r>
            <a:r>
              <a:rPr sz="800" spc="114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개인</a:t>
            </a:r>
            <a:r>
              <a:rPr sz="800" spc="114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spc="-1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차원에서는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기술혁신</a:t>
            </a:r>
            <a:r>
              <a:rPr sz="800" spc="1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이후</a:t>
            </a:r>
            <a:r>
              <a:rPr sz="800" spc="12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변화하는</a:t>
            </a:r>
            <a:r>
              <a:rPr sz="800" spc="1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인간의</a:t>
            </a:r>
            <a:r>
              <a:rPr sz="800" spc="12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삶과</a:t>
            </a:r>
            <a:r>
              <a:rPr sz="800" spc="1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노동,</a:t>
            </a:r>
            <a:r>
              <a:rPr sz="800" spc="12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가치와</a:t>
            </a:r>
            <a:r>
              <a:rPr sz="800" spc="12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선택의</a:t>
            </a:r>
            <a:r>
              <a:rPr sz="800" spc="1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문제를</a:t>
            </a:r>
            <a:r>
              <a:rPr sz="800" spc="12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함께</a:t>
            </a:r>
            <a:r>
              <a:rPr sz="800" spc="1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spc="-1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성찰합니다.</a:t>
            </a:r>
            <a:endParaRPr sz="800" dirty="0">
              <a:latin typeface="Noto Serif KR Light" panose="02020200000000000000" pitchFamily="18" charset="-127"/>
              <a:ea typeface="Noto Serif KR Light" panose="02020200000000000000" pitchFamily="18" charset="-127"/>
              <a:cs typeface="Malgun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5298" y="3997243"/>
            <a:ext cx="523240" cy="1041400"/>
          </a:xfrm>
          <a:prstGeom prst="rect">
            <a:avLst/>
          </a:prstGeom>
        </p:spPr>
        <p:txBody>
          <a:bodyPr vert="horz" wrap="square" lIns="0" tIns="298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350"/>
              </a:spcBef>
            </a:pPr>
            <a:r>
              <a:rPr sz="3900" spc="-67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Georgia"/>
              </a:rPr>
              <a:t>02</a:t>
            </a:r>
            <a:endParaRPr sz="3900" dirty="0">
              <a:latin typeface="Georgia" panose="02040502050405020303" pitchFamily="18" charset="0"/>
              <a:ea typeface="Noto Serif KR Light" panose="02020200000000000000" pitchFamily="18" charset="-127"/>
              <a:cs typeface="Georgia"/>
            </a:endParaRPr>
          </a:p>
          <a:p>
            <a:pPr marL="12700" algn="ctr">
              <a:lnSpc>
                <a:spcPct val="100000"/>
              </a:lnSpc>
              <a:spcBef>
                <a:spcPts val="345"/>
              </a:spcBef>
            </a:pPr>
            <a:r>
              <a:rPr sz="600" b="1" dirty="0">
                <a:solidFill>
                  <a:srgbClr val="596074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S</a:t>
            </a:r>
            <a:r>
              <a:rPr sz="600" b="1" spc="-210" dirty="0">
                <a:solidFill>
                  <a:srgbClr val="596074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b="1" dirty="0">
                <a:solidFill>
                  <a:srgbClr val="596074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E</a:t>
            </a:r>
            <a:r>
              <a:rPr sz="600" b="1" spc="-204" dirty="0">
                <a:solidFill>
                  <a:srgbClr val="596074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b="1" dirty="0">
                <a:solidFill>
                  <a:srgbClr val="596074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S</a:t>
            </a:r>
            <a:r>
              <a:rPr sz="600" b="1" spc="-210" dirty="0">
                <a:solidFill>
                  <a:srgbClr val="596074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b="1" dirty="0">
                <a:solidFill>
                  <a:srgbClr val="596074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S</a:t>
            </a:r>
            <a:r>
              <a:rPr sz="600" b="1" spc="-204" dirty="0">
                <a:solidFill>
                  <a:srgbClr val="596074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b="1" dirty="0">
                <a:solidFill>
                  <a:srgbClr val="596074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I</a:t>
            </a:r>
            <a:r>
              <a:rPr sz="600" b="1" spc="-204" dirty="0">
                <a:solidFill>
                  <a:srgbClr val="596074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b="1" dirty="0">
                <a:solidFill>
                  <a:srgbClr val="596074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O</a:t>
            </a:r>
            <a:r>
              <a:rPr sz="600" b="1" spc="-210" dirty="0">
                <a:solidFill>
                  <a:srgbClr val="596074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b="1" spc="-50" dirty="0">
                <a:solidFill>
                  <a:srgbClr val="596074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N</a:t>
            </a:r>
            <a:endParaRPr sz="600" dirty="0">
              <a:latin typeface="Georgia" panose="02040502050405020303" pitchFamily="18" charset="0"/>
              <a:ea typeface="Noto Serif KR Light" panose="02020200000000000000" pitchFamily="18" charset="-127"/>
              <a:cs typeface="Consola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838325" y="5429327"/>
            <a:ext cx="5076825" cy="9525"/>
          </a:xfrm>
          <a:custGeom>
            <a:avLst/>
            <a:gdLst/>
            <a:ahLst/>
            <a:cxnLst/>
            <a:rect l="l" t="t" r="r" b="b"/>
            <a:pathLst>
              <a:path w="5076825" h="9525">
                <a:moveTo>
                  <a:pt x="5076825" y="9525"/>
                </a:moveTo>
                <a:lnTo>
                  <a:pt x="0" y="9525"/>
                </a:lnTo>
                <a:lnTo>
                  <a:pt x="0" y="0"/>
                </a:lnTo>
                <a:lnTo>
                  <a:pt x="5076825" y="0"/>
                </a:lnTo>
                <a:lnTo>
                  <a:pt x="5076825" y="9525"/>
                </a:lnTo>
                <a:close/>
              </a:path>
            </a:pathLst>
          </a:custGeom>
          <a:solidFill>
            <a:srgbClr val="1C2136">
              <a:alpha val="14118"/>
            </a:srgbClr>
          </a:solidFill>
        </p:spPr>
        <p:txBody>
          <a:bodyPr wrap="square" lIns="0" tIns="0" rIns="0" bIns="0" rtlCol="0"/>
          <a:lstStyle/>
          <a:p>
            <a:endParaRPr>
              <a:latin typeface="Noto Serif KR Light" panose="02020200000000000000" pitchFamily="18" charset="-127"/>
              <a:ea typeface="Noto Serif KR Light" panose="02020200000000000000" pitchFamily="18" charset="-127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23242" y="4481470"/>
            <a:ext cx="1297305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50" b="1" spc="-270" dirty="0" err="1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사회</a:t>
            </a:r>
            <a:r>
              <a:rPr sz="2000" b="1" spc="-270" dirty="0" err="1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Garamond"/>
              </a:rPr>
              <a:t>·</a:t>
            </a:r>
            <a:r>
              <a:rPr sz="1850" b="1" spc="-270" dirty="0" err="1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정치</a:t>
            </a:r>
            <a:r>
              <a:rPr lang="en-US" sz="1850" b="1" spc="-270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1850" b="1" spc="-270" dirty="0" err="1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혁신</a:t>
            </a:r>
            <a:endParaRPr sz="185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6784282" y="10134434"/>
            <a:ext cx="16827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35"/>
              </a:lnSpc>
            </a:pPr>
            <a:r>
              <a:rPr spc="-25" dirty="0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0</a:t>
            </a:r>
            <a:fld id="{81D60167-4931-47E6-BA6A-407CBD079E47}" type="slidenum">
              <a:rPr spc="-25" dirty="0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4</a:t>
            </a:fld>
            <a:endParaRPr spc="-25" dirty="0">
              <a:latin typeface="Noto Serif KR Light" panose="02020200000000000000" pitchFamily="18" charset="-127"/>
              <a:ea typeface="Noto Serif KR Light" panose="02020200000000000000" pitchFamily="18" charset="-127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23242" y="4957521"/>
            <a:ext cx="431007" cy="1070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F</a:t>
            </a:r>
            <a:r>
              <a:rPr sz="600" spc="-245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O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R</a:t>
            </a:r>
            <a:r>
              <a:rPr sz="600" spc="-235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M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A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T</a:t>
            </a:r>
            <a:endParaRPr sz="600">
              <a:latin typeface="Georgia" panose="02040502050405020303" pitchFamily="18" charset="0"/>
              <a:ea typeface="Noto Serif KR Light" panose="02020200000000000000" pitchFamily="18" charset="-127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23243" y="5139765"/>
            <a:ext cx="1368425" cy="1372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토크콘서트</a:t>
            </a:r>
            <a:r>
              <a:rPr sz="800" b="1" spc="2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형식의</a:t>
            </a:r>
            <a:r>
              <a:rPr sz="800" b="1" spc="2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토론</a:t>
            </a:r>
            <a:r>
              <a:rPr sz="800" b="1" spc="30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spc="-2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세션</a:t>
            </a:r>
            <a:endParaRPr sz="80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54247" y="4957521"/>
            <a:ext cx="230504" cy="1070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T</a:t>
            </a:r>
            <a:r>
              <a:rPr sz="600" spc="-235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I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M</a:t>
            </a:r>
            <a:r>
              <a:rPr sz="600" spc="-235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E</a:t>
            </a:r>
            <a:endParaRPr sz="600">
              <a:latin typeface="Georgia" panose="02040502050405020303" pitchFamily="18" charset="0"/>
              <a:ea typeface="Noto Serif KR Light" panose="02020200000000000000" pitchFamily="18" charset="-127"/>
              <a:cs typeface="Consola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54247" y="5139765"/>
            <a:ext cx="930275" cy="1372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약</a:t>
            </a:r>
            <a:r>
              <a:rPr sz="800" b="1" spc="1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1시간</a:t>
            </a:r>
            <a:r>
              <a:rPr sz="800" b="1" spc="1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20분</a:t>
            </a:r>
            <a:r>
              <a:rPr sz="800" b="1" spc="1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spc="-2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예정</a:t>
            </a:r>
            <a:endParaRPr sz="80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46958" y="4957521"/>
            <a:ext cx="283845" cy="1070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P</a:t>
            </a:r>
            <a:r>
              <a:rPr sz="600" spc="-235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A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N</a:t>
            </a:r>
            <a:r>
              <a:rPr sz="600" spc="-235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E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Georgia" panose="02040502050405020303" pitchFamily="18" charset="0"/>
                <a:ea typeface="Noto Serif KR Light" panose="02020200000000000000" pitchFamily="18" charset="-127"/>
                <a:cs typeface="Consolas"/>
              </a:rPr>
              <a:t>L</a:t>
            </a:r>
            <a:endParaRPr sz="600">
              <a:latin typeface="Georgia" panose="02040502050405020303" pitchFamily="18" charset="0"/>
              <a:ea typeface="Noto Serif KR Light" panose="02020200000000000000" pitchFamily="18" charset="-127"/>
              <a:cs typeface="Consola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46958" y="5139765"/>
            <a:ext cx="1136015" cy="1372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30대</a:t>
            </a:r>
            <a:r>
              <a:rPr sz="800" b="1" spc="20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현직</a:t>
            </a:r>
            <a:r>
              <a:rPr sz="800" b="1" spc="20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국회의원</a:t>
            </a:r>
            <a:r>
              <a:rPr sz="800" b="1" spc="2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spc="-2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4인</a:t>
            </a:r>
            <a:endParaRPr sz="80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23243" y="5571311"/>
            <a:ext cx="5072380" cy="11684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56200"/>
              </a:lnSpc>
              <a:spcBef>
                <a:spcPts val="90"/>
              </a:spcBef>
            </a:pP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대격변의</a:t>
            </a:r>
            <a:r>
              <a:rPr sz="800" spc="16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시대</a:t>
            </a:r>
            <a:r>
              <a:rPr sz="800" spc="16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속에서</a:t>
            </a:r>
            <a:r>
              <a:rPr sz="800" spc="16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대한민국의</a:t>
            </a:r>
            <a:r>
              <a:rPr sz="800" spc="16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사회·정치</a:t>
            </a:r>
            <a:r>
              <a:rPr sz="800" spc="16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혁신이</a:t>
            </a:r>
            <a:r>
              <a:rPr sz="800" spc="16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어떠한</a:t>
            </a:r>
            <a:r>
              <a:rPr sz="800" spc="16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방향으로</a:t>
            </a:r>
            <a:r>
              <a:rPr sz="800" spc="16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이루어져야</a:t>
            </a:r>
            <a:r>
              <a:rPr sz="800" spc="16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하는지를</a:t>
            </a:r>
            <a:r>
              <a:rPr sz="800" spc="16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조망합니다.</a:t>
            </a:r>
            <a:r>
              <a:rPr sz="800" spc="16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spc="-5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단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기</a:t>
            </a:r>
            <a:r>
              <a:rPr sz="800" spc="12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현안과</a:t>
            </a:r>
            <a:r>
              <a:rPr sz="800" spc="13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정책</a:t>
            </a:r>
            <a:r>
              <a:rPr sz="800" spc="12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경쟁에</a:t>
            </a:r>
            <a:r>
              <a:rPr sz="800" spc="13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머무르는</a:t>
            </a:r>
            <a:r>
              <a:rPr sz="800" spc="12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흐름을</a:t>
            </a:r>
            <a:r>
              <a:rPr sz="800" spc="13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넘어,</a:t>
            </a:r>
            <a:r>
              <a:rPr sz="800" spc="12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뉴노멀</a:t>
            </a:r>
            <a:r>
              <a:rPr sz="800" spc="13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이후</a:t>
            </a:r>
            <a:r>
              <a:rPr sz="800" spc="12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대한민국의</a:t>
            </a:r>
            <a:r>
              <a:rPr sz="800" spc="13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백년대계를</a:t>
            </a:r>
            <a:r>
              <a:rPr sz="800" spc="13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어떠한</a:t>
            </a:r>
            <a:r>
              <a:rPr sz="800" spc="12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비전과</a:t>
            </a:r>
            <a:r>
              <a:rPr sz="800" spc="13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철학</a:t>
            </a:r>
            <a:r>
              <a:rPr sz="800" spc="12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spc="-5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위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에서</a:t>
            </a:r>
            <a:r>
              <a:rPr sz="800" spc="1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재설계할</a:t>
            </a:r>
            <a:r>
              <a:rPr sz="800" spc="1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것인지</a:t>
            </a:r>
            <a:r>
              <a:rPr sz="800" spc="12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논의하는</a:t>
            </a:r>
            <a:r>
              <a:rPr sz="800" spc="1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것을</a:t>
            </a:r>
            <a:r>
              <a:rPr sz="800" spc="12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목표로</a:t>
            </a:r>
            <a:r>
              <a:rPr sz="800" spc="1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합니다.</a:t>
            </a:r>
            <a:r>
              <a:rPr sz="800" spc="1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개별</a:t>
            </a:r>
            <a:r>
              <a:rPr sz="800" spc="12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현안에</a:t>
            </a:r>
            <a:r>
              <a:rPr sz="800" spc="1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대한</a:t>
            </a:r>
            <a:r>
              <a:rPr sz="800" spc="12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단편적</a:t>
            </a:r>
            <a:r>
              <a:rPr sz="800" spc="1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논의를</a:t>
            </a:r>
            <a:r>
              <a:rPr sz="800" spc="12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넘어,</a:t>
            </a:r>
            <a:r>
              <a:rPr sz="800" spc="1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spc="-1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정치·사회·법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제도의</a:t>
            </a:r>
            <a:r>
              <a:rPr sz="800" spc="114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구조적</a:t>
            </a:r>
            <a:r>
              <a:rPr sz="800" spc="114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개혁,</a:t>
            </a:r>
            <a:r>
              <a:rPr sz="800" spc="1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미래</a:t>
            </a:r>
            <a:r>
              <a:rPr sz="800" spc="114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국가</a:t>
            </a:r>
            <a:r>
              <a:rPr sz="800" spc="114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비전,</a:t>
            </a:r>
            <a:r>
              <a:rPr sz="800" spc="1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청년</a:t>
            </a:r>
            <a:r>
              <a:rPr sz="800" spc="114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세대가</a:t>
            </a:r>
            <a:r>
              <a:rPr sz="800" spc="1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바라보는</a:t>
            </a:r>
            <a:r>
              <a:rPr sz="800" spc="114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공공성과</a:t>
            </a:r>
            <a:r>
              <a:rPr sz="800" spc="114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책임의</a:t>
            </a:r>
            <a:r>
              <a:rPr sz="800" spc="1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문제를</a:t>
            </a:r>
            <a:r>
              <a:rPr sz="800" spc="114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밀도</a:t>
            </a:r>
            <a:r>
              <a:rPr sz="800" spc="1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있게</a:t>
            </a:r>
            <a:r>
              <a:rPr sz="800" spc="114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spc="-1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다룹니다.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각</a:t>
            </a:r>
            <a:r>
              <a:rPr sz="800" spc="13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정당을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대표하는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젊은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현역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의원들과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함께,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오늘의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대한민국에</a:t>
            </a:r>
            <a:r>
              <a:rPr sz="800" spc="13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요구되는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사회·정치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혁신의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방향을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spc="-2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고민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하는</a:t>
            </a:r>
            <a:r>
              <a:rPr sz="800" spc="9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자리가</a:t>
            </a:r>
            <a:r>
              <a:rPr sz="800" spc="9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될</a:t>
            </a:r>
            <a:r>
              <a:rPr sz="800" spc="9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spc="-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것입니다.</a:t>
            </a:r>
            <a:endParaRPr sz="800" dirty="0">
              <a:latin typeface="Noto Serif KR Light" panose="02020200000000000000" pitchFamily="18" charset="-127"/>
              <a:ea typeface="Noto Serif KR Light" panose="02020200000000000000" pitchFamily="18" charset="-127"/>
              <a:cs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8" y="649287"/>
            <a:ext cx="601345" cy="1218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S</a:t>
            </a:r>
            <a:r>
              <a:rPr sz="700" spc="-19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P</a:t>
            </a:r>
            <a:r>
              <a:rPr sz="700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E</a:t>
            </a:r>
            <a:r>
              <a:rPr sz="700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A</a:t>
            </a:r>
            <a:r>
              <a:rPr sz="700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K</a:t>
            </a:r>
            <a:r>
              <a:rPr sz="700" spc="-19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E</a:t>
            </a:r>
            <a:r>
              <a:rPr sz="700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R</a:t>
            </a:r>
            <a:r>
              <a:rPr sz="700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spc="-5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S</a:t>
            </a:r>
            <a:endParaRPr sz="700" dirty="0">
              <a:latin typeface="Georgia" panose="02040502050405020303" pitchFamily="18" charset="0"/>
              <a:cs typeface="Consola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5298" y="831850"/>
            <a:ext cx="1167765" cy="400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80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확정</a:t>
            </a:r>
            <a:r>
              <a:rPr spc="-235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 </a:t>
            </a:r>
            <a:r>
              <a:rPr spc="-405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연사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71481" y="958850"/>
            <a:ext cx="1416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solidFill>
                  <a:srgbClr val="596074"/>
                </a:solidFill>
                <a:latin typeface="Consolas"/>
                <a:cs typeface="Consolas"/>
              </a:rPr>
              <a:t>05</a:t>
            </a:r>
            <a:endParaRPr sz="75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5298" y="1704348"/>
            <a:ext cx="1170940" cy="19364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spc="-114" dirty="0">
                <a:solidFill>
                  <a:srgbClr val="A7814D"/>
                </a:solidFill>
                <a:latin typeface="Georgia"/>
                <a:cs typeface="Georgia"/>
              </a:rPr>
              <a:t>Session</a:t>
            </a:r>
            <a:r>
              <a:rPr sz="1150" spc="20" dirty="0">
                <a:solidFill>
                  <a:srgbClr val="A7814D"/>
                </a:solidFill>
                <a:latin typeface="Georgia"/>
                <a:cs typeface="Georgia"/>
              </a:rPr>
              <a:t> </a:t>
            </a:r>
            <a:r>
              <a:rPr sz="1150" spc="-45" dirty="0">
                <a:solidFill>
                  <a:srgbClr val="A7814D"/>
                </a:solidFill>
                <a:latin typeface="Georgia"/>
                <a:cs typeface="Georgia"/>
              </a:rPr>
              <a:t>1</a:t>
            </a:r>
            <a:r>
              <a:rPr sz="1100" spc="-45" dirty="0">
                <a:solidFill>
                  <a:srgbClr val="A7814D"/>
                </a:solidFill>
                <a:latin typeface="Georgia"/>
                <a:cs typeface="Georgia"/>
              </a:rPr>
              <a:t>.</a:t>
            </a:r>
            <a:r>
              <a:rPr sz="1100" spc="35" dirty="0">
                <a:solidFill>
                  <a:srgbClr val="A7814D"/>
                </a:solidFill>
                <a:latin typeface="Georgia"/>
                <a:cs typeface="Georgia"/>
              </a:rPr>
              <a:t> </a:t>
            </a:r>
            <a:r>
              <a:rPr sz="1100" b="1" spc="-130" dirty="0">
                <a:solidFill>
                  <a:srgbClr val="A7814D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기술혁신</a:t>
            </a:r>
            <a:endParaRPr sz="1100" dirty="0">
              <a:latin typeface="Noto Serif KR Light" panose="02020200000000000000" pitchFamily="18" charset="-127"/>
              <a:ea typeface="Noto Serif KR Light" panose="02020200000000000000" pitchFamily="18" charset="-127"/>
              <a:cs typeface="Malgun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7225" y="2924174"/>
            <a:ext cx="6248400" cy="3933825"/>
          </a:xfrm>
          <a:custGeom>
            <a:avLst/>
            <a:gdLst/>
            <a:ahLst/>
            <a:cxnLst/>
            <a:rect l="l" t="t" r="r" b="b"/>
            <a:pathLst>
              <a:path w="6248400" h="3933825">
                <a:moveTo>
                  <a:pt x="6248400" y="0"/>
                </a:moveTo>
                <a:lnTo>
                  <a:pt x="0" y="0"/>
                </a:lnTo>
                <a:lnTo>
                  <a:pt x="0" y="1028700"/>
                </a:lnTo>
                <a:lnTo>
                  <a:pt x="0" y="2057400"/>
                </a:lnTo>
                <a:lnTo>
                  <a:pt x="0" y="3095625"/>
                </a:lnTo>
                <a:lnTo>
                  <a:pt x="0" y="3933825"/>
                </a:lnTo>
                <a:lnTo>
                  <a:pt x="6248400" y="3933825"/>
                </a:lnTo>
                <a:lnTo>
                  <a:pt x="6248400" y="3095625"/>
                </a:lnTo>
                <a:lnTo>
                  <a:pt x="6248400" y="2057400"/>
                </a:lnTo>
                <a:lnTo>
                  <a:pt x="6248400" y="1028700"/>
                </a:lnTo>
                <a:lnTo>
                  <a:pt x="6248400" y="0"/>
                </a:lnTo>
                <a:close/>
              </a:path>
            </a:pathLst>
          </a:custGeom>
          <a:solidFill>
            <a:srgbClr val="F4EFE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505034"/>
              </p:ext>
            </p:extLst>
          </p:nvPr>
        </p:nvGraphicFramePr>
        <p:xfrm>
          <a:off x="647700" y="2298700"/>
          <a:ext cx="6257925" cy="4781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6310">
                <a:tc>
                  <a:txBody>
                    <a:bodyPr/>
                    <a:lstStyle/>
                    <a:p>
                      <a:pPr marL="184785" marR="287020">
                        <a:lnSpc>
                          <a:spcPts val="1500"/>
                        </a:lnSpc>
                        <a:spcBef>
                          <a:spcPts val="1235"/>
                        </a:spcBef>
                      </a:pPr>
                      <a:r>
                        <a:rPr sz="1350" b="1" spc="-145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Georgia"/>
                        </a:rPr>
                        <a:t>Kenneth</a:t>
                      </a:r>
                      <a:r>
                        <a:rPr sz="1350" b="1" spc="75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Georgia"/>
                        </a:rPr>
                        <a:t> </a:t>
                      </a:r>
                      <a:r>
                        <a:rPr sz="1350" b="1" spc="-130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Georgia"/>
                        </a:rPr>
                        <a:t>Maxwell </a:t>
                      </a:r>
                      <a:r>
                        <a:rPr sz="1350" b="1" spc="-10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Georgia"/>
                        </a:rPr>
                        <a:t>Nance</a:t>
                      </a:r>
                      <a:endParaRPr sz="1350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Georgia"/>
                      </a:endParaRPr>
                    </a:p>
                    <a:p>
                      <a:pPr marL="18478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K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E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Y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N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O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T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spc="-5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E</a:t>
                      </a:r>
                      <a:endParaRPr sz="600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Consolas"/>
                      </a:endParaRPr>
                    </a:p>
                  </a:txBody>
                  <a:tcPr marL="0" marR="0" marT="156845" marB="0">
                    <a:lnL w="9525">
                      <a:noFill/>
                      <a:prstDash val="solid"/>
                    </a:lnL>
                    <a:lnR>
                      <a:noFill/>
                    </a:lnR>
                    <a:lnT w="9525">
                      <a:noFill/>
                      <a:prstDash val="soli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80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Times New Roman"/>
                      </a:endParaRPr>
                    </a:p>
                    <a:p>
                      <a:pPr marL="294640" marR="2661285">
                        <a:lnSpc>
                          <a:spcPct val="148400"/>
                        </a:lnSpc>
                      </a:pPr>
                      <a:r>
                        <a:rPr sz="800" b="1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하버드</a:t>
                      </a:r>
                      <a:r>
                        <a:rPr sz="800" b="1" spc="90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b="1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박사</a:t>
                      </a:r>
                      <a:r>
                        <a:rPr sz="800" b="1" spc="90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b="1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·</a:t>
                      </a:r>
                      <a:r>
                        <a:rPr sz="800" b="1" spc="90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b="1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미</a:t>
                      </a:r>
                      <a:r>
                        <a:rPr sz="800" b="1" spc="95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b="1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인트라넷</a:t>
                      </a:r>
                      <a:r>
                        <a:rPr sz="800" b="1" spc="90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창시 </a:t>
                      </a:r>
                      <a:r>
                        <a:rPr sz="800" b="1" dirty="0">
                          <a:solidFill>
                            <a:srgbClr val="A7814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Session</a:t>
                      </a:r>
                      <a:r>
                        <a:rPr sz="800" b="1" spc="80" dirty="0">
                          <a:solidFill>
                            <a:srgbClr val="A7814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b="1" dirty="0">
                          <a:solidFill>
                            <a:srgbClr val="A7814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1.</a:t>
                      </a:r>
                      <a:r>
                        <a:rPr sz="800" b="1" spc="80" dirty="0">
                          <a:solidFill>
                            <a:srgbClr val="A7814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A7814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기술혁신</a:t>
                      </a:r>
                      <a:endParaRPr sz="80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Malgun Gothic"/>
                      </a:endParaRPr>
                    </a:p>
                    <a:p>
                      <a:pPr marL="29464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기술</a:t>
                      </a:r>
                      <a:r>
                        <a:rPr sz="800" spc="13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정책과</a:t>
                      </a:r>
                      <a:r>
                        <a:rPr sz="800" spc="13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디지털</a:t>
                      </a:r>
                      <a:r>
                        <a:rPr sz="800" spc="13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인프라의</a:t>
                      </a:r>
                      <a:r>
                        <a:rPr sz="800" spc="13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발전</a:t>
                      </a:r>
                      <a:r>
                        <a:rPr sz="800" spc="13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경험을</a:t>
                      </a:r>
                      <a:r>
                        <a:rPr sz="800" spc="13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바탕으로</a:t>
                      </a:r>
                      <a:r>
                        <a:rPr sz="800" spc="13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혁신의</a:t>
                      </a:r>
                      <a:r>
                        <a:rPr sz="800" spc="13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방향을</a:t>
                      </a:r>
                      <a:r>
                        <a:rPr sz="800" spc="13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spc="-1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논의합니다.</a:t>
                      </a:r>
                      <a:endParaRPr sz="80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Malgun Gothic"/>
                      </a:endParaRPr>
                    </a:p>
                  </a:txBody>
                  <a:tcPr marL="0" marR="0" marT="3175" marB="0">
                    <a:lnL>
                      <a:noFill/>
                    </a:lnL>
                    <a:lnR w="9525">
                      <a:noFill/>
                      <a:prstDash val="solid"/>
                    </a:lnR>
                    <a:lnT w="9525">
                      <a:noFill/>
                      <a:prstDash val="soli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6310"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300" b="1" spc="-25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이광희</a:t>
                      </a:r>
                      <a:endParaRPr sz="1300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Malgun Gothic"/>
                      </a:endParaRPr>
                    </a:p>
                    <a:p>
                      <a:pPr marL="18478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I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N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D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U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S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T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R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spc="-5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Y</a:t>
                      </a:r>
                      <a:endParaRPr sz="600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Consolas"/>
                      </a:endParaRPr>
                    </a:p>
                  </a:txBody>
                  <a:tcPr marL="0" marR="0" marT="153670" marB="0">
                    <a:lnL w="9525">
                      <a:noFill/>
                      <a:prstDash val="soli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80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Times New Roman"/>
                      </a:endParaRPr>
                    </a:p>
                    <a:p>
                      <a:pPr marL="294640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VIV</a:t>
                      </a:r>
                      <a:r>
                        <a:rPr sz="800" b="1" spc="35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b="1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Tech.</a:t>
                      </a:r>
                      <a:r>
                        <a:rPr sz="800" b="1" spc="40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CTO</a:t>
                      </a:r>
                      <a:endParaRPr sz="800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Malgun Gothic"/>
                      </a:endParaRPr>
                    </a:p>
                    <a:p>
                      <a:pPr marL="29464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00" b="1" dirty="0">
                          <a:solidFill>
                            <a:srgbClr val="A7814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Session</a:t>
                      </a:r>
                      <a:r>
                        <a:rPr sz="800" b="1" spc="80" dirty="0">
                          <a:solidFill>
                            <a:srgbClr val="A7814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b="1" dirty="0">
                          <a:solidFill>
                            <a:srgbClr val="A7814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1.</a:t>
                      </a:r>
                      <a:r>
                        <a:rPr sz="800" b="1" spc="80" dirty="0">
                          <a:solidFill>
                            <a:srgbClr val="A7814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A7814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기술혁신</a:t>
                      </a:r>
                      <a:endParaRPr sz="80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Malgun Gothic"/>
                      </a:endParaRPr>
                    </a:p>
                    <a:p>
                      <a:pPr marL="294640" marR="239395">
                        <a:lnSpc>
                          <a:spcPct val="140600"/>
                        </a:lnSpc>
                        <a:spcBef>
                          <a:spcPts val="75"/>
                        </a:spcBef>
                      </a:pP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AI</a:t>
                      </a:r>
                      <a:r>
                        <a:rPr sz="800" spc="12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연구개발과</a:t>
                      </a:r>
                      <a:r>
                        <a:rPr sz="800" spc="125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산업</a:t>
                      </a:r>
                      <a:r>
                        <a:rPr sz="800" spc="12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현장</a:t>
                      </a:r>
                      <a:r>
                        <a:rPr sz="800" spc="125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경험을</a:t>
                      </a:r>
                      <a:r>
                        <a:rPr sz="800" spc="12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바탕으로</a:t>
                      </a:r>
                      <a:r>
                        <a:rPr sz="800" spc="125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생성형</a:t>
                      </a:r>
                      <a:r>
                        <a:rPr sz="800" spc="12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AI의</a:t>
                      </a:r>
                      <a:r>
                        <a:rPr sz="800" spc="125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변화와</a:t>
                      </a:r>
                      <a:r>
                        <a:rPr sz="800" spc="12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활용</a:t>
                      </a:r>
                      <a:r>
                        <a:rPr sz="800" spc="125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가능성을</a:t>
                      </a:r>
                      <a:r>
                        <a:rPr sz="800" spc="12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spc="-25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논의 </a:t>
                      </a:r>
                      <a:r>
                        <a:rPr sz="800" spc="-2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합니다.</a:t>
                      </a:r>
                      <a:endParaRPr sz="80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Malgun Gothic"/>
                      </a:endParaRPr>
                    </a:p>
                  </a:txBody>
                  <a:tcPr marL="0" marR="0" marT="71755" marB="0">
                    <a:lnL>
                      <a:noFill/>
                    </a:lnL>
                    <a:lnR w="9525">
                      <a:noFill/>
                      <a:prstDash val="soli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6310"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300" b="1" spc="-25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김진홍</a:t>
                      </a:r>
                      <a:endParaRPr sz="1300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Malgun Gothic"/>
                      </a:endParaRPr>
                    </a:p>
                    <a:p>
                      <a:pPr marL="18478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D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E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F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E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N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S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spc="-5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E</a:t>
                      </a:r>
                      <a:endParaRPr sz="600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Consolas"/>
                      </a:endParaRPr>
                    </a:p>
                  </a:txBody>
                  <a:tcPr marL="0" marR="0" marT="153670" marB="0">
                    <a:lnL w="9525">
                      <a:noFill/>
                      <a:prstDash val="soli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80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Times New Roman"/>
                      </a:endParaRPr>
                    </a:p>
                    <a:p>
                      <a:pPr marL="294640" marR="2976245">
                        <a:lnSpc>
                          <a:spcPct val="140600"/>
                        </a:lnSpc>
                      </a:pPr>
                      <a:r>
                        <a:rPr sz="800" b="1" spc="10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공군(방공유도탄)</a:t>
                      </a:r>
                      <a:r>
                        <a:rPr sz="800" b="1" spc="220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사령관 </a:t>
                      </a:r>
                      <a:r>
                        <a:rPr sz="800" b="1" dirty="0">
                          <a:solidFill>
                            <a:srgbClr val="A7814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Session</a:t>
                      </a:r>
                      <a:r>
                        <a:rPr sz="800" b="1" spc="80" dirty="0">
                          <a:solidFill>
                            <a:srgbClr val="A7814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b="1" dirty="0">
                          <a:solidFill>
                            <a:srgbClr val="A7814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1.</a:t>
                      </a:r>
                      <a:r>
                        <a:rPr sz="800" b="1" spc="80" dirty="0">
                          <a:solidFill>
                            <a:srgbClr val="A7814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A7814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기술혁신</a:t>
                      </a:r>
                      <a:endParaRPr sz="80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Malgun Gothic"/>
                      </a:endParaRPr>
                    </a:p>
                    <a:p>
                      <a:pPr marL="294640" marR="299085">
                        <a:lnSpc>
                          <a:spcPct val="140600"/>
                        </a:lnSpc>
                        <a:spcBef>
                          <a:spcPts val="75"/>
                        </a:spcBef>
                      </a:pP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국방</a:t>
                      </a:r>
                      <a:r>
                        <a:rPr sz="800" spc="135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및</a:t>
                      </a:r>
                      <a:r>
                        <a:rPr sz="800" spc="14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방공유도탄</a:t>
                      </a:r>
                      <a:r>
                        <a:rPr sz="800" spc="14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분야의</a:t>
                      </a:r>
                      <a:r>
                        <a:rPr sz="800" spc="14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경험을</a:t>
                      </a:r>
                      <a:r>
                        <a:rPr sz="800" spc="135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바탕으로</a:t>
                      </a:r>
                      <a:r>
                        <a:rPr sz="800" spc="14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기술혁신과</a:t>
                      </a:r>
                      <a:r>
                        <a:rPr sz="800" spc="14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안보의</a:t>
                      </a:r>
                      <a:r>
                        <a:rPr sz="800" spc="14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접점을</a:t>
                      </a:r>
                      <a:r>
                        <a:rPr sz="800" spc="14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spc="-2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논의합니 </a:t>
                      </a:r>
                      <a:r>
                        <a:rPr sz="800" spc="-25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다.</a:t>
                      </a:r>
                      <a:endParaRPr sz="80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Malgun Gothic"/>
                      </a:endParaRPr>
                    </a:p>
                  </a:txBody>
                  <a:tcPr marL="0" marR="0" marT="22225" marB="0">
                    <a:lnL>
                      <a:noFill/>
                    </a:lnL>
                    <a:lnR w="9525">
                      <a:noFill/>
                      <a:prstDash val="soli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6310"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300" b="1" spc="-25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김성혁</a:t>
                      </a:r>
                      <a:endParaRPr sz="130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Malgun Gothic"/>
                      </a:endParaRPr>
                    </a:p>
                    <a:p>
                      <a:pPr marL="18478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I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N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D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U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S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T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R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spc="-5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Y</a:t>
                      </a:r>
                      <a:endParaRPr sz="60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Consolas"/>
                      </a:endParaRPr>
                    </a:p>
                  </a:txBody>
                  <a:tcPr marL="0" marR="0" marT="153670" marB="0">
                    <a:lnL w="9525">
                      <a:noFill/>
                      <a:prstDash val="soli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80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Times New Roman"/>
                      </a:endParaRPr>
                    </a:p>
                    <a:p>
                      <a:pPr marL="294640" marR="3187700">
                        <a:lnSpc>
                          <a:spcPct val="148400"/>
                        </a:lnSpc>
                      </a:pPr>
                      <a:r>
                        <a:rPr lang="ko-KR" altLang="en-US" sz="800" b="1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전</a:t>
                      </a:r>
                      <a:r>
                        <a:rPr lang="en-US" sz="800" b="1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LG전자</a:t>
                      </a:r>
                      <a:r>
                        <a:rPr sz="800" b="1" spc="110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상무</a:t>
                      </a:r>
                      <a:r>
                        <a:rPr sz="800" b="1" spc="500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b="1" dirty="0">
                          <a:solidFill>
                            <a:srgbClr val="A7814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Session</a:t>
                      </a:r>
                      <a:r>
                        <a:rPr sz="800" b="1" spc="80" dirty="0">
                          <a:solidFill>
                            <a:srgbClr val="A7814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b="1" dirty="0">
                          <a:solidFill>
                            <a:srgbClr val="A7814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1.</a:t>
                      </a:r>
                      <a:r>
                        <a:rPr sz="800" b="1" spc="80" dirty="0">
                          <a:solidFill>
                            <a:srgbClr val="A7814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A7814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기술혁신</a:t>
                      </a:r>
                      <a:endParaRPr sz="80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Malgun Gothic"/>
                      </a:endParaRPr>
                    </a:p>
                    <a:p>
                      <a:pPr marL="294640" marR="276860">
                        <a:lnSpc>
                          <a:spcPts val="1430"/>
                        </a:lnSpc>
                        <a:spcBef>
                          <a:spcPts val="45"/>
                        </a:spcBef>
                      </a:pP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AI</a:t>
                      </a:r>
                      <a:r>
                        <a:rPr sz="800" spc="125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센싱과</a:t>
                      </a:r>
                      <a:r>
                        <a:rPr sz="800" spc="13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양자</a:t>
                      </a:r>
                      <a:r>
                        <a:rPr sz="800" spc="13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AI를</a:t>
                      </a:r>
                      <a:r>
                        <a:rPr sz="800" spc="13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중심으로</a:t>
                      </a:r>
                      <a:r>
                        <a:rPr sz="800" spc="13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산업</a:t>
                      </a:r>
                      <a:r>
                        <a:rPr sz="800" spc="13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현장에서</a:t>
                      </a:r>
                      <a:r>
                        <a:rPr sz="800" spc="13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구현되는</a:t>
                      </a:r>
                      <a:r>
                        <a:rPr sz="800" spc="13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기술혁신의</a:t>
                      </a:r>
                      <a:r>
                        <a:rPr sz="800" spc="13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방향을</a:t>
                      </a:r>
                      <a:r>
                        <a:rPr sz="800" spc="13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spc="-25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논의합 니다.</a:t>
                      </a:r>
                      <a:endParaRPr sz="80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Malgun Gothic"/>
                      </a:endParaRPr>
                    </a:p>
                  </a:txBody>
                  <a:tcPr marL="0" marR="0" marT="12700" marB="0">
                    <a:lnL>
                      <a:noFill/>
                    </a:lnL>
                    <a:lnR w="9525">
                      <a:noFill/>
                      <a:prstDash val="soli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6310"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300" b="1" spc="-25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임영일</a:t>
                      </a:r>
                      <a:endParaRPr sz="1300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Malgun Gothic"/>
                      </a:endParaRPr>
                    </a:p>
                    <a:p>
                      <a:pPr marL="18478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D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E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F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E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N</a:t>
                      </a:r>
                      <a:r>
                        <a:rPr sz="600" b="1" spc="-245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S</a:t>
                      </a:r>
                      <a:r>
                        <a:rPr sz="600" b="1" spc="-25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 </a:t>
                      </a:r>
                      <a:r>
                        <a:rPr sz="600" b="1" spc="-5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Consolas"/>
                        </a:rPr>
                        <a:t>E</a:t>
                      </a:r>
                      <a:endParaRPr sz="600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Consolas"/>
                      </a:endParaRPr>
                    </a:p>
                  </a:txBody>
                  <a:tcPr marL="0" marR="0" marT="144145" marB="0">
                    <a:lnL w="9525">
                      <a:noFill/>
                      <a:prstDash val="soli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80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Times New Roman"/>
                      </a:endParaRPr>
                    </a:p>
                    <a:p>
                      <a:pPr marL="294640" marR="3090545">
                        <a:lnSpc>
                          <a:spcPct val="148400"/>
                        </a:lnSpc>
                      </a:pPr>
                      <a:r>
                        <a:rPr sz="800" b="1" spc="-10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국방기술진흥연구소장</a:t>
                      </a:r>
                      <a:r>
                        <a:rPr sz="800" b="1" spc="-10" dirty="0">
                          <a:solidFill>
                            <a:srgbClr val="1C2136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b="1" dirty="0">
                          <a:solidFill>
                            <a:srgbClr val="A7814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Session</a:t>
                      </a:r>
                      <a:r>
                        <a:rPr sz="800" b="1" spc="80" dirty="0">
                          <a:solidFill>
                            <a:srgbClr val="A7814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b="1" dirty="0">
                          <a:solidFill>
                            <a:srgbClr val="A7814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1.</a:t>
                      </a:r>
                      <a:r>
                        <a:rPr sz="800" b="1" spc="80" dirty="0">
                          <a:solidFill>
                            <a:srgbClr val="A7814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A7814D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기술혁신</a:t>
                      </a:r>
                      <a:endParaRPr sz="80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Malgun Gothic"/>
                      </a:endParaRPr>
                    </a:p>
                    <a:p>
                      <a:pPr marL="29464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국방기술과</a:t>
                      </a:r>
                      <a:r>
                        <a:rPr sz="800" spc="13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미래</a:t>
                      </a:r>
                      <a:r>
                        <a:rPr sz="800" spc="135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안보</a:t>
                      </a:r>
                      <a:r>
                        <a:rPr sz="800" spc="135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환경의</a:t>
                      </a:r>
                      <a:r>
                        <a:rPr sz="800" spc="135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변화</a:t>
                      </a:r>
                      <a:r>
                        <a:rPr sz="800" spc="135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속에서</a:t>
                      </a:r>
                      <a:r>
                        <a:rPr sz="800" spc="135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기술혁신의</a:t>
                      </a:r>
                      <a:r>
                        <a:rPr sz="800" spc="135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전략적</a:t>
                      </a:r>
                      <a:r>
                        <a:rPr sz="800" spc="135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의미를</a:t>
                      </a:r>
                      <a:r>
                        <a:rPr sz="800" spc="135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spc="-1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논의합니다.</a:t>
                      </a:r>
                      <a:endParaRPr sz="80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Malgun Gothic"/>
                      </a:endParaRPr>
                    </a:p>
                  </a:txBody>
                  <a:tcPr marL="0" marR="0" marT="3175" marB="0">
                    <a:lnL>
                      <a:noFill/>
                    </a:lnL>
                    <a:lnR w="9525">
                      <a:noFill/>
                      <a:prstDash val="soli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1933575" y="1819274"/>
            <a:ext cx="4981575" cy="9525"/>
          </a:xfrm>
          <a:custGeom>
            <a:avLst/>
            <a:gdLst/>
            <a:ahLst/>
            <a:cxnLst/>
            <a:rect l="l" t="t" r="r" b="b"/>
            <a:pathLst>
              <a:path w="4981575" h="9525">
                <a:moveTo>
                  <a:pt x="4981575" y="9525"/>
                </a:moveTo>
                <a:lnTo>
                  <a:pt x="0" y="9525"/>
                </a:lnTo>
                <a:lnTo>
                  <a:pt x="0" y="0"/>
                </a:lnTo>
                <a:lnTo>
                  <a:pt x="4981575" y="0"/>
                </a:lnTo>
                <a:lnTo>
                  <a:pt x="4981575" y="9525"/>
                </a:lnTo>
                <a:close/>
              </a:path>
            </a:pathLst>
          </a:custGeom>
          <a:solidFill>
            <a:srgbClr val="1C2136">
              <a:alpha val="141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35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8" y="649210"/>
            <a:ext cx="601345" cy="1218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" b="1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S</a:t>
            </a:r>
            <a:r>
              <a:rPr sz="700" b="1" spc="-19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b="1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P</a:t>
            </a:r>
            <a:r>
              <a:rPr sz="700" b="1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b="1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E</a:t>
            </a:r>
            <a:r>
              <a:rPr sz="700" b="1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b="1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A</a:t>
            </a:r>
            <a:r>
              <a:rPr sz="700" b="1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b="1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K</a:t>
            </a:r>
            <a:r>
              <a:rPr sz="700" b="1" spc="-19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b="1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E</a:t>
            </a:r>
            <a:r>
              <a:rPr sz="700" b="1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b="1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R</a:t>
            </a:r>
            <a:r>
              <a:rPr sz="700" b="1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b="1" spc="-5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S</a:t>
            </a:r>
            <a:endParaRPr sz="700" dirty="0">
              <a:latin typeface="Georgia" panose="02040502050405020303" pitchFamily="18" charset="0"/>
              <a:cs typeface="Consola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3414" y="831774"/>
            <a:ext cx="2312670" cy="39369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ko-KR" altLang="en-US" spc="-380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확정</a:t>
            </a:r>
            <a:r>
              <a:rPr lang="ko-KR" altLang="en-US" spc="-235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 </a:t>
            </a:r>
            <a:r>
              <a:rPr lang="ko-KR" altLang="en-US" spc="-405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연사</a:t>
            </a:r>
            <a:endParaRPr sz="2650" dirty="0">
              <a:latin typeface="Garamond"/>
              <a:cs typeface="Garamond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71481" y="958773"/>
            <a:ext cx="1416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solidFill>
                  <a:srgbClr val="596074"/>
                </a:solidFill>
                <a:latin typeface="Consolas"/>
                <a:cs typeface="Consolas"/>
              </a:rPr>
              <a:t>06</a:t>
            </a:r>
            <a:endParaRPr sz="75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5298" y="1704271"/>
            <a:ext cx="1471930" cy="19364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spc="-114" dirty="0">
                <a:solidFill>
                  <a:srgbClr val="A7814D"/>
                </a:solidFill>
                <a:latin typeface="Georgia"/>
                <a:cs typeface="Georgia"/>
              </a:rPr>
              <a:t>Session</a:t>
            </a:r>
            <a:r>
              <a:rPr sz="1150" spc="45" dirty="0">
                <a:solidFill>
                  <a:srgbClr val="A7814D"/>
                </a:solidFill>
                <a:latin typeface="Georgia"/>
                <a:cs typeface="Georgia"/>
              </a:rPr>
              <a:t> </a:t>
            </a:r>
            <a:r>
              <a:rPr sz="1150" spc="-90" dirty="0">
                <a:solidFill>
                  <a:srgbClr val="A7814D"/>
                </a:solidFill>
                <a:latin typeface="Georgia"/>
                <a:cs typeface="Georgia"/>
              </a:rPr>
              <a:t>2</a:t>
            </a:r>
            <a:r>
              <a:rPr sz="1100" spc="-90" dirty="0">
                <a:solidFill>
                  <a:srgbClr val="A7814D"/>
                </a:solidFill>
                <a:latin typeface="Georgia"/>
                <a:cs typeface="Georgia"/>
              </a:rPr>
              <a:t>.</a:t>
            </a:r>
            <a:r>
              <a:rPr sz="1100" spc="65" dirty="0">
                <a:solidFill>
                  <a:srgbClr val="A7814D"/>
                </a:solidFill>
                <a:latin typeface="Georgia"/>
                <a:cs typeface="Georgia"/>
              </a:rPr>
              <a:t> </a:t>
            </a:r>
            <a:r>
              <a:rPr sz="1100" spc="-180" dirty="0">
                <a:solidFill>
                  <a:srgbClr val="A7814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사회</a:t>
            </a:r>
            <a:r>
              <a:rPr sz="1150" spc="-180" dirty="0">
                <a:solidFill>
                  <a:srgbClr val="A7814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Georgia"/>
              </a:rPr>
              <a:t>·</a:t>
            </a:r>
            <a:r>
              <a:rPr sz="1100" spc="-180" dirty="0">
                <a:solidFill>
                  <a:srgbClr val="A7814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정치</a:t>
            </a:r>
            <a:r>
              <a:rPr sz="1100" spc="-175" dirty="0">
                <a:solidFill>
                  <a:srgbClr val="A7814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1100" spc="-85" dirty="0">
                <a:solidFill>
                  <a:srgbClr val="A7814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혁신</a:t>
            </a:r>
            <a:endParaRPr sz="11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7225" y="2743123"/>
            <a:ext cx="6248400" cy="2019300"/>
          </a:xfrm>
          <a:custGeom>
            <a:avLst/>
            <a:gdLst/>
            <a:ahLst/>
            <a:cxnLst/>
            <a:rect l="l" t="t" r="r" b="b"/>
            <a:pathLst>
              <a:path w="6248400" h="2019300">
                <a:moveTo>
                  <a:pt x="6248400" y="0"/>
                </a:moveTo>
                <a:lnTo>
                  <a:pt x="0" y="0"/>
                </a:lnTo>
                <a:lnTo>
                  <a:pt x="0" y="676275"/>
                </a:lnTo>
                <a:lnTo>
                  <a:pt x="0" y="1352550"/>
                </a:lnTo>
                <a:lnTo>
                  <a:pt x="0" y="2019300"/>
                </a:lnTo>
                <a:lnTo>
                  <a:pt x="6248400" y="2019300"/>
                </a:lnTo>
                <a:lnTo>
                  <a:pt x="6248400" y="1352550"/>
                </a:lnTo>
                <a:lnTo>
                  <a:pt x="6248400" y="676275"/>
                </a:lnTo>
                <a:lnTo>
                  <a:pt x="6248400" y="0"/>
                </a:lnTo>
                <a:close/>
              </a:path>
            </a:pathLst>
          </a:custGeom>
          <a:solidFill>
            <a:srgbClr val="F4EFE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722630"/>
              </p:ext>
            </p:extLst>
          </p:nvPr>
        </p:nvGraphicFramePr>
        <p:xfrm>
          <a:off x="662247" y="2218793"/>
          <a:ext cx="6258560" cy="2705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4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6275"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300" b="1" spc="-25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김재섭</a:t>
                      </a:r>
                      <a:endParaRPr sz="1300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Malgun Gothic"/>
                      </a:endParaRPr>
                    </a:p>
                    <a:p>
                      <a:pPr marL="18478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국</a:t>
                      </a:r>
                      <a:r>
                        <a:rPr sz="600" b="1" spc="-13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민</a:t>
                      </a:r>
                      <a:r>
                        <a:rPr sz="600" b="1" spc="-13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의</a:t>
                      </a:r>
                      <a:r>
                        <a:rPr sz="600" b="1" spc="-13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600" b="1" spc="-5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힘</a:t>
                      </a:r>
                      <a:endParaRPr sz="600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Malgun Gothic"/>
                      </a:endParaRPr>
                    </a:p>
                  </a:txBody>
                  <a:tcPr marL="0" marR="0" marT="144145" marB="0">
                    <a:lnL w="9525">
                      <a:noFill/>
                      <a:prstDash val="solid"/>
                    </a:lnL>
                    <a:lnR>
                      <a:noFill/>
                    </a:lnR>
                    <a:lnT w="9525">
                      <a:noFill/>
                      <a:prstDash val="soli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endParaRPr sz="800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Times New Roman"/>
                      </a:endParaRPr>
                    </a:p>
                    <a:p>
                      <a:pPr marL="698500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제22대</a:t>
                      </a:r>
                      <a:r>
                        <a:rPr sz="800" b="1" spc="125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국회의원</a:t>
                      </a:r>
                      <a:endParaRPr sz="800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Malgun Gothic"/>
                      </a:endParaRPr>
                    </a:p>
                    <a:p>
                      <a:pPr marL="69850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80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서울</a:t>
                      </a:r>
                      <a:r>
                        <a:rPr sz="800" spc="9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spc="-2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도봉구갑</a:t>
                      </a:r>
                      <a:endParaRPr sz="80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Malgun Gothic"/>
                      </a:endParaRPr>
                    </a:p>
                  </a:txBody>
                  <a:tcPr marL="0" marR="0" marT="62230" marB="0">
                    <a:lnL>
                      <a:noFill/>
                    </a:lnL>
                    <a:lnR w="9525">
                      <a:noFill/>
                      <a:prstDash val="solid"/>
                    </a:lnR>
                    <a:lnT w="9525">
                      <a:noFill/>
                      <a:prstDash val="soli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300" b="1" spc="-25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천하람</a:t>
                      </a:r>
                      <a:endParaRPr sz="1300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Malgun Gothic"/>
                      </a:endParaRPr>
                    </a:p>
                    <a:p>
                      <a:pPr marL="18478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개</a:t>
                      </a:r>
                      <a:r>
                        <a:rPr sz="600" b="1" spc="-13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혁</a:t>
                      </a:r>
                      <a:r>
                        <a:rPr sz="600" b="1" spc="-13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신</a:t>
                      </a:r>
                      <a:r>
                        <a:rPr sz="600" b="1" spc="-13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600" b="1" spc="-5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당</a:t>
                      </a:r>
                      <a:endParaRPr sz="600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Malgun Gothic"/>
                      </a:endParaRPr>
                    </a:p>
                  </a:txBody>
                  <a:tcPr marL="0" marR="0" marT="144145" marB="0">
                    <a:lnL w="9525">
                      <a:noFill/>
                      <a:prstDash val="soli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endParaRPr lang="ko-KR" altLang="en-US" sz="800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Times New Roman"/>
                      </a:endParaRPr>
                    </a:p>
                    <a:p>
                      <a:pPr marL="698500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제22대</a:t>
                      </a:r>
                      <a:r>
                        <a:rPr sz="800" b="1" spc="120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b="1" spc="-20" dirty="0" err="1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국회의원</a:t>
                      </a:r>
                      <a:endParaRPr sz="800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Malgun Gothic"/>
                      </a:endParaRPr>
                    </a:p>
                    <a:p>
                      <a:pPr marL="69850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800" spc="-2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비례대표</a:t>
                      </a:r>
                      <a:endParaRPr sz="80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Malgun Gothic"/>
                      </a:endParaRPr>
                    </a:p>
                  </a:txBody>
                  <a:tcPr marL="0" marR="0" marT="62230" marB="0">
                    <a:lnL>
                      <a:noFill/>
                    </a:lnL>
                    <a:lnR w="9525">
                      <a:noFill/>
                      <a:prstDash val="soli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300" b="1" spc="-25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김동아</a:t>
                      </a:r>
                      <a:endParaRPr sz="1300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Malgun Gothic"/>
                      </a:endParaRPr>
                    </a:p>
                    <a:p>
                      <a:pPr marL="18478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더</a:t>
                      </a:r>
                      <a:r>
                        <a:rPr sz="600" b="1" spc="-13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불</a:t>
                      </a:r>
                      <a:r>
                        <a:rPr sz="600" b="1" spc="-13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어</a:t>
                      </a:r>
                      <a:r>
                        <a:rPr sz="600" b="1" spc="-13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민</a:t>
                      </a:r>
                      <a:r>
                        <a:rPr sz="600" b="1" spc="-13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주</a:t>
                      </a:r>
                      <a:r>
                        <a:rPr sz="600" b="1" spc="-13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600" b="1" spc="-5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당</a:t>
                      </a:r>
                      <a:endParaRPr sz="600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Malgun Gothic"/>
                      </a:endParaRPr>
                    </a:p>
                  </a:txBody>
                  <a:tcPr marL="0" marR="0" marT="153670" marB="0">
                    <a:lnL w="9525">
                      <a:noFill/>
                      <a:prstDash val="soli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800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Times New Roman"/>
                      </a:endParaRPr>
                    </a:p>
                    <a:p>
                      <a:pPr marL="698500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제22대</a:t>
                      </a:r>
                      <a:r>
                        <a:rPr lang="en-US" sz="800" b="1" spc="120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b="1" spc="-20" dirty="0" err="1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국회의원</a:t>
                      </a:r>
                      <a:endParaRPr sz="800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Malgun Gothic"/>
                      </a:endParaRPr>
                    </a:p>
                    <a:p>
                      <a:pPr marL="6985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00" spc="-2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서대문갑</a:t>
                      </a:r>
                      <a:endParaRPr sz="80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Malgun Gothic"/>
                      </a:endParaRPr>
                    </a:p>
                  </a:txBody>
                  <a:tcPr marL="0" marR="0" marT="71755" marB="0">
                    <a:lnL>
                      <a:noFill/>
                    </a:lnL>
                    <a:lnR w="9525">
                      <a:noFill/>
                      <a:prstDash val="soli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300" b="1" spc="-25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손솔</a:t>
                      </a:r>
                      <a:endParaRPr sz="130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Malgun Gothic"/>
                      </a:endParaRPr>
                    </a:p>
                    <a:p>
                      <a:pPr marL="18478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진</a:t>
                      </a:r>
                      <a:r>
                        <a:rPr sz="600" b="1" spc="-13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600" b="1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보</a:t>
                      </a:r>
                      <a:r>
                        <a:rPr sz="600" b="1" spc="-13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600" b="1" spc="-50" dirty="0">
                          <a:solidFill>
                            <a:srgbClr val="A7814D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당</a:t>
                      </a:r>
                      <a:endParaRPr sz="60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Malgun Gothic"/>
                      </a:endParaRPr>
                    </a:p>
                  </a:txBody>
                  <a:tcPr marL="0" marR="0" marT="153670" marB="0">
                    <a:lnL w="9525">
                      <a:noFill/>
                      <a:prstDash val="soli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800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Times New Roman"/>
                      </a:endParaRPr>
                    </a:p>
                    <a:p>
                      <a:pPr marL="698500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제22대</a:t>
                      </a:r>
                      <a:r>
                        <a:rPr sz="800" b="1" spc="125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1C2136"/>
                          </a:solidFill>
                          <a:latin typeface="Noto Serif KR SemiBold" panose="02020200000000000000" pitchFamily="18" charset="-127"/>
                          <a:ea typeface="Noto Serif KR SemiBold" panose="02020200000000000000" pitchFamily="18" charset="-127"/>
                          <a:cs typeface="Malgun Gothic"/>
                        </a:rPr>
                        <a:t>국회의원</a:t>
                      </a:r>
                      <a:endParaRPr sz="800" dirty="0">
                        <a:latin typeface="Noto Serif KR SemiBold" panose="02020200000000000000" pitchFamily="18" charset="-127"/>
                        <a:ea typeface="Noto Serif KR SemiBold" panose="02020200000000000000" pitchFamily="18" charset="-127"/>
                        <a:cs typeface="Malgun Gothic"/>
                      </a:endParaRPr>
                    </a:p>
                    <a:p>
                      <a:pPr marL="6985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00" spc="-20" dirty="0">
                          <a:solidFill>
                            <a:srgbClr val="596074"/>
                          </a:solidFill>
                          <a:latin typeface="Noto Serif KR Light" panose="02020200000000000000" pitchFamily="18" charset="-127"/>
                          <a:ea typeface="Noto Serif KR Light" panose="02020200000000000000" pitchFamily="18" charset="-127"/>
                          <a:cs typeface="Malgun Gothic"/>
                        </a:rPr>
                        <a:t>비례대표</a:t>
                      </a:r>
                      <a:endParaRPr sz="800" dirty="0">
                        <a:latin typeface="Noto Serif KR Light" panose="02020200000000000000" pitchFamily="18" charset="-127"/>
                        <a:ea typeface="Noto Serif KR Light" panose="02020200000000000000" pitchFamily="18" charset="-127"/>
                        <a:cs typeface="Malgun Gothic"/>
                      </a:endParaRPr>
                    </a:p>
                  </a:txBody>
                  <a:tcPr marL="0" marR="0" marT="71755" marB="0">
                    <a:lnL>
                      <a:noFill/>
                    </a:lnL>
                    <a:lnR w="9525">
                      <a:noFill/>
                      <a:prstDash val="soli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2238375" y="1819198"/>
            <a:ext cx="4676775" cy="9525"/>
          </a:xfrm>
          <a:custGeom>
            <a:avLst/>
            <a:gdLst/>
            <a:ahLst/>
            <a:cxnLst/>
            <a:rect l="l" t="t" r="r" b="b"/>
            <a:pathLst>
              <a:path w="4676775" h="9525">
                <a:moveTo>
                  <a:pt x="4676775" y="9525"/>
                </a:moveTo>
                <a:lnTo>
                  <a:pt x="0" y="9525"/>
                </a:lnTo>
                <a:lnTo>
                  <a:pt x="0" y="0"/>
                </a:lnTo>
                <a:lnTo>
                  <a:pt x="4676775" y="0"/>
                </a:lnTo>
                <a:lnTo>
                  <a:pt x="4676775" y="9525"/>
                </a:lnTo>
                <a:close/>
              </a:path>
            </a:pathLst>
          </a:custGeom>
          <a:solidFill>
            <a:srgbClr val="1C2136">
              <a:alpha val="141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35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74" y="1270"/>
            <a:ext cx="7556500" cy="10692130"/>
          </a:xfrm>
          <a:custGeom>
            <a:avLst/>
            <a:gdLst/>
            <a:ahLst/>
            <a:cxnLst/>
            <a:rect l="l" t="t" r="r" b="b"/>
            <a:pathLst>
              <a:path w="7556500" h="10692130">
                <a:moveTo>
                  <a:pt x="0" y="10691805"/>
                </a:moveTo>
                <a:lnTo>
                  <a:pt x="0" y="0"/>
                </a:lnTo>
                <a:lnTo>
                  <a:pt x="7555992" y="0"/>
                </a:lnTo>
                <a:lnTo>
                  <a:pt x="7555992" y="10691805"/>
                </a:lnTo>
                <a:lnTo>
                  <a:pt x="0" y="10691805"/>
                </a:lnTo>
                <a:close/>
              </a:path>
            </a:pathLst>
          </a:custGeom>
          <a:solidFill>
            <a:srgbClr val="F4EFE4"/>
          </a:solidFill>
        </p:spPr>
        <p:txBody>
          <a:bodyPr wrap="square" lIns="0" tIns="0" rIns="0" bIns="0" rtlCol="0"/>
          <a:lstStyle/>
          <a:p>
            <a:endParaRPr dirty="0">
              <a:latin typeface="Noto Serif KR SemiBold" panose="02020200000000000000" pitchFamily="18" charset="-127"/>
              <a:ea typeface="Noto Serif KR SemiBold" panose="02020200000000000000" pitchFamily="18" charset="-127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700" y="1419377"/>
            <a:ext cx="6267450" cy="9525"/>
          </a:xfrm>
          <a:custGeom>
            <a:avLst/>
            <a:gdLst/>
            <a:ahLst/>
            <a:cxnLst/>
            <a:rect l="l" t="t" r="r" b="b"/>
            <a:pathLst>
              <a:path w="6267450" h="9525">
                <a:moveTo>
                  <a:pt x="6267450" y="9525"/>
                </a:moveTo>
                <a:lnTo>
                  <a:pt x="0" y="9525"/>
                </a:lnTo>
                <a:lnTo>
                  <a:pt x="0" y="0"/>
                </a:lnTo>
                <a:lnTo>
                  <a:pt x="6267450" y="0"/>
                </a:lnTo>
                <a:lnTo>
                  <a:pt x="6267450" y="9525"/>
                </a:lnTo>
                <a:close/>
              </a:path>
            </a:pathLst>
          </a:custGeom>
          <a:solidFill>
            <a:srgbClr val="1C2136">
              <a:alpha val="141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7700" y="4134002"/>
            <a:ext cx="6267450" cy="9525"/>
          </a:xfrm>
          <a:custGeom>
            <a:avLst/>
            <a:gdLst/>
            <a:ahLst/>
            <a:cxnLst/>
            <a:rect l="l" t="t" r="r" b="b"/>
            <a:pathLst>
              <a:path w="6267450" h="9525">
                <a:moveTo>
                  <a:pt x="6267450" y="9525"/>
                </a:moveTo>
                <a:lnTo>
                  <a:pt x="0" y="9525"/>
                </a:lnTo>
                <a:lnTo>
                  <a:pt x="0" y="0"/>
                </a:lnTo>
                <a:lnTo>
                  <a:pt x="6267450" y="0"/>
                </a:lnTo>
                <a:lnTo>
                  <a:pt x="6267450" y="9525"/>
                </a:lnTo>
                <a:close/>
              </a:path>
            </a:pathLst>
          </a:custGeom>
          <a:solidFill>
            <a:srgbClr val="1C2136">
              <a:alpha val="141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7700" y="8134501"/>
            <a:ext cx="6267450" cy="9525"/>
          </a:xfrm>
          <a:custGeom>
            <a:avLst/>
            <a:gdLst/>
            <a:ahLst/>
            <a:cxnLst/>
            <a:rect l="l" t="t" r="r" b="b"/>
            <a:pathLst>
              <a:path w="6267450" h="9525">
                <a:moveTo>
                  <a:pt x="6267450" y="9525"/>
                </a:moveTo>
                <a:lnTo>
                  <a:pt x="0" y="9525"/>
                </a:lnTo>
                <a:lnTo>
                  <a:pt x="0" y="0"/>
                </a:lnTo>
                <a:lnTo>
                  <a:pt x="6267450" y="0"/>
                </a:lnTo>
                <a:lnTo>
                  <a:pt x="6267450" y="9525"/>
                </a:lnTo>
                <a:close/>
              </a:path>
            </a:pathLst>
          </a:custGeom>
          <a:solidFill>
            <a:srgbClr val="1C2136">
              <a:alpha val="141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5298" y="649439"/>
            <a:ext cx="1727200" cy="1218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D</a:t>
            </a:r>
            <a:r>
              <a:rPr sz="700" spc="-19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I</a:t>
            </a:r>
            <a:r>
              <a:rPr sz="700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S</a:t>
            </a:r>
            <a:r>
              <a:rPr sz="700" spc="-19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C</a:t>
            </a:r>
            <a:r>
              <a:rPr sz="700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U</a:t>
            </a:r>
            <a:r>
              <a:rPr sz="700" spc="-19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S</a:t>
            </a:r>
            <a:r>
              <a:rPr sz="700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S</a:t>
            </a:r>
            <a:r>
              <a:rPr sz="700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I</a:t>
            </a:r>
            <a:r>
              <a:rPr sz="700" spc="-19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O</a:t>
            </a:r>
            <a:r>
              <a:rPr sz="700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N</a:t>
            </a:r>
            <a:r>
              <a:rPr sz="700" spc="41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&amp;</a:t>
            </a:r>
            <a:r>
              <a:rPr sz="700" spc="42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N</a:t>
            </a:r>
            <a:r>
              <a:rPr sz="700" spc="-19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E</a:t>
            </a:r>
            <a:r>
              <a:rPr sz="700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T</a:t>
            </a:r>
            <a:r>
              <a:rPr sz="700" spc="-19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W</a:t>
            </a:r>
            <a:r>
              <a:rPr sz="700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O</a:t>
            </a:r>
            <a:r>
              <a:rPr sz="700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R</a:t>
            </a:r>
            <a:r>
              <a:rPr sz="700" spc="-19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K</a:t>
            </a:r>
            <a:r>
              <a:rPr sz="700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I</a:t>
            </a:r>
            <a:r>
              <a:rPr sz="700" spc="-19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N</a:t>
            </a:r>
            <a:r>
              <a:rPr sz="700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spc="-5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G</a:t>
            </a:r>
            <a:endParaRPr sz="700" dirty="0">
              <a:latin typeface="Georgia" panose="02040502050405020303" pitchFamily="18" charset="0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35298" y="723246"/>
            <a:ext cx="3875034" cy="4244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90" dirty="0" err="1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디스커션</a:t>
            </a:r>
            <a:r>
              <a:rPr spc="-229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 </a:t>
            </a:r>
            <a:r>
              <a:rPr lang="en-US" sz="2650" spc="-160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 &amp; </a:t>
            </a:r>
            <a:r>
              <a:rPr spc="-409" dirty="0" err="1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네트워킹</a:t>
            </a:r>
            <a:endParaRPr sz="265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71481" y="959001"/>
            <a:ext cx="1416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solidFill>
                  <a:srgbClr val="596074"/>
                </a:solidFill>
                <a:latin typeface="Consolas"/>
                <a:cs typeface="Consolas"/>
              </a:rPr>
              <a:t>07</a:t>
            </a:r>
            <a:endParaRPr sz="75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5298" y="1282694"/>
            <a:ext cx="522605" cy="1041400"/>
          </a:xfrm>
          <a:prstGeom prst="rect">
            <a:avLst/>
          </a:prstGeom>
        </p:spPr>
        <p:txBody>
          <a:bodyPr vert="horz" wrap="square" lIns="0" tIns="298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0"/>
              </a:spcBef>
            </a:pPr>
            <a:r>
              <a:rPr sz="3900" spc="-670" dirty="0">
                <a:solidFill>
                  <a:srgbClr val="A7814D"/>
                </a:solidFill>
                <a:latin typeface="Georgia" panose="02040502050405020303" pitchFamily="18" charset="0"/>
                <a:cs typeface="Georgia"/>
              </a:rPr>
              <a:t>03</a:t>
            </a:r>
            <a:endParaRPr sz="3900" dirty="0">
              <a:latin typeface="Georgia" panose="02040502050405020303" pitchFamily="18" charset="0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600" dirty="0">
                <a:solidFill>
                  <a:srgbClr val="596074"/>
                </a:solidFill>
                <a:latin typeface="Georgia" panose="02040502050405020303" pitchFamily="18" charset="0"/>
                <a:cs typeface="Consolas"/>
              </a:rPr>
              <a:t>S</a:t>
            </a:r>
            <a:r>
              <a:rPr sz="600" spc="-210" dirty="0">
                <a:solidFill>
                  <a:srgbClr val="596074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596074"/>
                </a:solidFill>
                <a:latin typeface="Georgia" panose="02040502050405020303" pitchFamily="18" charset="0"/>
                <a:cs typeface="Consolas"/>
              </a:rPr>
              <a:t>E</a:t>
            </a:r>
            <a:r>
              <a:rPr sz="600" spc="-204" dirty="0">
                <a:solidFill>
                  <a:srgbClr val="596074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596074"/>
                </a:solidFill>
                <a:latin typeface="Georgia" panose="02040502050405020303" pitchFamily="18" charset="0"/>
                <a:cs typeface="Consolas"/>
              </a:rPr>
              <a:t>S</a:t>
            </a:r>
            <a:r>
              <a:rPr sz="600" spc="-210" dirty="0">
                <a:solidFill>
                  <a:srgbClr val="596074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596074"/>
                </a:solidFill>
                <a:latin typeface="Georgia" panose="02040502050405020303" pitchFamily="18" charset="0"/>
                <a:cs typeface="Consolas"/>
              </a:rPr>
              <a:t>S</a:t>
            </a:r>
            <a:r>
              <a:rPr sz="600" spc="-204" dirty="0">
                <a:solidFill>
                  <a:srgbClr val="596074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596074"/>
                </a:solidFill>
                <a:latin typeface="Georgia" panose="02040502050405020303" pitchFamily="18" charset="0"/>
                <a:cs typeface="Consolas"/>
              </a:rPr>
              <a:t>I</a:t>
            </a:r>
            <a:r>
              <a:rPr sz="600" spc="-204" dirty="0">
                <a:solidFill>
                  <a:srgbClr val="596074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596074"/>
                </a:solidFill>
                <a:latin typeface="Georgia" panose="02040502050405020303" pitchFamily="18" charset="0"/>
                <a:cs typeface="Consolas"/>
              </a:rPr>
              <a:t>O</a:t>
            </a:r>
            <a:r>
              <a:rPr sz="600" spc="-210" dirty="0">
                <a:solidFill>
                  <a:srgbClr val="596074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spc="-50" dirty="0">
                <a:solidFill>
                  <a:srgbClr val="596074"/>
                </a:solidFill>
                <a:latin typeface="Georgia" panose="02040502050405020303" pitchFamily="18" charset="0"/>
                <a:cs typeface="Consolas"/>
              </a:rPr>
              <a:t>N</a:t>
            </a:r>
            <a:endParaRPr sz="600" dirty="0">
              <a:latin typeface="Georgia" panose="02040502050405020303" pitchFamily="18" charset="0"/>
              <a:cs typeface="Consola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38325" y="2105179"/>
            <a:ext cx="5076825" cy="9525"/>
          </a:xfrm>
          <a:custGeom>
            <a:avLst/>
            <a:gdLst/>
            <a:ahLst/>
            <a:cxnLst/>
            <a:rect l="l" t="t" r="r" b="b"/>
            <a:pathLst>
              <a:path w="5076825" h="9525">
                <a:moveTo>
                  <a:pt x="5076825" y="9525"/>
                </a:moveTo>
                <a:lnTo>
                  <a:pt x="0" y="9525"/>
                </a:lnTo>
                <a:lnTo>
                  <a:pt x="0" y="0"/>
                </a:lnTo>
                <a:lnTo>
                  <a:pt x="5076825" y="0"/>
                </a:lnTo>
                <a:lnTo>
                  <a:pt x="5076825" y="9525"/>
                </a:lnTo>
                <a:close/>
              </a:path>
            </a:pathLst>
          </a:custGeom>
          <a:solidFill>
            <a:srgbClr val="1C2136">
              <a:alpha val="141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38325" y="2705254"/>
            <a:ext cx="5076825" cy="9525"/>
          </a:xfrm>
          <a:custGeom>
            <a:avLst/>
            <a:gdLst/>
            <a:ahLst/>
            <a:cxnLst/>
            <a:rect l="l" t="t" r="r" b="b"/>
            <a:pathLst>
              <a:path w="5076825" h="9525">
                <a:moveTo>
                  <a:pt x="5076825" y="9525"/>
                </a:moveTo>
                <a:lnTo>
                  <a:pt x="0" y="9525"/>
                </a:lnTo>
                <a:lnTo>
                  <a:pt x="0" y="0"/>
                </a:lnTo>
                <a:lnTo>
                  <a:pt x="5076825" y="0"/>
                </a:lnTo>
                <a:lnTo>
                  <a:pt x="5076825" y="9525"/>
                </a:lnTo>
                <a:close/>
              </a:path>
            </a:pathLst>
          </a:custGeom>
          <a:solidFill>
            <a:srgbClr val="1C2136">
              <a:alpha val="141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823243" y="1674710"/>
            <a:ext cx="829310" cy="3098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50" b="1" spc="-29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디스커션</a:t>
            </a:r>
            <a:endParaRPr sz="185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23243" y="2233447"/>
            <a:ext cx="337820" cy="1070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F</a:t>
            </a:r>
            <a:r>
              <a:rPr sz="600" spc="-24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O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R</a:t>
            </a:r>
            <a:r>
              <a:rPr sz="600" spc="-23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M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A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T</a:t>
            </a:r>
            <a:endParaRPr sz="600" dirty="0">
              <a:latin typeface="Georgia" panose="02040502050405020303" pitchFamily="18" charset="0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23243" y="2418231"/>
            <a:ext cx="678815" cy="1372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팀별</a:t>
            </a:r>
            <a:r>
              <a:rPr sz="800" b="1" spc="1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spc="-20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디스커션</a:t>
            </a:r>
            <a:endParaRPr sz="8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64732" y="2233447"/>
            <a:ext cx="230504" cy="1070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T</a:t>
            </a:r>
            <a:r>
              <a:rPr sz="600" spc="-23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I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M</a:t>
            </a:r>
            <a:r>
              <a:rPr sz="600" spc="-23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E</a:t>
            </a:r>
            <a:endParaRPr sz="600">
              <a:latin typeface="Georgia" panose="02040502050405020303" pitchFamily="18" charset="0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64732" y="2418231"/>
            <a:ext cx="628650" cy="1372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약</a:t>
            </a:r>
            <a:r>
              <a:rPr sz="800" b="1" spc="10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30분</a:t>
            </a:r>
            <a:r>
              <a:rPr sz="800" b="1" spc="1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spc="-2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예정</a:t>
            </a:r>
            <a:endParaRPr sz="8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55910" y="2233447"/>
            <a:ext cx="283845" cy="1070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T</a:t>
            </a:r>
            <a:r>
              <a:rPr sz="600" spc="-23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O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P</a:t>
            </a:r>
            <a:r>
              <a:rPr sz="600" spc="-23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I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C</a:t>
            </a:r>
            <a:endParaRPr sz="600">
              <a:latin typeface="Georgia" panose="02040502050405020303" pitchFamily="18" charset="0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55910" y="2418231"/>
            <a:ext cx="1381125" cy="1372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세션</a:t>
            </a:r>
            <a:r>
              <a:rPr sz="800" b="1" spc="10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1·2</a:t>
            </a:r>
            <a:r>
              <a:rPr sz="800" b="1" spc="1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연계</a:t>
            </a:r>
            <a:r>
              <a:rPr sz="800" b="1" spc="1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사전</a:t>
            </a:r>
            <a:r>
              <a:rPr sz="800" b="1" spc="1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지정</a:t>
            </a:r>
            <a:r>
              <a:rPr sz="800" b="1" spc="1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spc="-2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의제</a:t>
            </a:r>
            <a:endParaRPr sz="80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99716" y="2233447"/>
            <a:ext cx="230504" cy="1070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H</a:t>
            </a:r>
            <a:r>
              <a:rPr sz="600" spc="-23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O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S</a:t>
            </a:r>
            <a:r>
              <a:rPr sz="600" spc="-23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T</a:t>
            </a:r>
            <a:endParaRPr sz="600">
              <a:latin typeface="Georgia" panose="02040502050405020303" pitchFamily="18" charset="0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99716" y="2418231"/>
            <a:ext cx="1380490" cy="1372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VAN</a:t>
            </a:r>
            <a:r>
              <a:rPr sz="800" b="1" spc="10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산하</a:t>
            </a:r>
            <a:r>
              <a:rPr sz="800" b="1" spc="10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상설연구조직</a:t>
            </a:r>
            <a:r>
              <a:rPr sz="800" b="1" spc="10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spc="-2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주도</a:t>
            </a:r>
            <a:endParaRPr sz="80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23243" y="2847237"/>
            <a:ext cx="5100320" cy="9779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56200"/>
              </a:lnSpc>
              <a:spcBef>
                <a:spcPts val="90"/>
              </a:spcBef>
            </a:pP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VAN</a:t>
            </a:r>
            <a:r>
              <a:rPr sz="800" spc="13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산하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상설연구조직이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사전에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구성한</a:t>
            </a:r>
            <a:r>
              <a:rPr sz="800" spc="13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기술혁신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및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사회혁신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관련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주요</a:t>
            </a:r>
            <a:r>
              <a:rPr sz="800" spc="13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의제를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바탕으로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참가자들이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spc="-5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팀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별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디스커션을</a:t>
            </a:r>
            <a:r>
              <a:rPr sz="800" spc="14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진행합니다.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앞선</a:t>
            </a:r>
            <a:r>
              <a:rPr sz="800" spc="14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세션에서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제기된</a:t>
            </a:r>
            <a:r>
              <a:rPr sz="800" spc="14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쟁점을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단순히</a:t>
            </a:r>
            <a:r>
              <a:rPr sz="800" spc="14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청취하는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데</a:t>
            </a:r>
            <a:r>
              <a:rPr sz="800" spc="14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그치지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않고,</a:t>
            </a:r>
            <a:r>
              <a:rPr sz="800" spc="14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참가자들이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spc="-5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직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접</a:t>
            </a:r>
            <a:r>
              <a:rPr sz="800" spc="13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분석하고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자신의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관점으로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재구성하며,</a:t>
            </a:r>
            <a:r>
              <a:rPr sz="800" spc="13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이를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사회적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실천과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정책적</a:t>
            </a:r>
            <a:r>
              <a:rPr sz="800" spc="13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상상력으로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확장할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수</a:t>
            </a:r>
            <a:r>
              <a:rPr sz="800" spc="13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있도록</a:t>
            </a:r>
            <a:r>
              <a:rPr sz="800" spc="13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spc="-2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설계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합니다.</a:t>
            </a:r>
            <a:r>
              <a:rPr sz="800" spc="14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본</a:t>
            </a:r>
            <a:r>
              <a:rPr sz="800" spc="14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컨퍼런스가</a:t>
            </a:r>
            <a:r>
              <a:rPr sz="800" spc="14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일방향</a:t>
            </a:r>
            <a:r>
              <a:rPr sz="800" spc="14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강연을</a:t>
            </a:r>
            <a:r>
              <a:rPr sz="800" spc="14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넘어,</a:t>
            </a:r>
            <a:r>
              <a:rPr sz="800" spc="14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청년들이</a:t>
            </a:r>
            <a:r>
              <a:rPr sz="800" spc="14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스스로</a:t>
            </a:r>
            <a:r>
              <a:rPr sz="800" spc="14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질문하고</a:t>
            </a:r>
            <a:r>
              <a:rPr sz="800" spc="14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토론하는</a:t>
            </a:r>
            <a:r>
              <a:rPr sz="800" spc="14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참여형</a:t>
            </a:r>
            <a:r>
              <a:rPr sz="800" spc="14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공론장으로</a:t>
            </a:r>
            <a:r>
              <a:rPr sz="800" spc="14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spc="-2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기능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하도록</a:t>
            </a:r>
            <a:r>
              <a:rPr sz="800" spc="13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spc="-1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구성합니다.</a:t>
            </a:r>
            <a:endParaRPr sz="800" dirty="0">
              <a:latin typeface="Noto Serif KR Light" panose="02020200000000000000" pitchFamily="18" charset="-127"/>
              <a:ea typeface="Noto Serif KR Light" panose="02020200000000000000" pitchFamily="18" charset="-127"/>
              <a:cs typeface="Malgun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5298" y="3997319"/>
            <a:ext cx="522605" cy="1041400"/>
          </a:xfrm>
          <a:prstGeom prst="rect">
            <a:avLst/>
          </a:prstGeom>
        </p:spPr>
        <p:txBody>
          <a:bodyPr vert="horz" wrap="square" lIns="0" tIns="298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0"/>
              </a:spcBef>
            </a:pPr>
            <a:r>
              <a:rPr sz="3900" spc="-715" dirty="0">
                <a:solidFill>
                  <a:srgbClr val="A7814D"/>
                </a:solidFill>
                <a:latin typeface="Georgia" panose="02040502050405020303" pitchFamily="18" charset="0"/>
                <a:cs typeface="Georgia"/>
              </a:rPr>
              <a:t>04</a:t>
            </a:r>
            <a:endParaRPr sz="3900" dirty="0">
              <a:latin typeface="Georgia" panose="02040502050405020303" pitchFamily="18" charset="0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600" dirty="0">
                <a:solidFill>
                  <a:srgbClr val="596074"/>
                </a:solidFill>
                <a:latin typeface="Georgia" panose="02040502050405020303" pitchFamily="18" charset="0"/>
                <a:cs typeface="Consolas"/>
              </a:rPr>
              <a:t>S</a:t>
            </a:r>
            <a:r>
              <a:rPr sz="600" spc="-210" dirty="0">
                <a:solidFill>
                  <a:srgbClr val="596074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596074"/>
                </a:solidFill>
                <a:latin typeface="Georgia" panose="02040502050405020303" pitchFamily="18" charset="0"/>
                <a:cs typeface="Consolas"/>
              </a:rPr>
              <a:t>E</a:t>
            </a:r>
            <a:r>
              <a:rPr sz="600" spc="-204" dirty="0">
                <a:solidFill>
                  <a:srgbClr val="596074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596074"/>
                </a:solidFill>
                <a:latin typeface="Georgia" panose="02040502050405020303" pitchFamily="18" charset="0"/>
                <a:cs typeface="Consolas"/>
              </a:rPr>
              <a:t>S</a:t>
            </a:r>
            <a:r>
              <a:rPr sz="600" spc="-210" dirty="0">
                <a:solidFill>
                  <a:srgbClr val="596074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596074"/>
                </a:solidFill>
                <a:latin typeface="Georgia" panose="02040502050405020303" pitchFamily="18" charset="0"/>
                <a:cs typeface="Consolas"/>
              </a:rPr>
              <a:t>S</a:t>
            </a:r>
            <a:r>
              <a:rPr sz="600" spc="-204" dirty="0">
                <a:solidFill>
                  <a:srgbClr val="596074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596074"/>
                </a:solidFill>
                <a:latin typeface="Georgia" panose="02040502050405020303" pitchFamily="18" charset="0"/>
                <a:cs typeface="Consolas"/>
              </a:rPr>
              <a:t>I</a:t>
            </a:r>
            <a:r>
              <a:rPr sz="600" spc="-204" dirty="0">
                <a:solidFill>
                  <a:srgbClr val="596074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596074"/>
                </a:solidFill>
                <a:latin typeface="Georgia" panose="02040502050405020303" pitchFamily="18" charset="0"/>
                <a:cs typeface="Consolas"/>
              </a:rPr>
              <a:t>O</a:t>
            </a:r>
            <a:r>
              <a:rPr sz="600" spc="-210" dirty="0">
                <a:solidFill>
                  <a:srgbClr val="596074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spc="-50" dirty="0">
                <a:solidFill>
                  <a:srgbClr val="596074"/>
                </a:solidFill>
                <a:latin typeface="Georgia" panose="02040502050405020303" pitchFamily="18" charset="0"/>
                <a:cs typeface="Consolas"/>
              </a:rPr>
              <a:t>N</a:t>
            </a:r>
            <a:endParaRPr sz="600" dirty="0">
              <a:latin typeface="Georgia" panose="02040502050405020303" pitchFamily="18" charset="0"/>
              <a:cs typeface="Consola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838325" y="4829329"/>
            <a:ext cx="5076825" cy="9525"/>
          </a:xfrm>
          <a:custGeom>
            <a:avLst/>
            <a:gdLst/>
            <a:ahLst/>
            <a:cxnLst/>
            <a:rect l="l" t="t" r="r" b="b"/>
            <a:pathLst>
              <a:path w="5076825" h="9525">
                <a:moveTo>
                  <a:pt x="5076825" y="9525"/>
                </a:moveTo>
                <a:lnTo>
                  <a:pt x="0" y="9525"/>
                </a:lnTo>
                <a:lnTo>
                  <a:pt x="0" y="0"/>
                </a:lnTo>
                <a:lnTo>
                  <a:pt x="5076825" y="0"/>
                </a:lnTo>
                <a:lnTo>
                  <a:pt x="5076825" y="9525"/>
                </a:lnTo>
                <a:close/>
              </a:path>
            </a:pathLst>
          </a:custGeom>
          <a:solidFill>
            <a:srgbClr val="1C2136">
              <a:alpha val="141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08059" y="5400826"/>
            <a:ext cx="5076825" cy="9525"/>
          </a:xfrm>
          <a:custGeom>
            <a:avLst/>
            <a:gdLst/>
            <a:ahLst/>
            <a:cxnLst/>
            <a:rect l="l" t="t" r="r" b="b"/>
            <a:pathLst>
              <a:path w="5076825" h="9525">
                <a:moveTo>
                  <a:pt x="5076825" y="9525"/>
                </a:moveTo>
                <a:lnTo>
                  <a:pt x="0" y="9525"/>
                </a:lnTo>
                <a:lnTo>
                  <a:pt x="0" y="0"/>
                </a:lnTo>
                <a:lnTo>
                  <a:pt x="5076825" y="0"/>
                </a:lnTo>
                <a:lnTo>
                  <a:pt x="5076825" y="9525"/>
                </a:lnTo>
                <a:close/>
              </a:path>
            </a:pathLst>
          </a:custGeom>
          <a:solidFill>
            <a:srgbClr val="1C2136">
              <a:alpha val="141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823243" y="4389335"/>
            <a:ext cx="3221355" cy="3098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50" b="1" spc="-275" dirty="0" err="1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네트워킹</a:t>
            </a:r>
            <a:r>
              <a:rPr sz="1850" b="1" spc="-17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1850" b="1" spc="-29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나잇</a:t>
            </a:r>
            <a:endParaRPr sz="185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823243" y="4957597"/>
            <a:ext cx="337820" cy="1070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F</a:t>
            </a:r>
            <a:r>
              <a:rPr sz="600" spc="-24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O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R</a:t>
            </a:r>
            <a:r>
              <a:rPr sz="600" spc="-23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M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A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T</a:t>
            </a:r>
            <a:endParaRPr sz="600">
              <a:latin typeface="Georgia" panose="02040502050405020303" pitchFamily="18" charset="0"/>
              <a:cs typeface="Consola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23243" y="5132857"/>
            <a:ext cx="1126490" cy="1372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분야별</a:t>
            </a:r>
            <a:r>
              <a:rPr sz="800" b="1" spc="20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테이블</a:t>
            </a:r>
            <a:r>
              <a:rPr sz="800" b="1" spc="2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spc="-20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네트워킹</a:t>
            </a:r>
            <a:endParaRPr sz="80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212255" y="4957597"/>
            <a:ext cx="230504" cy="1070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H</a:t>
            </a:r>
            <a:r>
              <a:rPr sz="600" spc="-23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O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S</a:t>
            </a:r>
            <a:r>
              <a:rPr sz="600" spc="-23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T</a:t>
            </a:r>
            <a:endParaRPr sz="600">
              <a:latin typeface="Georgia" panose="02040502050405020303" pitchFamily="18" charset="0"/>
              <a:cs typeface="Consola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212255" y="5132857"/>
            <a:ext cx="1035685" cy="1372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VAN</a:t>
            </a:r>
            <a:endParaRPr sz="8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510332" y="4957597"/>
            <a:ext cx="661035" cy="10708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P</a:t>
            </a:r>
            <a:r>
              <a:rPr sz="600" spc="-23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A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R</a:t>
            </a:r>
            <a:r>
              <a:rPr sz="600" spc="-23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T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I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C</a:t>
            </a:r>
            <a:r>
              <a:rPr sz="600" spc="-23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I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P</a:t>
            </a:r>
            <a:r>
              <a:rPr sz="600" spc="-23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A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N</a:t>
            </a:r>
            <a:r>
              <a:rPr sz="600" spc="-229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T</a:t>
            </a:r>
            <a:r>
              <a:rPr sz="600" spc="-23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S</a:t>
            </a:r>
            <a:endParaRPr sz="600" dirty="0">
              <a:latin typeface="Georgia" panose="02040502050405020303" pitchFamily="18" charset="0"/>
              <a:cs typeface="Consola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510332" y="5132857"/>
            <a:ext cx="1454785" cy="13721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00" b="1" dirty="0" err="1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알럼나이</a:t>
            </a:r>
            <a:r>
              <a:rPr sz="800" b="1" spc="10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·</a:t>
            </a:r>
            <a:r>
              <a:rPr sz="800" b="1" spc="10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spc="-2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참가자</a:t>
            </a:r>
            <a:endParaRPr sz="8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792977" y="5665149"/>
            <a:ext cx="1075055" cy="18402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b="1" spc="-155" dirty="0">
                <a:solidFill>
                  <a:srgbClr val="A7814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확정</a:t>
            </a:r>
            <a:r>
              <a:rPr sz="1100" b="1" spc="-80" dirty="0">
                <a:solidFill>
                  <a:srgbClr val="A7814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1100" b="1" spc="-155" dirty="0">
                <a:solidFill>
                  <a:srgbClr val="A7814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대표</a:t>
            </a:r>
            <a:r>
              <a:rPr sz="1100" b="1" spc="-80" dirty="0">
                <a:solidFill>
                  <a:srgbClr val="A7814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1100" b="1" spc="-130" dirty="0">
                <a:solidFill>
                  <a:srgbClr val="A7814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알럼나이</a:t>
            </a:r>
            <a:endParaRPr sz="11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998684" y="5772299"/>
            <a:ext cx="3886200" cy="9525"/>
          </a:xfrm>
          <a:custGeom>
            <a:avLst/>
            <a:gdLst/>
            <a:ahLst/>
            <a:cxnLst/>
            <a:rect l="l" t="t" r="r" b="b"/>
            <a:pathLst>
              <a:path w="3886200" h="9525">
                <a:moveTo>
                  <a:pt x="3886200" y="9525"/>
                </a:moveTo>
                <a:lnTo>
                  <a:pt x="0" y="9525"/>
                </a:lnTo>
                <a:lnTo>
                  <a:pt x="0" y="0"/>
                </a:lnTo>
                <a:lnTo>
                  <a:pt x="3886200" y="0"/>
                </a:lnTo>
                <a:lnTo>
                  <a:pt x="3886200" y="9525"/>
                </a:lnTo>
                <a:close/>
              </a:path>
            </a:pathLst>
          </a:custGeom>
          <a:solidFill>
            <a:srgbClr val="1C2136">
              <a:alpha val="141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995139" y="6145218"/>
            <a:ext cx="440690" cy="3790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300" b="1" spc="-160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오종훈</a:t>
            </a:r>
            <a:endParaRPr sz="13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SemiBold" panose="02020200000000000000" pitchFamily="18" charset="-127"/>
                <a:cs typeface="Consolas"/>
              </a:rPr>
              <a:t>E</a:t>
            </a:r>
            <a:r>
              <a:rPr sz="600" spc="-250" dirty="0">
                <a:solidFill>
                  <a:srgbClr val="A7814D"/>
                </a:solidFill>
                <a:latin typeface="Georgia" panose="02040502050405020303" pitchFamily="18" charset="0"/>
                <a:ea typeface="Noto Serif KR SemiBold" panose="02020200000000000000" pitchFamily="18" charset="-127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SemiBold" panose="02020200000000000000" pitchFamily="18" charset="-127"/>
                <a:cs typeface="Consolas"/>
              </a:rPr>
              <a:t>N</a:t>
            </a:r>
            <a:r>
              <a:rPr sz="600" spc="-245" dirty="0">
                <a:solidFill>
                  <a:srgbClr val="A7814D"/>
                </a:solidFill>
                <a:latin typeface="Georgia" panose="02040502050405020303" pitchFamily="18" charset="0"/>
                <a:ea typeface="Noto Serif KR SemiBold" panose="02020200000000000000" pitchFamily="18" charset="-127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SemiBold" panose="02020200000000000000" pitchFamily="18" charset="-127"/>
                <a:cs typeface="Consolas"/>
              </a:rPr>
              <a:t>E</a:t>
            </a:r>
            <a:r>
              <a:rPr sz="600" spc="-250" dirty="0">
                <a:solidFill>
                  <a:srgbClr val="A7814D"/>
                </a:solidFill>
                <a:latin typeface="Georgia" panose="02040502050405020303" pitchFamily="18" charset="0"/>
                <a:ea typeface="Noto Serif KR SemiBold" panose="02020200000000000000" pitchFamily="18" charset="-127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SemiBold" panose="02020200000000000000" pitchFamily="18" charset="-127"/>
                <a:cs typeface="Consolas"/>
              </a:rPr>
              <a:t>R</a:t>
            </a:r>
            <a:r>
              <a:rPr sz="600" spc="-245" dirty="0">
                <a:solidFill>
                  <a:srgbClr val="A7814D"/>
                </a:solidFill>
                <a:latin typeface="Georgia" panose="02040502050405020303" pitchFamily="18" charset="0"/>
                <a:ea typeface="Noto Serif KR SemiBold" panose="02020200000000000000" pitchFamily="18" charset="-127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SemiBold" panose="02020200000000000000" pitchFamily="18" charset="-127"/>
                <a:cs typeface="Consolas"/>
              </a:rPr>
              <a:t>G</a:t>
            </a:r>
            <a:r>
              <a:rPr sz="600" spc="-245" dirty="0">
                <a:solidFill>
                  <a:srgbClr val="A7814D"/>
                </a:solidFill>
                <a:latin typeface="Georgia" panose="02040502050405020303" pitchFamily="18" charset="0"/>
                <a:ea typeface="Noto Serif KR SemiBold" panose="02020200000000000000" pitchFamily="18" charset="-127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Georgia" panose="02040502050405020303" pitchFamily="18" charset="0"/>
                <a:ea typeface="Noto Serif KR SemiBold" panose="02020200000000000000" pitchFamily="18" charset="-127"/>
                <a:cs typeface="Consolas"/>
              </a:rPr>
              <a:t>Y</a:t>
            </a:r>
            <a:endParaRPr sz="600" dirty="0">
              <a:latin typeface="Georgia" panose="02040502050405020303" pitchFamily="18" charset="0"/>
              <a:ea typeface="Noto Serif KR SemiBold" panose="02020200000000000000" pitchFamily="18" charset="-127"/>
              <a:cs typeface="Consola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902959" y="6123835"/>
            <a:ext cx="2108200" cy="38735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5"/>
              </a:spcBef>
            </a:pP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SK에너지</a:t>
            </a:r>
            <a:r>
              <a:rPr sz="800" b="1" spc="170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대표이사</a:t>
            </a:r>
            <a:r>
              <a:rPr sz="800" b="1" spc="17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spc="-2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사장</a:t>
            </a:r>
            <a:endParaRPr sz="8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r>
              <a:rPr sz="80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SK</a:t>
            </a:r>
            <a:r>
              <a:rPr sz="800" spc="85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Portfolio</a:t>
            </a:r>
            <a:r>
              <a:rPr sz="800" spc="9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Mgmt.</a:t>
            </a:r>
            <a:r>
              <a:rPr sz="800" spc="9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임원</a:t>
            </a:r>
            <a:r>
              <a:rPr sz="800" spc="9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·</a:t>
            </a:r>
            <a:r>
              <a:rPr sz="800" spc="85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연세대</a:t>
            </a:r>
            <a:r>
              <a:rPr sz="800" spc="9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법학</a:t>
            </a:r>
            <a:r>
              <a:rPr sz="800" spc="9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spc="-25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출신</a:t>
            </a:r>
            <a:endParaRPr sz="8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817584" y="6696223"/>
            <a:ext cx="5057775" cy="666750"/>
          </a:xfrm>
          <a:custGeom>
            <a:avLst/>
            <a:gdLst/>
            <a:ahLst/>
            <a:cxnLst/>
            <a:rect l="l" t="t" r="r" b="b"/>
            <a:pathLst>
              <a:path w="5057775" h="666750">
                <a:moveTo>
                  <a:pt x="5057775" y="666750"/>
                </a:moveTo>
                <a:lnTo>
                  <a:pt x="0" y="666750"/>
                </a:lnTo>
                <a:lnTo>
                  <a:pt x="0" y="0"/>
                </a:lnTo>
                <a:lnTo>
                  <a:pt x="5057775" y="0"/>
                </a:lnTo>
                <a:lnTo>
                  <a:pt x="5057775" y="666750"/>
                </a:lnTo>
                <a:close/>
              </a:path>
            </a:pathLst>
          </a:custGeom>
          <a:solidFill>
            <a:srgbClr val="F4EF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995139" y="6821493"/>
            <a:ext cx="440690" cy="3790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300" b="1" spc="-160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이주호</a:t>
            </a:r>
            <a:endParaRPr sz="13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SemiBold" panose="02020200000000000000" pitchFamily="18" charset="-127"/>
                <a:cs typeface="Consolas"/>
              </a:rPr>
              <a:t>B</a:t>
            </a:r>
            <a:r>
              <a:rPr sz="600" spc="-250" dirty="0">
                <a:solidFill>
                  <a:srgbClr val="A7814D"/>
                </a:solidFill>
                <a:latin typeface="Georgia" panose="02040502050405020303" pitchFamily="18" charset="0"/>
                <a:ea typeface="Noto Serif KR SemiBold" panose="02020200000000000000" pitchFamily="18" charset="-127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SemiBold" panose="02020200000000000000" pitchFamily="18" charset="-127"/>
                <a:cs typeface="Consolas"/>
              </a:rPr>
              <a:t>E</a:t>
            </a:r>
            <a:r>
              <a:rPr sz="600" spc="-245" dirty="0">
                <a:solidFill>
                  <a:srgbClr val="A7814D"/>
                </a:solidFill>
                <a:latin typeface="Georgia" panose="02040502050405020303" pitchFamily="18" charset="0"/>
                <a:ea typeface="Noto Serif KR SemiBold" panose="02020200000000000000" pitchFamily="18" charset="-127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SemiBold" panose="02020200000000000000" pitchFamily="18" charset="-127"/>
                <a:cs typeface="Consolas"/>
              </a:rPr>
              <a:t>A</a:t>
            </a:r>
            <a:r>
              <a:rPr sz="600" spc="-250" dirty="0">
                <a:solidFill>
                  <a:srgbClr val="A7814D"/>
                </a:solidFill>
                <a:latin typeface="Georgia" panose="02040502050405020303" pitchFamily="18" charset="0"/>
                <a:ea typeface="Noto Serif KR SemiBold" panose="02020200000000000000" pitchFamily="18" charset="-127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SemiBold" panose="02020200000000000000" pitchFamily="18" charset="-127"/>
                <a:cs typeface="Consolas"/>
              </a:rPr>
              <a:t>U</a:t>
            </a:r>
            <a:r>
              <a:rPr sz="600" spc="-245" dirty="0">
                <a:solidFill>
                  <a:srgbClr val="A7814D"/>
                </a:solidFill>
                <a:latin typeface="Georgia" panose="02040502050405020303" pitchFamily="18" charset="0"/>
                <a:ea typeface="Noto Serif KR SemiBold" panose="02020200000000000000" pitchFamily="18" charset="-127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ea typeface="Noto Serif KR SemiBold" panose="02020200000000000000" pitchFamily="18" charset="-127"/>
                <a:cs typeface="Consolas"/>
              </a:rPr>
              <a:t>T</a:t>
            </a:r>
            <a:r>
              <a:rPr sz="600" spc="-245" dirty="0">
                <a:solidFill>
                  <a:srgbClr val="A7814D"/>
                </a:solidFill>
                <a:latin typeface="Georgia" panose="02040502050405020303" pitchFamily="18" charset="0"/>
                <a:ea typeface="Noto Serif KR SemiBold" panose="02020200000000000000" pitchFamily="18" charset="-127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Georgia" panose="02040502050405020303" pitchFamily="18" charset="0"/>
                <a:ea typeface="Noto Serif KR SemiBold" panose="02020200000000000000" pitchFamily="18" charset="-127"/>
                <a:cs typeface="Consolas"/>
              </a:rPr>
              <a:t>Y</a:t>
            </a:r>
            <a:endParaRPr sz="600" dirty="0">
              <a:latin typeface="Georgia" panose="02040502050405020303" pitchFamily="18" charset="0"/>
              <a:ea typeface="Noto Serif KR SemiBold" panose="02020200000000000000" pitchFamily="18" charset="-127"/>
              <a:cs typeface="Consolas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35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43" name="object 43"/>
          <p:cNvSpPr txBox="1"/>
          <p:nvPr/>
        </p:nvSpPr>
        <p:spPr>
          <a:xfrm>
            <a:off x="3902959" y="6800109"/>
            <a:ext cx="877569" cy="38735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5"/>
              </a:spcBef>
            </a:pPr>
            <a:r>
              <a:rPr sz="800" b="1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Dr.G(닥터지)</a:t>
            </a:r>
            <a:r>
              <a:rPr sz="800" b="1" spc="150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b="1" spc="-2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대표</a:t>
            </a:r>
            <a:endParaRPr sz="80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r>
              <a:rPr sz="80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연세대</a:t>
            </a:r>
            <a:r>
              <a:rPr sz="800" spc="11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경영</a:t>
            </a:r>
            <a:r>
              <a:rPr sz="800" spc="11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800" spc="-25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출신</a:t>
            </a:r>
            <a:endParaRPr sz="80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sp>
        <p:nvSpPr>
          <p:cNvPr id="45" name="object 24">
            <a:extLst>
              <a:ext uri="{FF2B5EF4-FFF2-40B4-BE49-F238E27FC236}">
                <a16:creationId xmlns:a16="http://schemas.microsoft.com/office/drawing/2014/main" id="{AA63AF0F-F030-D848-5871-3CA9BD95DBA2}"/>
              </a:ext>
            </a:extLst>
          </p:cNvPr>
          <p:cNvSpPr/>
          <p:nvPr/>
        </p:nvSpPr>
        <p:spPr>
          <a:xfrm>
            <a:off x="1826028" y="6673570"/>
            <a:ext cx="5076825" cy="9525"/>
          </a:xfrm>
          <a:custGeom>
            <a:avLst/>
            <a:gdLst/>
            <a:ahLst/>
            <a:cxnLst/>
            <a:rect l="l" t="t" r="r" b="b"/>
            <a:pathLst>
              <a:path w="5076825" h="9525">
                <a:moveTo>
                  <a:pt x="5076825" y="9525"/>
                </a:moveTo>
                <a:lnTo>
                  <a:pt x="0" y="9525"/>
                </a:lnTo>
                <a:lnTo>
                  <a:pt x="0" y="0"/>
                </a:lnTo>
                <a:lnTo>
                  <a:pt x="5076825" y="0"/>
                </a:lnTo>
                <a:lnTo>
                  <a:pt x="5076825" y="9525"/>
                </a:lnTo>
                <a:close/>
              </a:path>
            </a:pathLst>
          </a:custGeom>
          <a:solidFill>
            <a:srgbClr val="1C2136">
              <a:alpha val="141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8" y="649363"/>
            <a:ext cx="375920" cy="1218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V</a:t>
            </a:r>
            <a:r>
              <a:rPr sz="700" spc="-19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E</a:t>
            </a:r>
            <a:r>
              <a:rPr sz="700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N</a:t>
            </a:r>
            <a:r>
              <a:rPr sz="700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U</a:t>
            </a:r>
            <a:r>
              <a:rPr sz="700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spc="-5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E</a:t>
            </a:r>
            <a:endParaRPr sz="700" dirty="0">
              <a:latin typeface="Georgia" panose="02040502050405020303" pitchFamily="18" charset="0"/>
              <a:cs typeface="Consola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5298" y="751566"/>
            <a:ext cx="1167765" cy="400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85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오시는</a:t>
            </a:r>
            <a:r>
              <a:rPr spc="-240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 </a:t>
            </a:r>
            <a:r>
              <a:rPr spc="-420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길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71481" y="958925"/>
            <a:ext cx="1416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solidFill>
                  <a:srgbClr val="596074"/>
                </a:solidFill>
                <a:latin typeface="Consolas"/>
                <a:cs typeface="Consolas"/>
              </a:rPr>
              <a:t>08</a:t>
            </a:r>
            <a:endParaRPr sz="75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2462" y="1719338"/>
            <a:ext cx="3048000" cy="3054041"/>
          </a:xfrm>
          <a:prstGeom prst="rect">
            <a:avLst/>
          </a:prstGeom>
          <a:ln w="9525">
            <a:noFill/>
          </a:ln>
        </p:spPr>
        <p:txBody>
          <a:bodyPr vert="horz" wrap="square" lIns="0" tIns="18542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460"/>
              </a:spcBef>
            </a:pPr>
            <a:r>
              <a:rPr sz="1500" b="1" spc="-229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숙명여자대학교</a:t>
            </a:r>
            <a:r>
              <a:rPr sz="1500" b="1" spc="-90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1500" b="1" spc="-10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눈꽃광장홀</a:t>
            </a:r>
            <a:endParaRPr sz="15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  <a:p>
            <a:pPr marL="202565">
              <a:lnSpc>
                <a:spcPct val="100000"/>
              </a:lnSpc>
              <a:spcBef>
                <a:spcPts val="675"/>
              </a:spcBef>
            </a:pPr>
            <a:r>
              <a:rPr sz="900" b="1" dirty="0">
                <a:solidFill>
                  <a:srgbClr val="A7814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서울특별시</a:t>
            </a:r>
            <a:r>
              <a:rPr sz="900" b="1" spc="40" dirty="0">
                <a:solidFill>
                  <a:srgbClr val="A7814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900" b="1" dirty="0">
                <a:solidFill>
                  <a:srgbClr val="A7814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용산구</a:t>
            </a:r>
            <a:r>
              <a:rPr sz="900" b="1" spc="45" dirty="0">
                <a:solidFill>
                  <a:srgbClr val="A7814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900" b="1" dirty="0">
                <a:solidFill>
                  <a:srgbClr val="A7814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청파로47길</a:t>
            </a:r>
            <a:r>
              <a:rPr sz="900" b="1" spc="45" dirty="0">
                <a:solidFill>
                  <a:srgbClr val="A7814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900" b="1" spc="-25" dirty="0">
                <a:solidFill>
                  <a:srgbClr val="A7814D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100</a:t>
            </a:r>
            <a:endParaRPr sz="9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  <a:p>
            <a:pPr marL="202565" marR="192405">
              <a:lnSpc>
                <a:spcPct val="143500"/>
              </a:lnSpc>
              <a:spcBef>
                <a:spcPts val="1450"/>
              </a:spcBef>
            </a:pPr>
            <a:r>
              <a:rPr sz="90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행사장은</a:t>
            </a:r>
            <a:r>
              <a:rPr sz="900" spc="35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숙명여자대학교</a:t>
            </a:r>
            <a:r>
              <a:rPr sz="900" spc="4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캠퍼스</a:t>
            </a:r>
            <a:r>
              <a:rPr sz="900" spc="4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내</a:t>
            </a:r>
            <a:r>
              <a:rPr sz="900" spc="4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900" spc="-1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눈꽃광장홀에 </a:t>
            </a:r>
            <a:r>
              <a:rPr sz="90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서</a:t>
            </a:r>
            <a:r>
              <a:rPr sz="900" spc="3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진행됩니다.</a:t>
            </a:r>
            <a:r>
              <a:rPr sz="900" spc="3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참석자께서는</a:t>
            </a:r>
            <a:r>
              <a:rPr sz="900" spc="35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행사</a:t>
            </a:r>
            <a:r>
              <a:rPr sz="900" spc="3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당일</a:t>
            </a:r>
            <a:r>
              <a:rPr sz="900" spc="35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현장</a:t>
            </a:r>
            <a:r>
              <a:rPr sz="900" spc="3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900" spc="-25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안내 </a:t>
            </a:r>
            <a:r>
              <a:rPr sz="90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표지와</a:t>
            </a:r>
            <a:r>
              <a:rPr sz="900" spc="35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운영진의</a:t>
            </a:r>
            <a:r>
              <a:rPr sz="900" spc="35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안내에</a:t>
            </a:r>
            <a:r>
              <a:rPr sz="900" spc="4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따라</a:t>
            </a:r>
            <a:r>
              <a:rPr sz="900" spc="35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900" dirty="0" err="1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입장해주시기</a:t>
            </a:r>
            <a:r>
              <a:rPr sz="900" spc="40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900" spc="-25" dirty="0" err="1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바랍니다</a:t>
            </a:r>
            <a:r>
              <a:rPr sz="900" spc="-25" dirty="0">
                <a:solidFill>
                  <a:srgbClr val="596074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.</a:t>
            </a:r>
            <a:endParaRPr lang="en-US" sz="900" spc="-25" dirty="0">
              <a:solidFill>
                <a:srgbClr val="596074"/>
              </a:solidFill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  <a:p>
            <a:pPr marL="202565" marR="192405">
              <a:lnSpc>
                <a:spcPct val="143500"/>
              </a:lnSpc>
              <a:spcBef>
                <a:spcPts val="1450"/>
              </a:spcBef>
            </a:pPr>
            <a:endParaRPr lang="en-US" sz="900" spc="-25" dirty="0">
              <a:solidFill>
                <a:srgbClr val="596074"/>
              </a:solidFill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  <a:p>
            <a:pPr marL="346710">
              <a:lnSpc>
                <a:spcPct val="100000"/>
              </a:lnSpc>
            </a:pPr>
            <a:endParaRPr lang="en-US" altLang="ko-KR" sz="900" dirty="0">
              <a:solidFill>
                <a:srgbClr val="596074"/>
              </a:solidFill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  <a:p>
            <a:pPr marL="346710">
              <a:lnSpc>
                <a:spcPct val="100000"/>
              </a:lnSpc>
            </a:pPr>
            <a:r>
              <a:rPr lang="en-US" altLang="ko-KR"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4</a:t>
            </a:r>
            <a:r>
              <a:rPr lang="ko-KR" altLang="en-US"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호선</a:t>
            </a:r>
            <a:r>
              <a:rPr lang="ko-KR" altLang="en-US" sz="900" spc="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lang="ko-KR" altLang="en-US" sz="900" dirty="0" err="1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숙대입구역</a:t>
            </a:r>
            <a:r>
              <a:rPr lang="ko-KR" altLang="en-US" sz="900" spc="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lang="en-US" altLang="ko-KR"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10</a:t>
            </a:r>
            <a:r>
              <a:rPr lang="ko-KR" altLang="en-US"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번</a:t>
            </a:r>
            <a:r>
              <a:rPr lang="ko-KR" altLang="en-US" sz="900" spc="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lang="ko-KR" altLang="en-US"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출구</a:t>
            </a:r>
            <a:r>
              <a:rPr lang="ko-KR" altLang="en-US" sz="900" spc="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lang="en-US" altLang="ko-KR"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(</a:t>
            </a:r>
            <a:r>
              <a:rPr lang="ko-KR" altLang="en-US"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도보</a:t>
            </a:r>
            <a:r>
              <a:rPr lang="ko-KR" altLang="en-US" sz="900" spc="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lang="en-US" altLang="ko-KR" sz="900" spc="-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12</a:t>
            </a:r>
            <a:r>
              <a:rPr lang="ko-KR" altLang="en-US" sz="900" spc="-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분</a:t>
            </a:r>
            <a:r>
              <a:rPr lang="en-US" altLang="ko-KR" sz="900" spc="-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)</a:t>
            </a:r>
            <a:endParaRPr lang="ko-KR" altLang="en-US" sz="900" dirty="0">
              <a:latin typeface="Noto Serif KR Light" panose="02020200000000000000" pitchFamily="18" charset="-127"/>
              <a:ea typeface="Noto Serif KR Light" panose="02020200000000000000" pitchFamily="18" charset="-127"/>
              <a:cs typeface="Malgun Gothic"/>
            </a:endParaRPr>
          </a:p>
          <a:p>
            <a:pPr marL="346710">
              <a:lnSpc>
                <a:spcPct val="100000"/>
              </a:lnSpc>
              <a:spcBef>
                <a:spcPts val="390"/>
              </a:spcBef>
            </a:pPr>
            <a:r>
              <a:rPr lang="en-US" altLang="ko-KR"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1</a:t>
            </a:r>
            <a:r>
              <a:rPr lang="ko-KR" altLang="en-US"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호선</a:t>
            </a:r>
            <a:r>
              <a:rPr lang="ko-KR" altLang="en-US" sz="900" spc="1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lang="ko-KR" altLang="en-US" sz="900" dirty="0" err="1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남영역</a:t>
            </a:r>
            <a:r>
              <a:rPr lang="ko-KR" altLang="en-US" sz="900" spc="1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lang="en-US" altLang="ko-KR"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1</a:t>
            </a:r>
            <a:r>
              <a:rPr lang="ko-KR" altLang="en-US"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번</a:t>
            </a:r>
            <a:r>
              <a:rPr lang="ko-KR" altLang="en-US" sz="900" spc="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lang="ko-KR" altLang="en-US"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출구</a:t>
            </a:r>
            <a:r>
              <a:rPr lang="ko-KR" altLang="en-US" sz="900" spc="1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lang="en-US" altLang="ko-KR"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(</a:t>
            </a:r>
            <a:r>
              <a:rPr lang="ko-KR" altLang="en-US"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도보</a:t>
            </a:r>
            <a:r>
              <a:rPr lang="ko-KR" altLang="en-US" sz="900" spc="1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lang="en-US" altLang="ko-KR" sz="900" spc="-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17</a:t>
            </a:r>
            <a:r>
              <a:rPr lang="ko-KR" altLang="en-US" sz="900" spc="-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분</a:t>
            </a:r>
            <a:r>
              <a:rPr lang="en-US" altLang="ko-KR" sz="900" spc="-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)</a:t>
            </a:r>
            <a:endParaRPr lang="ko-KR" altLang="en-US" sz="900" dirty="0">
              <a:latin typeface="Noto Serif KR Light" panose="02020200000000000000" pitchFamily="18" charset="-127"/>
              <a:ea typeface="Noto Serif KR Light" panose="02020200000000000000" pitchFamily="18" charset="-127"/>
              <a:cs typeface="Malgun Gothic"/>
            </a:endParaRPr>
          </a:p>
          <a:p>
            <a:pPr marL="346710">
              <a:lnSpc>
                <a:spcPct val="100000"/>
              </a:lnSpc>
              <a:spcBef>
                <a:spcPts val="465"/>
              </a:spcBef>
            </a:pPr>
            <a:r>
              <a:rPr lang="en-US" altLang="ko-KR"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6</a:t>
            </a:r>
            <a:r>
              <a:rPr lang="ko-KR" altLang="en-US"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호선</a:t>
            </a:r>
            <a:r>
              <a:rPr lang="ko-KR" altLang="en-US" sz="900" spc="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lang="ko-KR" altLang="en-US" sz="900" dirty="0" err="1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효창공원앞역</a:t>
            </a:r>
            <a:r>
              <a:rPr lang="ko-KR" altLang="en-US" sz="900" spc="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lang="en-US" altLang="ko-KR"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2</a:t>
            </a:r>
            <a:r>
              <a:rPr lang="ko-KR" altLang="en-US"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번</a:t>
            </a:r>
            <a:r>
              <a:rPr lang="ko-KR" altLang="en-US" sz="900" spc="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lang="ko-KR" altLang="en-US"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출구</a:t>
            </a:r>
            <a:r>
              <a:rPr lang="ko-KR" altLang="en-US" sz="900" spc="2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lang="en-US" altLang="ko-KR"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(</a:t>
            </a:r>
            <a:r>
              <a:rPr lang="ko-KR" altLang="en-US"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도보</a:t>
            </a:r>
            <a:r>
              <a:rPr lang="ko-KR" altLang="en-US" sz="900" spc="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lang="en-US" altLang="ko-KR" sz="900" spc="-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15</a:t>
            </a:r>
            <a:r>
              <a:rPr lang="ko-KR" altLang="en-US" sz="900" spc="-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분</a:t>
            </a:r>
            <a:r>
              <a:rPr lang="en-US" altLang="ko-KR" sz="900" spc="-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)</a:t>
            </a:r>
            <a:endParaRPr lang="ko-KR" altLang="en-US" sz="900" dirty="0">
              <a:latin typeface="Noto Serif KR Light" panose="02020200000000000000" pitchFamily="18" charset="-127"/>
              <a:ea typeface="Noto Serif KR Light" panose="02020200000000000000" pitchFamily="18" charset="-127"/>
              <a:cs typeface="Malgun Gothic"/>
            </a:endParaRPr>
          </a:p>
          <a:p>
            <a:pPr marL="202565" marR="192405">
              <a:lnSpc>
                <a:spcPct val="143500"/>
              </a:lnSpc>
              <a:spcBef>
                <a:spcPts val="1450"/>
              </a:spcBef>
            </a:pPr>
            <a:endParaRPr sz="9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9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962400" y="1714575"/>
            <a:ext cx="2952750" cy="2197025"/>
            <a:chOff x="3962400" y="1714575"/>
            <a:chExt cx="2952750" cy="2143125"/>
          </a:xfrm>
        </p:grpSpPr>
        <p:sp>
          <p:nvSpPr>
            <p:cNvPr id="10" name="object 10"/>
            <p:cNvSpPr/>
            <p:nvPr/>
          </p:nvSpPr>
          <p:spPr>
            <a:xfrm>
              <a:off x="3962400" y="1714575"/>
              <a:ext cx="2952750" cy="2143125"/>
            </a:xfrm>
            <a:custGeom>
              <a:avLst/>
              <a:gdLst/>
              <a:ahLst/>
              <a:cxnLst/>
              <a:rect l="l" t="t" r="r" b="b"/>
              <a:pathLst>
                <a:path w="2952750" h="2143125">
                  <a:moveTo>
                    <a:pt x="2952750" y="2143125"/>
                  </a:moveTo>
                  <a:lnTo>
                    <a:pt x="0" y="2143125"/>
                  </a:lnTo>
                  <a:lnTo>
                    <a:pt x="0" y="0"/>
                  </a:lnTo>
                  <a:lnTo>
                    <a:pt x="2952750" y="0"/>
                  </a:lnTo>
                  <a:lnTo>
                    <a:pt x="2952750" y="2143125"/>
                  </a:lnTo>
                  <a:close/>
                </a:path>
              </a:pathLst>
            </a:custGeom>
            <a:solidFill>
              <a:srgbClr val="ECE3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67162" y="1719338"/>
              <a:ext cx="2943225" cy="2133600"/>
            </a:xfrm>
            <a:custGeom>
              <a:avLst/>
              <a:gdLst/>
              <a:ahLst/>
              <a:cxnLst/>
              <a:rect l="l" t="t" r="r" b="b"/>
              <a:pathLst>
                <a:path w="2943225" h="2133600">
                  <a:moveTo>
                    <a:pt x="0" y="0"/>
                  </a:moveTo>
                  <a:lnTo>
                    <a:pt x="2943225" y="0"/>
                  </a:lnTo>
                  <a:lnTo>
                    <a:pt x="2943225" y="2133600"/>
                  </a:lnTo>
                  <a:lnTo>
                    <a:pt x="0" y="21336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1C21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8600" y="1790775"/>
              <a:ext cx="2790825" cy="1981200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35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A97C28E-9825-551A-5A04-A603FB66C7F5}"/>
              </a:ext>
            </a:extLst>
          </p:cNvPr>
          <p:cNvSpPr/>
          <p:nvPr/>
        </p:nvSpPr>
        <p:spPr>
          <a:xfrm>
            <a:off x="857885" y="3676015"/>
            <a:ext cx="118582" cy="1185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4</a:t>
            </a:r>
            <a:endParaRPr lang="ko-KR" altLang="en-US" sz="1600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ADD477A-E209-599E-F0BC-8AE465C6BAB5}"/>
              </a:ext>
            </a:extLst>
          </p:cNvPr>
          <p:cNvSpPr/>
          <p:nvPr/>
        </p:nvSpPr>
        <p:spPr>
          <a:xfrm>
            <a:off x="857885" y="3869888"/>
            <a:ext cx="118582" cy="118582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1</a:t>
            </a:r>
            <a:endParaRPr lang="ko-KR" altLang="en-US" dirty="0">
              <a:latin typeface="Noto Serif KR Light" panose="02020200000000000000" pitchFamily="18" charset="-127"/>
              <a:ea typeface="Noto Serif KR Light" panose="02020200000000000000" pitchFamily="18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65B627B-098C-70D1-9AEE-0B5F36EE422B}"/>
              </a:ext>
            </a:extLst>
          </p:cNvPr>
          <p:cNvSpPr/>
          <p:nvPr/>
        </p:nvSpPr>
        <p:spPr>
          <a:xfrm>
            <a:off x="857885" y="4063761"/>
            <a:ext cx="118582" cy="118582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latin typeface="Noto Serif KR Light" panose="02020200000000000000" pitchFamily="18" charset="-127"/>
                <a:ea typeface="Noto Serif KR Light" panose="02020200000000000000" pitchFamily="18" charset="-127"/>
              </a:rPr>
              <a:t>6</a:t>
            </a:r>
            <a:endParaRPr lang="ko-KR" alt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98" y="649287"/>
            <a:ext cx="826135" cy="1218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S</a:t>
            </a:r>
            <a:r>
              <a:rPr sz="700" spc="-19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P</a:t>
            </a:r>
            <a:r>
              <a:rPr sz="700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O</a:t>
            </a:r>
            <a:r>
              <a:rPr sz="700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N</a:t>
            </a:r>
            <a:r>
              <a:rPr sz="700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S</a:t>
            </a:r>
            <a:r>
              <a:rPr sz="700" spc="-19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O</a:t>
            </a:r>
            <a:r>
              <a:rPr sz="700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R</a:t>
            </a:r>
            <a:r>
              <a:rPr sz="700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S</a:t>
            </a:r>
            <a:r>
              <a:rPr sz="700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H</a:t>
            </a:r>
            <a:r>
              <a:rPr sz="700" spc="-19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I</a:t>
            </a:r>
            <a:r>
              <a:rPr sz="700" spc="-185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700" spc="-5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P</a:t>
            </a:r>
            <a:endParaRPr sz="700" dirty="0">
              <a:latin typeface="Georgia" panose="02040502050405020303" pitchFamily="18" charset="0"/>
              <a:cs typeface="Consola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5298" y="751490"/>
            <a:ext cx="2125345" cy="400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80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후원</a:t>
            </a:r>
            <a:r>
              <a:rPr spc="-245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 </a:t>
            </a:r>
            <a:r>
              <a:rPr spc="-370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및</a:t>
            </a:r>
            <a:r>
              <a:rPr spc="-235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 </a:t>
            </a:r>
            <a:r>
              <a:rPr spc="-380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협력</a:t>
            </a:r>
            <a:r>
              <a:rPr spc="-229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 </a:t>
            </a:r>
            <a:r>
              <a:rPr spc="-405" dirty="0">
                <a:latin typeface="Noto Serif KR SemiBold" panose="02020200000000000000" pitchFamily="18" charset="-127"/>
                <a:ea typeface="Noto Serif KR SemiBold" panose="02020200000000000000" pitchFamily="18" charset="-127"/>
              </a:rPr>
              <a:t>안내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71481" y="958850"/>
            <a:ext cx="1416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solidFill>
                  <a:srgbClr val="596074"/>
                </a:solidFill>
                <a:latin typeface="Consolas"/>
                <a:cs typeface="Consolas"/>
              </a:rPr>
              <a:t>09</a:t>
            </a:r>
            <a:endParaRPr sz="75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5298" y="1658747"/>
            <a:ext cx="5772150" cy="4274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9700"/>
              </a:lnSpc>
              <a:spcBef>
                <a:spcPts val="95"/>
              </a:spcBef>
            </a:pPr>
            <a:r>
              <a:rPr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VAN</a:t>
            </a:r>
            <a:r>
              <a:rPr sz="900" spc="1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컨퍼런스는</a:t>
            </a:r>
            <a:r>
              <a:rPr sz="900" spc="1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청년</a:t>
            </a:r>
            <a:r>
              <a:rPr sz="900" spc="10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세대가</a:t>
            </a:r>
            <a:r>
              <a:rPr sz="900" spc="1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기술혁신과</a:t>
            </a:r>
            <a:r>
              <a:rPr sz="900" spc="10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사회·정치혁신의</a:t>
            </a:r>
            <a:r>
              <a:rPr sz="900" spc="1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방향을</a:t>
            </a:r>
            <a:r>
              <a:rPr sz="900" spc="10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함께</a:t>
            </a:r>
            <a:r>
              <a:rPr sz="900" spc="1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질문하는</a:t>
            </a:r>
            <a:r>
              <a:rPr sz="900" spc="10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공론장입니다.</a:t>
            </a:r>
            <a:r>
              <a:rPr sz="900" spc="1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본</a:t>
            </a:r>
            <a:r>
              <a:rPr sz="900" spc="1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행사의</a:t>
            </a:r>
            <a:r>
              <a:rPr sz="900" spc="10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900" spc="-5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취 </a:t>
            </a:r>
            <a:r>
              <a:rPr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지에</a:t>
            </a:r>
            <a:r>
              <a:rPr sz="900" spc="8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공감하는</a:t>
            </a:r>
            <a:r>
              <a:rPr sz="900" spc="8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개인,</a:t>
            </a:r>
            <a:r>
              <a:rPr sz="900" spc="8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기관,</a:t>
            </a:r>
            <a:r>
              <a:rPr sz="900" spc="8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기업,</a:t>
            </a:r>
            <a:r>
              <a:rPr sz="900" spc="8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단체,</a:t>
            </a:r>
            <a:r>
              <a:rPr sz="900" spc="9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알럼나이의</a:t>
            </a:r>
            <a:r>
              <a:rPr sz="900" spc="8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후원과</a:t>
            </a:r>
            <a:r>
              <a:rPr sz="900" spc="8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9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협력을</a:t>
            </a:r>
            <a:r>
              <a:rPr sz="900" spc="8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900" spc="-1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기다립니다.</a:t>
            </a:r>
            <a:endParaRPr sz="900" dirty="0">
              <a:latin typeface="Noto Serif KR Light" panose="02020200000000000000" pitchFamily="18" charset="-127"/>
              <a:ea typeface="Noto Serif KR Light" panose="02020200000000000000" pitchFamily="18" charset="-127"/>
              <a:cs typeface="Malgun Gothic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47700" y="2438399"/>
            <a:ext cx="3028950" cy="2762250"/>
            <a:chOff x="647700" y="2438399"/>
            <a:chExt cx="3028950" cy="2762250"/>
          </a:xfrm>
        </p:grpSpPr>
        <p:sp>
          <p:nvSpPr>
            <p:cNvPr id="7" name="object 7"/>
            <p:cNvSpPr/>
            <p:nvPr/>
          </p:nvSpPr>
          <p:spPr>
            <a:xfrm>
              <a:off x="647700" y="2438399"/>
              <a:ext cx="3028950" cy="2762250"/>
            </a:xfrm>
            <a:custGeom>
              <a:avLst/>
              <a:gdLst/>
              <a:ahLst/>
              <a:cxnLst/>
              <a:rect l="l" t="t" r="r" b="b"/>
              <a:pathLst>
                <a:path w="3028950" h="2762250">
                  <a:moveTo>
                    <a:pt x="3028950" y="2762250"/>
                  </a:moveTo>
                  <a:lnTo>
                    <a:pt x="0" y="2762250"/>
                  </a:lnTo>
                  <a:lnTo>
                    <a:pt x="0" y="0"/>
                  </a:lnTo>
                  <a:lnTo>
                    <a:pt x="3028950" y="0"/>
                  </a:lnTo>
                  <a:lnTo>
                    <a:pt x="3028950" y="2762250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2462" y="2443162"/>
              <a:ext cx="3019425" cy="2752725"/>
            </a:xfrm>
            <a:custGeom>
              <a:avLst/>
              <a:gdLst/>
              <a:ahLst/>
              <a:cxnLst/>
              <a:rect l="l" t="t" r="r" b="b"/>
              <a:pathLst>
                <a:path w="3019425" h="2752725">
                  <a:moveTo>
                    <a:pt x="0" y="0"/>
                  </a:moveTo>
                  <a:lnTo>
                    <a:pt x="3019425" y="0"/>
                  </a:lnTo>
                  <a:lnTo>
                    <a:pt x="3019425" y="2752725"/>
                  </a:lnTo>
                  <a:lnTo>
                    <a:pt x="0" y="275272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1C21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55464" y="2612961"/>
            <a:ext cx="2612390" cy="6788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00" b="1" spc="-22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후원</a:t>
            </a:r>
            <a:r>
              <a:rPr sz="1500" b="1" spc="-12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1500" b="1" spc="-2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계좌</a:t>
            </a:r>
            <a:endParaRPr sz="15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  <a:p>
            <a:pPr marR="5080">
              <a:lnSpc>
                <a:spcPct val="148400"/>
              </a:lnSpc>
              <a:spcBef>
                <a:spcPts val="459"/>
              </a:spcBef>
            </a:pP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후원금은</a:t>
            </a:r>
            <a:r>
              <a:rPr sz="800" spc="6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VAN</a:t>
            </a:r>
            <a:r>
              <a:rPr sz="800" spc="6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컨퍼런스</a:t>
            </a:r>
            <a:r>
              <a:rPr sz="800" spc="6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운영</a:t>
            </a:r>
            <a:r>
              <a:rPr sz="800" spc="6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및</a:t>
            </a:r>
            <a:r>
              <a:rPr sz="800" spc="6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청년</a:t>
            </a:r>
            <a:r>
              <a:rPr sz="800" spc="6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공론장</a:t>
            </a:r>
            <a:r>
              <a:rPr sz="800" spc="6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조성을</a:t>
            </a:r>
            <a:r>
              <a:rPr sz="800" spc="6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spc="-5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위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한</a:t>
            </a:r>
            <a:r>
              <a:rPr sz="800" spc="6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행사</a:t>
            </a:r>
            <a:r>
              <a:rPr sz="800" spc="6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운영비로</a:t>
            </a:r>
            <a:r>
              <a:rPr sz="800" spc="6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spc="-1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사용됩니다.</a:t>
            </a:r>
            <a:endParaRPr sz="800" dirty="0">
              <a:latin typeface="Noto Serif KR Light" panose="02020200000000000000" pitchFamily="18" charset="-127"/>
              <a:ea typeface="Noto Serif KR Light" panose="02020200000000000000" pitchFamily="18" charset="-127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5464" y="3459162"/>
            <a:ext cx="229870" cy="1096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B</a:t>
            </a:r>
            <a:r>
              <a:rPr sz="600" spc="-21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A</a:t>
            </a:r>
            <a:r>
              <a:rPr sz="600" spc="-204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N</a:t>
            </a:r>
            <a:r>
              <a:rPr sz="600" spc="-21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K</a:t>
            </a:r>
            <a:endParaRPr sz="600">
              <a:latin typeface="Georgia" panose="02040502050405020303" pitchFamily="18" charset="0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07241" y="3469640"/>
            <a:ext cx="447040" cy="144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50" spc="-20" dirty="0">
                <a:solidFill>
                  <a:srgbClr val="1C2136"/>
                </a:solidFill>
                <a:latin typeface="Malgun Gothic"/>
                <a:cs typeface="Malgun Gothic"/>
              </a:rPr>
              <a:t>토스뱅크</a:t>
            </a:r>
            <a:endParaRPr sz="850" dirty="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5464" y="3735387"/>
            <a:ext cx="402590" cy="1096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A</a:t>
            </a:r>
            <a:r>
              <a:rPr sz="600" spc="-21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C</a:t>
            </a:r>
            <a:r>
              <a:rPr sz="600" spc="-204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C</a:t>
            </a:r>
            <a:r>
              <a:rPr sz="600" spc="-21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O</a:t>
            </a:r>
            <a:r>
              <a:rPr sz="600" spc="-204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U</a:t>
            </a:r>
            <a:r>
              <a:rPr sz="600" spc="-21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N</a:t>
            </a:r>
            <a:r>
              <a:rPr sz="600" spc="-204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T</a:t>
            </a:r>
            <a:endParaRPr sz="600">
              <a:latin typeface="Georgia" panose="02040502050405020303" pitchFamily="18" charset="0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07241" y="3745865"/>
            <a:ext cx="857885" cy="144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50" dirty="0">
                <a:solidFill>
                  <a:srgbClr val="1C2136"/>
                </a:solidFill>
                <a:latin typeface="Malgun Gothic"/>
                <a:cs typeface="Malgun Gothic"/>
              </a:rPr>
              <a:t>1002-3139-</a:t>
            </a:r>
            <a:r>
              <a:rPr sz="850" spc="-20" dirty="0">
                <a:solidFill>
                  <a:srgbClr val="1C2136"/>
                </a:solidFill>
                <a:latin typeface="Malgun Gothic"/>
                <a:cs typeface="Malgun Gothic"/>
              </a:rPr>
              <a:t>5718</a:t>
            </a:r>
            <a:endParaRPr sz="850" dirty="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55464" y="4011612"/>
            <a:ext cx="344805" cy="1096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H</a:t>
            </a:r>
            <a:r>
              <a:rPr sz="600" spc="-21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O</a:t>
            </a:r>
            <a:r>
              <a:rPr sz="600" spc="-204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L</a:t>
            </a:r>
            <a:r>
              <a:rPr sz="600" spc="-21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D</a:t>
            </a:r>
            <a:r>
              <a:rPr sz="600" spc="-204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E</a:t>
            </a:r>
            <a:r>
              <a:rPr sz="600" spc="-21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R</a:t>
            </a:r>
            <a:endParaRPr sz="600">
              <a:latin typeface="Georgia" panose="02040502050405020303" pitchFamily="18" charset="0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07241" y="4022090"/>
            <a:ext cx="242570" cy="144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50" spc="-25" dirty="0">
                <a:solidFill>
                  <a:srgbClr val="1C2136"/>
                </a:solidFill>
                <a:latin typeface="Malgun Gothic"/>
                <a:cs typeface="Malgun Gothic"/>
              </a:rPr>
              <a:t>VAN</a:t>
            </a:r>
            <a:endParaRPr sz="850" dirty="0">
              <a:latin typeface="Malgun Gothic"/>
              <a:cs typeface="Malgun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5464" y="4313554"/>
            <a:ext cx="2618105" cy="654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40600"/>
              </a:lnSpc>
              <a:spcBef>
                <a:spcPts val="95"/>
              </a:spcBef>
            </a:pP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입금자명은</a:t>
            </a:r>
            <a:r>
              <a:rPr sz="800" spc="1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가급적</a:t>
            </a:r>
            <a:r>
              <a:rPr sz="800" spc="1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“성함+VAN후원”</a:t>
            </a:r>
            <a:r>
              <a:rPr sz="800" spc="1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형식으로</a:t>
            </a:r>
            <a:r>
              <a:rPr sz="800" spc="1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spc="-2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기재해주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시기</a:t>
            </a:r>
            <a:r>
              <a:rPr sz="800" spc="5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spc="-1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바랍니다.</a:t>
            </a:r>
            <a:endParaRPr sz="800" dirty="0">
              <a:latin typeface="Noto Serif KR Light" panose="02020200000000000000" pitchFamily="18" charset="-127"/>
              <a:ea typeface="Noto Serif KR Light" panose="02020200000000000000" pitchFamily="18" charset="-127"/>
              <a:cs typeface="Malgun Gothic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예시:</a:t>
            </a:r>
            <a:r>
              <a:rPr sz="800" spc="5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spc="-1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홍길동VAN후원</a:t>
            </a:r>
            <a:endParaRPr sz="800" dirty="0">
              <a:latin typeface="Noto Serif KR Light" panose="02020200000000000000" pitchFamily="18" charset="-127"/>
              <a:ea typeface="Noto Serif KR Light" panose="02020200000000000000" pitchFamily="18" charset="-127"/>
              <a:cs typeface="Malgun Gothic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886200" y="2438399"/>
            <a:ext cx="3028950" cy="2762250"/>
            <a:chOff x="3886200" y="2438399"/>
            <a:chExt cx="3028950" cy="2762250"/>
          </a:xfrm>
        </p:grpSpPr>
        <p:sp>
          <p:nvSpPr>
            <p:cNvPr id="18" name="object 18"/>
            <p:cNvSpPr/>
            <p:nvPr/>
          </p:nvSpPr>
          <p:spPr>
            <a:xfrm>
              <a:off x="3886200" y="2438399"/>
              <a:ext cx="3028950" cy="2762250"/>
            </a:xfrm>
            <a:custGeom>
              <a:avLst/>
              <a:gdLst/>
              <a:ahLst/>
              <a:cxnLst/>
              <a:rect l="l" t="t" r="r" b="b"/>
              <a:pathLst>
                <a:path w="3028950" h="2762250">
                  <a:moveTo>
                    <a:pt x="3028950" y="2762250"/>
                  </a:moveTo>
                  <a:lnTo>
                    <a:pt x="0" y="2762250"/>
                  </a:lnTo>
                  <a:lnTo>
                    <a:pt x="0" y="0"/>
                  </a:lnTo>
                  <a:lnTo>
                    <a:pt x="3028950" y="0"/>
                  </a:lnTo>
                  <a:lnTo>
                    <a:pt x="3028950" y="2762250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90962" y="2443162"/>
              <a:ext cx="3019425" cy="2752725"/>
            </a:xfrm>
            <a:custGeom>
              <a:avLst/>
              <a:gdLst/>
              <a:ahLst/>
              <a:cxnLst/>
              <a:rect l="l" t="t" r="r" b="b"/>
              <a:pathLst>
                <a:path w="3019425" h="2752725">
                  <a:moveTo>
                    <a:pt x="0" y="0"/>
                  </a:moveTo>
                  <a:lnTo>
                    <a:pt x="3019425" y="0"/>
                  </a:lnTo>
                  <a:lnTo>
                    <a:pt x="3019425" y="2752725"/>
                  </a:lnTo>
                  <a:lnTo>
                    <a:pt x="0" y="275272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1C21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095302" y="2595336"/>
            <a:ext cx="2576830" cy="663387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1500" b="1" spc="-210" dirty="0" err="1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후원</a:t>
            </a:r>
            <a:r>
              <a:rPr lang="en-US" sz="1650" b="1" spc="-210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&amp; </a:t>
            </a:r>
            <a:r>
              <a:rPr sz="1500" b="1" spc="-210" dirty="0" err="1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협찬</a:t>
            </a:r>
            <a:r>
              <a:rPr sz="1500" b="1" spc="-110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1500" b="1" spc="-22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관련</a:t>
            </a:r>
            <a:r>
              <a:rPr sz="1500" b="1" spc="-110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 </a:t>
            </a:r>
            <a:r>
              <a:rPr sz="1500" b="1" spc="-25" dirty="0">
                <a:solidFill>
                  <a:srgbClr val="1C2136"/>
                </a:solidFill>
                <a:latin typeface="Noto Serif KR SemiBold" panose="02020200000000000000" pitchFamily="18" charset="-127"/>
                <a:ea typeface="Noto Serif KR SemiBold" panose="02020200000000000000" pitchFamily="18" charset="-127"/>
                <a:cs typeface="Malgun Gothic"/>
              </a:rPr>
              <a:t>문의</a:t>
            </a:r>
            <a:endParaRPr sz="1500" dirty="0">
              <a:latin typeface="Noto Serif KR SemiBold" panose="02020200000000000000" pitchFamily="18" charset="-127"/>
              <a:ea typeface="Noto Serif KR SemiBold" panose="02020200000000000000" pitchFamily="18" charset="-127"/>
              <a:cs typeface="Malgun Gothic"/>
            </a:endParaRPr>
          </a:p>
          <a:p>
            <a:pPr marR="5080">
              <a:lnSpc>
                <a:spcPct val="148400"/>
              </a:lnSpc>
              <a:spcBef>
                <a:spcPts val="430"/>
              </a:spcBef>
            </a:pP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기업,</a:t>
            </a:r>
            <a:r>
              <a:rPr sz="800" spc="6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기관,</a:t>
            </a:r>
            <a:r>
              <a:rPr sz="800" spc="6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단체,</a:t>
            </a:r>
            <a:r>
              <a:rPr sz="800" spc="6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알럼나이</a:t>
            </a:r>
            <a:r>
              <a:rPr sz="800" spc="6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후원</a:t>
            </a:r>
            <a:r>
              <a:rPr sz="800" spc="6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또는</a:t>
            </a:r>
            <a:r>
              <a:rPr sz="800" spc="6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협찬</a:t>
            </a:r>
            <a:r>
              <a:rPr sz="800" spc="6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관련</a:t>
            </a:r>
            <a:r>
              <a:rPr sz="800" spc="6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spc="-2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문의는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아래</a:t>
            </a:r>
            <a:r>
              <a:rPr sz="800" spc="9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채널로</a:t>
            </a:r>
            <a:r>
              <a:rPr sz="800" spc="9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연락해주시기</a:t>
            </a:r>
            <a:r>
              <a:rPr sz="800" spc="9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800" spc="-1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바랍니다.</a:t>
            </a:r>
            <a:endParaRPr sz="800" dirty="0">
              <a:latin typeface="Noto Serif KR Light" panose="02020200000000000000" pitchFamily="18" charset="-127"/>
              <a:ea typeface="Noto Serif KR Light" panose="02020200000000000000" pitchFamily="18" charset="-127"/>
              <a:cs typeface="Malgun Gothic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35"/>
              </a:lnSpc>
            </a:pPr>
            <a:r>
              <a:rPr spc="-25" dirty="0"/>
              <a:t>0</a:t>
            </a: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21" name="object 21"/>
          <p:cNvSpPr txBox="1"/>
          <p:nvPr/>
        </p:nvSpPr>
        <p:spPr>
          <a:xfrm>
            <a:off x="4095302" y="3459162"/>
            <a:ext cx="287655" cy="1096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E</a:t>
            </a:r>
            <a:r>
              <a:rPr sz="600" spc="-21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M</a:t>
            </a:r>
            <a:r>
              <a:rPr sz="600" spc="-204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A</a:t>
            </a:r>
            <a:r>
              <a:rPr sz="600" spc="-21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I</a:t>
            </a:r>
            <a:r>
              <a:rPr sz="600" spc="-204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L</a:t>
            </a:r>
            <a:endParaRPr sz="600" dirty="0">
              <a:latin typeface="Georgia" panose="02040502050405020303" pitchFamily="18" charset="0"/>
              <a:cs typeface="Consola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47084" y="3469640"/>
            <a:ext cx="1211580" cy="144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50" u="sng" spc="-10" dirty="0">
                <a:solidFill>
                  <a:srgbClr val="1C2136"/>
                </a:solidFill>
                <a:latin typeface="Malgun Gothic"/>
                <a:cs typeface="Malgun Gothic"/>
                <a:hlinkClick r:id="rId2"/>
              </a:rPr>
              <a:t>veritas_van@naver.com</a:t>
            </a:r>
            <a:endParaRPr sz="850" u="sng" dirty="0">
              <a:latin typeface="Malgun Gothic"/>
              <a:cs typeface="Malgun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95302" y="3735387"/>
            <a:ext cx="517525" cy="1096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I</a:t>
            </a:r>
            <a:r>
              <a:rPr sz="600" spc="-21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N</a:t>
            </a:r>
            <a:r>
              <a:rPr sz="600" spc="-204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S</a:t>
            </a:r>
            <a:r>
              <a:rPr sz="600" spc="-21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T</a:t>
            </a:r>
            <a:r>
              <a:rPr sz="600" spc="-204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A</a:t>
            </a:r>
            <a:r>
              <a:rPr sz="600" spc="-21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G</a:t>
            </a:r>
            <a:r>
              <a:rPr sz="600" spc="-204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R</a:t>
            </a:r>
            <a:r>
              <a:rPr sz="600" spc="-21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A</a:t>
            </a:r>
            <a:r>
              <a:rPr sz="600" spc="-204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 </a:t>
            </a:r>
            <a:r>
              <a:rPr sz="600" spc="-50" dirty="0">
                <a:solidFill>
                  <a:srgbClr val="A7814D"/>
                </a:solidFill>
                <a:latin typeface="Georgia" panose="02040502050405020303" pitchFamily="18" charset="0"/>
                <a:cs typeface="Consolas"/>
              </a:rPr>
              <a:t>M</a:t>
            </a:r>
            <a:endParaRPr sz="600" dirty="0">
              <a:latin typeface="Georgia" panose="02040502050405020303" pitchFamily="18" charset="0"/>
              <a:cs typeface="Consola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47084" y="3745865"/>
            <a:ext cx="687705" cy="144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50" spc="-10" dirty="0">
                <a:solidFill>
                  <a:srgbClr val="1C2136"/>
                </a:solidFill>
                <a:latin typeface="Malgun Gothic"/>
                <a:cs typeface="Malgun Gothic"/>
              </a:rPr>
              <a:t>@veritas_van</a:t>
            </a:r>
            <a:endParaRPr sz="850" dirty="0">
              <a:latin typeface="Malgun Gothic"/>
              <a:cs typeface="Malgun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5298" y="5349874"/>
            <a:ext cx="6220460" cy="3044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75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후원금은</a:t>
            </a:r>
            <a:r>
              <a:rPr sz="750" spc="-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75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VAN 컨퍼런스</a:t>
            </a:r>
            <a:r>
              <a:rPr sz="750" spc="-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75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운영 및</a:t>
            </a:r>
            <a:r>
              <a:rPr sz="750" spc="-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75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청년 공론장</a:t>
            </a:r>
            <a:r>
              <a:rPr sz="750" spc="-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75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조성을 위한</a:t>
            </a:r>
            <a:r>
              <a:rPr sz="750" spc="-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75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행사 운영비로</a:t>
            </a:r>
            <a:r>
              <a:rPr sz="750" spc="-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75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사용됩니다. 세부</a:t>
            </a:r>
            <a:r>
              <a:rPr sz="750" spc="-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75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후원 방식,</a:t>
            </a:r>
            <a:r>
              <a:rPr sz="750" spc="-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75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증빙 처리,</a:t>
            </a:r>
            <a:r>
              <a:rPr sz="750" spc="-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75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기부금 영수증</a:t>
            </a:r>
            <a:r>
              <a:rPr sz="750" spc="-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 </a:t>
            </a:r>
            <a:r>
              <a:rPr sz="75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발급 여부는 </a:t>
            </a:r>
            <a:r>
              <a:rPr sz="750" spc="-25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문의 </a:t>
            </a:r>
            <a:r>
              <a:rPr sz="75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후 별도 </a:t>
            </a:r>
            <a:r>
              <a:rPr sz="750" spc="-10" dirty="0">
                <a:solidFill>
                  <a:srgbClr val="596074"/>
                </a:solidFill>
                <a:latin typeface="Noto Serif KR Light" panose="02020200000000000000" pitchFamily="18" charset="-127"/>
                <a:ea typeface="Noto Serif KR Light" panose="02020200000000000000" pitchFamily="18" charset="-127"/>
                <a:cs typeface="Malgun Gothic"/>
              </a:rPr>
              <a:t>안내드립니다.</a:t>
            </a:r>
            <a:endParaRPr sz="750" dirty="0">
              <a:latin typeface="Noto Serif KR Light" panose="02020200000000000000" pitchFamily="18" charset="-127"/>
              <a:ea typeface="Noto Serif KR Light" panose="02020200000000000000" pitchFamily="18" charset="-127"/>
              <a:cs typeface="Malgun Gothic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08BCF019-3933-3E27-82A9-7BD2735641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217" y="4072889"/>
            <a:ext cx="687705" cy="7901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6025" y="3905249"/>
            <a:ext cx="2590800" cy="165735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771775" y="6000673"/>
            <a:ext cx="2019300" cy="9525"/>
          </a:xfrm>
          <a:custGeom>
            <a:avLst/>
            <a:gdLst/>
            <a:ahLst/>
            <a:cxnLst/>
            <a:rect l="l" t="t" r="r" b="b"/>
            <a:pathLst>
              <a:path w="2019300" h="9525">
                <a:moveTo>
                  <a:pt x="2019300" y="9525"/>
                </a:moveTo>
                <a:lnTo>
                  <a:pt x="0" y="9525"/>
                </a:lnTo>
                <a:lnTo>
                  <a:pt x="0" y="0"/>
                </a:lnTo>
                <a:lnTo>
                  <a:pt x="2019300" y="0"/>
                </a:lnTo>
                <a:lnTo>
                  <a:pt x="2019300" y="9525"/>
                </a:lnTo>
                <a:close/>
              </a:path>
            </a:pathLst>
          </a:custGeom>
          <a:solidFill>
            <a:srgbClr val="ECE7DB">
              <a:alpha val="160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91492" y="6543888"/>
            <a:ext cx="2371090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solidFill>
                  <a:srgbClr val="BEC2CD"/>
                </a:solidFill>
                <a:latin typeface="Century"/>
                <a:cs typeface="Century"/>
              </a:rPr>
              <a:t>The </a:t>
            </a:r>
            <a:r>
              <a:rPr sz="1300" spc="-25" dirty="0">
                <a:solidFill>
                  <a:srgbClr val="BEC2CD"/>
                </a:solidFill>
                <a:latin typeface="Century"/>
                <a:cs typeface="Century"/>
              </a:rPr>
              <a:t>Arena</a:t>
            </a:r>
            <a:r>
              <a:rPr sz="1300" dirty="0">
                <a:solidFill>
                  <a:srgbClr val="BEC2CD"/>
                </a:solidFill>
                <a:latin typeface="Century"/>
                <a:cs typeface="Century"/>
              </a:rPr>
              <a:t> of Innovation </a:t>
            </a:r>
            <a:r>
              <a:rPr sz="1250" dirty="0">
                <a:solidFill>
                  <a:srgbClr val="BEC2CD"/>
                </a:solidFill>
                <a:latin typeface="Times New Roman"/>
                <a:cs typeface="Times New Roman"/>
              </a:rPr>
              <a:t>·</a:t>
            </a:r>
            <a:r>
              <a:rPr sz="1250" spc="50" dirty="0">
                <a:solidFill>
                  <a:srgbClr val="BEC2CD"/>
                </a:solidFill>
                <a:latin typeface="Times New Roman"/>
                <a:cs typeface="Times New Roman"/>
              </a:rPr>
              <a:t> </a:t>
            </a:r>
            <a:r>
              <a:rPr sz="1300" spc="-40" dirty="0">
                <a:solidFill>
                  <a:srgbClr val="BEC2CD"/>
                </a:solidFill>
                <a:latin typeface="Century"/>
                <a:cs typeface="Century"/>
              </a:rPr>
              <a:t>2026</a:t>
            </a:r>
            <a:endParaRPr sz="1300">
              <a:latin typeface="Century"/>
              <a:cs typeface="Century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84282" y="10134357"/>
            <a:ext cx="130175" cy="111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30"/>
              </a:lnSpc>
            </a:pPr>
            <a:r>
              <a:rPr sz="650" spc="-25" dirty="0">
                <a:solidFill>
                  <a:srgbClr val="C8A062"/>
                </a:solidFill>
                <a:latin typeface="Consolas"/>
                <a:cs typeface="Consolas"/>
              </a:rPr>
              <a:t>10</a:t>
            </a:r>
            <a:endParaRPr sz="650">
              <a:latin typeface="Consolas"/>
              <a:cs typeface="Consolas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6B636DB7-88CA-620F-F744-11FEB29A218B}"/>
              </a:ext>
            </a:extLst>
          </p:cNvPr>
          <p:cNvSpPr/>
          <p:nvPr/>
        </p:nvSpPr>
        <p:spPr>
          <a:xfrm>
            <a:off x="0" y="360620"/>
            <a:ext cx="7556500" cy="63500"/>
          </a:xfrm>
          <a:custGeom>
            <a:avLst/>
            <a:gdLst/>
            <a:ahLst/>
            <a:cxnLst/>
            <a:rect l="l" t="t" r="r" b="b"/>
            <a:pathLst>
              <a:path w="7556500" h="63500">
                <a:moveTo>
                  <a:pt x="0" y="62998"/>
                </a:moveTo>
                <a:lnTo>
                  <a:pt x="4304922" y="62998"/>
                </a:lnTo>
                <a:lnTo>
                  <a:pt x="4514918" y="0"/>
                </a:lnTo>
                <a:lnTo>
                  <a:pt x="7555992" y="0"/>
                </a:lnTo>
              </a:path>
            </a:pathLst>
          </a:custGeom>
          <a:ln w="5249">
            <a:solidFill>
              <a:srgbClr val="ECE7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C213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Words>1311</Words>
  <Application>Microsoft Office PowerPoint</Application>
  <PresentationFormat>사용자 지정</PresentationFormat>
  <Paragraphs>208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0" baseType="lpstr">
      <vt:lpstr>Noto Serif KR Light</vt:lpstr>
      <vt:lpstr>Noto Serif KR SemiBold</vt:lpstr>
      <vt:lpstr>Malgun Gothic</vt:lpstr>
      <vt:lpstr>Calibri</vt:lpstr>
      <vt:lpstr>Century</vt:lpstr>
      <vt:lpstr>Consolas</vt:lpstr>
      <vt:lpstr>Garamond</vt:lpstr>
      <vt:lpstr>Georgia</vt:lpstr>
      <vt:lpstr>Times New Roman</vt:lpstr>
      <vt:lpstr>Office Theme</vt:lpstr>
      <vt:lpstr>PowerPoint 프레젠테이션</vt:lpstr>
      <vt:lpstr>PowerPoint 프레젠테이션</vt:lpstr>
      <vt:lpstr>Time Table</vt:lpstr>
      <vt:lpstr>세션 구성</vt:lpstr>
      <vt:lpstr>확정 연사</vt:lpstr>
      <vt:lpstr>확정 연사</vt:lpstr>
      <vt:lpstr>디스커션  &amp; 네트워킹</vt:lpstr>
      <vt:lpstr>오시는 길</vt:lpstr>
      <vt:lpstr>후원 및 협력 안내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 Conference Invitation PDF</dc:title>
  <cp:lastModifiedBy>정영일 [학부 / 전기전자공학부]</cp:lastModifiedBy>
  <cp:revision>1</cp:revision>
  <dcterms:created xsi:type="dcterms:W3CDTF">2026-06-24T06:47:38Z</dcterms:created>
  <dcterms:modified xsi:type="dcterms:W3CDTF">2026-06-24T08:02:05Z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2026-06-24T00:00:00Z</vt:filetime>
  </property>
  <property fmtid="{D5CDD505-2E9C-101B-9397-08002B2CF9AE}" pid="3" name="Creator">
    <vt:lpwstr>Mozilla/5.0 (Windows NT 10.0; Win64; x64) AppleWebKit/537.36 (KHTML, like Gecko) HeadlessChrome/149.0.0.0 Safari/537.36</vt:lpwstr>
  </property>
  <property fmtid="{D5CDD505-2E9C-101B-9397-08002B2CF9AE}" pid="4" name="LastSaved">
    <vt:filetime>2026-06-24T00:00:00Z</vt:filetime>
  </property>
  <property fmtid="{D5CDD505-2E9C-101B-9397-08002B2CF9AE}" pid="5" name="Producer">
    <vt:lpwstr>3-Heights(TM) PDF Security Shell 4.8.25.2 (http://www.pdf-tools.com)</vt:lpwstr>
  </property>
</Properties>
</file>