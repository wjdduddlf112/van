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6" r:id="rId3"/>
    <p:sldId id="258" r:id="rId4"/>
    <p:sldId id="259" r:id="rId5"/>
    <p:sldId id="260" r:id="rId6"/>
    <p:sldId id="263" r:id="rId7"/>
    <p:sldId id="265" r:id="rId8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814D"/>
    <a:srgbClr val="D6D2CC"/>
    <a:srgbClr val="BEC2CD"/>
    <a:srgbClr val="898C97"/>
    <a:srgbClr val="DAC7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73" autoAdjust="0"/>
    <p:restoredTop sz="94660"/>
  </p:normalViewPr>
  <p:slideViewPr>
    <p:cSldViewPr>
      <p:cViewPr varScale="1">
        <p:scale>
          <a:sx n="85" d="100"/>
          <a:sy n="85" d="100"/>
        </p:scale>
        <p:origin x="324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4954"/>
            <a:ext cx="6423025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1" i="0">
                <a:solidFill>
                  <a:srgbClr val="1C2136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8304"/>
            <a:ext cx="528955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A7814D"/>
                </a:solidFill>
                <a:latin typeface="Consolas"/>
                <a:cs typeface="Consolas"/>
              </a:defRPr>
            </a:lvl1pPr>
          </a:lstStyle>
          <a:p>
            <a:pPr marL="12700">
              <a:lnSpc>
                <a:spcPts val="735"/>
              </a:lnSpc>
            </a:pPr>
            <a:r>
              <a:rPr spc="-25" dirty="0"/>
              <a:t>0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rgbClr val="1C2136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A7814D"/>
                </a:solidFill>
                <a:latin typeface="Consolas"/>
                <a:cs typeface="Consolas"/>
              </a:defRPr>
            </a:lvl1pPr>
          </a:lstStyle>
          <a:p>
            <a:pPr marL="12700">
              <a:lnSpc>
                <a:spcPts val="735"/>
              </a:lnSpc>
            </a:pPr>
            <a:r>
              <a:rPr spc="-25" dirty="0"/>
              <a:t>0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rgbClr val="1C2136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A7814D"/>
                </a:solidFill>
                <a:latin typeface="Consolas"/>
                <a:cs typeface="Consolas"/>
              </a:defRPr>
            </a:lvl1pPr>
          </a:lstStyle>
          <a:p>
            <a:pPr marL="12700">
              <a:lnSpc>
                <a:spcPts val="735"/>
              </a:lnSpc>
            </a:pPr>
            <a:r>
              <a:rPr spc="-25" dirty="0"/>
              <a:t>0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rgbClr val="1C2136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A7814D"/>
                </a:solidFill>
                <a:latin typeface="Consolas"/>
                <a:cs typeface="Consolas"/>
              </a:defRPr>
            </a:lvl1pPr>
          </a:lstStyle>
          <a:p>
            <a:pPr marL="12700">
              <a:lnSpc>
                <a:spcPts val="735"/>
              </a:lnSpc>
            </a:pPr>
            <a:r>
              <a:rPr spc="-25" dirty="0"/>
              <a:t>0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3"/>
            <a:ext cx="7556500" cy="10692130"/>
          </a:xfrm>
          <a:custGeom>
            <a:avLst/>
            <a:gdLst/>
            <a:ahLst/>
            <a:cxnLst/>
            <a:rect l="l" t="t" r="r" b="b"/>
            <a:pathLst>
              <a:path w="7556500" h="10692130">
                <a:moveTo>
                  <a:pt x="7555992" y="10691957"/>
                </a:moveTo>
                <a:lnTo>
                  <a:pt x="0" y="10691957"/>
                </a:lnTo>
                <a:lnTo>
                  <a:pt x="0" y="0"/>
                </a:lnTo>
                <a:lnTo>
                  <a:pt x="7555992" y="0"/>
                </a:lnTo>
                <a:lnTo>
                  <a:pt x="7555992" y="10691957"/>
                </a:lnTo>
                <a:close/>
              </a:path>
            </a:pathLst>
          </a:custGeom>
          <a:solidFill>
            <a:srgbClr val="1317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A7814D"/>
                </a:solidFill>
                <a:latin typeface="Consolas"/>
                <a:cs typeface="Consolas"/>
              </a:defRPr>
            </a:lvl1pPr>
          </a:lstStyle>
          <a:p>
            <a:pPr marL="12700">
              <a:lnSpc>
                <a:spcPts val="735"/>
              </a:lnSpc>
            </a:pPr>
            <a:r>
              <a:rPr spc="-25" dirty="0"/>
              <a:t>0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"/>
            <a:ext cx="7556500" cy="10692130"/>
          </a:xfrm>
          <a:custGeom>
            <a:avLst/>
            <a:gdLst/>
            <a:ahLst/>
            <a:cxnLst/>
            <a:rect l="l" t="t" r="r" b="b"/>
            <a:pathLst>
              <a:path w="7556500" h="10692130">
                <a:moveTo>
                  <a:pt x="7555992" y="10691957"/>
                </a:moveTo>
                <a:lnTo>
                  <a:pt x="0" y="10691957"/>
                </a:lnTo>
                <a:lnTo>
                  <a:pt x="0" y="0"/>
                </a:lnTo>
                <a:lnTo>
                  <a:pt x="7555992" y="0"/>
                </a:lnTo>
                <a:lnTo>
                  <a:pt x="7555992" y="10691957"/>
                </a:lnTo>
                <a:close/>
              </a:path>
            </a:pathLst>
          </a:custGeom>
          <a:solidFill>
            <a:srgbClr val="F4EF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47700" y="1419224"/>
            <a:ext cx="6267450" cy="9525"/>
          </a:xfrm>
          <a:custGeom>
            <a:avLst/>
            <a:gdLst/>
            <a:ahLst/>
            <a:cxnLst/>
            <a:rect l="l" t="t" r="r" b="b"/>
            <a:pathLst>
              <a:path w="6267450" h="9525">
                <a:moveTo>
                  <a:pt x="6267450" y="9525"/>
                </a:moveTo>
                <a:lnTo>
                  <a:pt x="0" y="9525"/>
                </a:lnTo>
                <a:lnTo>
                  <a:pt x="0" y="0"/>
                </a:lnTo>
                <a:lnTo>
                  <a:pt x="6267450" y="0"/>
                </a:lnTo>
                <a:lnTo>
                  <a:pt x="6267450" y="9525"/>
                </a:lnTo>
                <a:close/>
              </a:path>
            </a:pathLst>
          </a:custGeom>
          <a:solidFill>
            <a:srgbClr val="1C2136">
              <a:alpha val="141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35298" y="723018"/>
            <a:ext cx="2379980" cy="4345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1" i="0">
                <a:solidFill>
                  <a:srgbClr val="1C2136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057399"/>
            <a:ext cx="6343650" cy="4800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0" y="9944862"/>
            <a:ext cx="2418080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784282" y="10134434"/>
            <a:ext cx="168275" cy="1117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rgbClr val="A7814D"/>
                </a:solidFill>
                <a:latin typeface="Consolas"/>
                <a:cs typeface="Consolas"/>
              </a:defRPr>
            </a:lvl1pPr>
          </a:lstStyle>
          <a:p>
            <a:pPr marL="12700">
              <a:lnSpc>
                <a:spcPts val="735"/>
              </a:lnSpc>
            </a:pPr>
            <a:r>
              <a:rPr spc="-25" dirty="0"/>
              <a:t>0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ilto:veritas_van@naver.com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700" y="571499"/>
            <a:ext cx="1438275" cy="923925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647700" y="5724407"/>
            <a:ext cx="6267450" cy="685800"/>
          </a:xfrm>
          <a:custGeom>
            <a:avLst/>
            <a:gdLst/>
            <a:ahLst/>
            <a:cxnLst/>
            <a:rect l="l" t="t" r="r" b="b"/>
            <a:pathLst>
              <a:path w="6267450" h="685800">
                <a:moveTo>
                  <a:pt x="6267450" y="0"/>
                </a:moveTo>
                <a:lnTo>
                  <a:pt x="0" y="0"/>
                </a:lnTo>
                <a:lnTo>
                  <a:pt x="0" y="9525"/>
                </a:lnTo>
                <a:lnTo>
                  <a:pt x="1552575" y="9525"/>
                </a:lnTo>
                <a:lnTo>
                  <a:pt x="1552575" y="685800"/>
                </a:lnTo>
                <a:lnTo>
                  <a:pt x="1562100" y="685800"/>
                </a:lnTo>
                <a:lnTo>
                  <a:pt x="1562100" y="9525"/>
                </a:lnTo>
                <a:lnTo>
                  <a:pt x="3124200" y="9525"/>
                </a:lnTo>
                <a:lnTo>
                  <a:pt x="3124200" y="685800"/>
                </a:lnTo>
                <a:lnTo>
                  <a:pt x="3133725" y="685800"/>
                </a:lnTo>
                <a:lnTo>
                  <a:pt x="3133725" y="9525"/>
                </a:lnTo>
                <a:lnTo>
                  <a:pt x="6267450" y="9525"/>
                </a:lnTo>
                <a:lnTo>
                  <a:pt x="6267450" y="0"/>
                </a:lnTo>
                <a:close/>
              </a:path>
            </a:pathLst>
          </a:custGeom>
          <a:solidFill>
            <a:srgbClr val="ECE7DB">
              <a:alpha val="160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61670" y="3636223"/>
            <a:ext cx="2106930" cy="1218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00" b="1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서</a:t>
            </a:r>
            <a:r>
              <a:rPr sz="700" b="1" spc="-50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700" b="1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울</a:t>
            </a:r>
            <a:r>
              <a:rPr sz="700" b="1" spc="-45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700" b="1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권</a:t>
            </a:r>
            <a:r>
              <a:rPr sz="700" b="1" spc="155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 </a:t>
            </a:r>
            <a:r>
              <a:rPr sz="700" b="1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대</a:t>
            </a:r>
            <a:r>
              <a:rPr sz="700" b="1" spc="-40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700" b="1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학</a:t>
            </a:r>
            <a:r>
              <a:rPr sz="700" b="1" spc="155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 </a:t>
            </a:r>
            <a:r>
              <a:rPr sz="700" b="1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학</a:t>
            </a:r>
            <a:r>
              <a:rPr sz="700" b="1" spc="-45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700" b="1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회</a:t>
            </a:r>
            <a:r>
              <a:rPr sz="700" b="1" spc="-45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700" b="1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Consolas"/>
              </a:rPr>
              <a:t>·</a:t>
            </a:r>
            <a:r>
              <a:rPr sz="700" b="1" spc="-185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Consolas"/>
              </a:rPr>
              <a:t> </a:t>
            </a:r>
            <a:r>
              <a:rPr sz="700" b="1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학</a:t>
            </a:r>
            <a:r>
              <a:rPr sz="700" b="1" spc="-45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700" b="1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술</a:t>
            </a:r>
            <a:r>
              <a:rPr sz="700" b="1" spc="155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 </a:t>
            </a:r>
            <a:r>
              <a:rPr sz="700" b="1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총</a:t>
            </a:r>
            <a:r>
              <a:rPr sz="700" b="1" spc="-45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700" b="1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연</a:t>
            </a:r>
            <a:r>
              <a:rPr sz="700" b="1" spc="-45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700" b="1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합</a:t>
            </a:r>
            <a:r>
              <a:rPr sz="700" b="1" spc="-45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700" b="1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체</a:t>
            </a:r>
            <a:r>
              <a:rPr sz="700" b="1" spc="155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 </a:t>
            </a:r>
            <a:r>
              <a:rPr sz="700" b="1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Consolas"/>
              </a:rPr>
              <a:t>V</a:t>
            </a:r>
            <a:r>
              <a:rPr sz="700" b="1" spc="-185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Consolas"/>
              </a:rPr>
              <a:t> </a:t>
            </a:r>
            <a:r>
              <a:rPr sz="700" b="1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Consolas"/>
              </a:rPr>
              <a:t>A</a:t>
            </a:r>
            <a:r>
              <a:rPr sz="700" b="1" spc="-185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Consolas"/>
              </a:rPr>
              <a:t> </a:t>
            </a:r>
            <a:r>
              <a:rPr sz="700" b="1" spc="-50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Consolas"/>
              </a:rPr>
              <a:t>N</a:t>
            </a:r>
            <a:endParaRPr sz="70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5298" y="3931961"/>
            <a:ext cx="2756535" cy="1444625"/>
          </a:xfrm>
          <a:prstGeom prst="rect">
            <a:avLst/>
          </a:prstGeom>
          <a:ln>
            <a:noFill/>
          </a:ln>
        </p:spPr>
        <p:txBody>
          <a:bodyPr vert="horz" wrap="square" lIns="0" tIns="85090" rIns="0" bIns="0" rtlCol="0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670"/>
              </a:spcBef>
            </a:pPr>
            <a:r>
              <a:rPr sz="3800" spc="-600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대격변의</a:t>
            </a:r>
            <a:r>
              <a:rPr sz="3800" spc="-355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3800" spc="-484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시대</a:t>
            </a:r>
            <a:r>
              <a:rPr sz="3800" spc="-484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Bookman Old Style"/>
              </a:rPr>
              <a:t>, </a:t>
            </a:r>
            <a:r>
              <a:rPr sz="3800" spc="-595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혁신</a:t>
            </a:r>
            <a:r>
              <a:rPr sz="3800" spc="-595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을</a:t>
            </a:r>
            <a:r>
              <a:rPr sz="3800" spc="-355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3800" spc="-625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묻다</a:t>
            </a:r>
            <a:endParaRPr sz="380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550" i="1" spc="-40" dirty="0">
                <a:solidFill>
                  <a:srgbClr val="BEC2CD"/>
                </a:solidFill>
                <a:latin typeface="Georgia"/>
                <a:cs typeface="Georgia"/>
              </a:rPr>
              <a:t>The</a:t>
            </a:r>
            <a:r>
              <a:rPr sz="1550" i="1" spc="-55" dirty="0">
                <a:solidFill>
                  <a:srgbClr val="BEC2CD"/>
                </a:solidFill>
                <a:latin typeface="Georgia"/>
                <a:cs typeface="Georgia"/>
              </a:rPr>
              <a:t> </a:t>
            </a:r>
            <a:r>
              <a:rPr sz="1550" i="1" spc="-120" dirty="0">
                <a:solidFill>
                  <a:srgbClr val="BEC2CD"/>
                </a:solidFill>
                <a:latin typeface="Georgia" panose="02040502050405020303" pitchFamily="18" charset="0"/>
                <a:cs typeface="Georgia"/>
              </a:rPr>
              <a:t>Arena</a:t>
            </a:r>
            <a:r>
              <a:rPr sz="1550" i="1" spc="20" dirty="0">
                <a:solidFill>
                  <a:srgbClr val="BEC2CD"/>
                </a:solidFill>
                <a:latin typeface="Georgia" panose="02040502050405020303" pitchFamily="18" charset="0"/>
                <a:cs typeface="Georgia"/>
              </a:rPr>
              <a:t> </a:t>
            </a:r>
            <a:r>
              <a:rPr sz="1550" i="1" dirty="0">
                <a:solidFill>
                  <a:srgbClr val="BEC2CD"/>
                </a:solidFill>
                <a:latin typeface="Georgia" panose="02040502050405020303" pitchFamily="18" charset="0"/>
                <a:cs typeface="Georgia"/>
              </a:rPr>
              <a:t>of</a:t>
            </a:r>
            <a:r>
              <a:rPr sz="1550" i="1" spc="-55" dirty="0">
                <a:solidFill>
                  <a:srgbClr val="BEC2CD"/>
                </a:solidFill>
                <a:latin typeface="Georgia" panose="02040502050405020303" pitchFamily="18" charset="0"/>
                <a:cs typeface="Georgia"/>
              </a:rPr>
              <a:t> </a:t>
            </a:r>
            <a:r>
              <a:rPr sz="1550" i="1" spc="-10" dirty="0">
                <a:solidFill>
                  <a:srgbClr val="BEC2CD"/>
                </a:solidFill>
                <a:latin typeface="Georgia" panose="02040502050405020303" pitchFamily="18" charset="0"/>
                <a:cs typeface="Georgia"/>
              </a:rPr>
              <a:t>Innovation</a:t>
            </a:r>
            <a:endParaRPr sz="1550" dirty="0">
              <a:latin typeface="Georgia" panose="02040502050405020303" pitchFamily="18" charset="0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5298" y="5875537"/>
            <a:ext cx="255270" cy="11413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D</a:t>
            </a:r>
            <a:r>
              <a:rPr sz="650" spc="-24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A</a:t>
            </a:r>
            <a:r>
              <a:rPr sz="650" spc="-24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T</a:t>
            </a:r>
            <a:r>
              <a:rPr sz="650" spc="-24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50" spc="-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E</a:t>
            </a:r>
            <a:endParaRPr sz="650" dirty="0">
              <a:latin typeface="Georgia" panose="02040502050405020303" pitchFamily="18" charset="0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5298" y="6006038"/>
            <a:ext cx="1203220" cy="391774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300" b="1" spc="-10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Garamond"/>
              </a:rPr>
              <a:t>2026</a:t>
            </a:r>
            <a:r>
              <a:rPr sz="1150" b="1" spc="-10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Bookman Old Style"/>
              </a:rPr>
              <a:t>.</a:t>
            </a:r>
            <a:r>
              <a:rPr sz="1150" b="1" spc="-75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Bookman Old Style"/>
              </a:rPr>
              <a:t> </a:t>
            </a:r>
            <a:r>
              <a:rPr sz="1300" b="1" spc="-10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Garamond"/>
              </a:rPr>
              <a:t>09</a:t>
            </a:r>
            <a:r>
              <a:rPr sz="1150" b="1" spc="-10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Bookman Old Style"/>
              </a:rPr>
              <a:t>.</a:t>
            </a:r>
            <a:r>
              <a:rPr sz="1150" b="1" spc="-75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Bookman Old Style"/>
              </a:rPr>
              <a:t> </a:t>
            </a:r>
            <a:r>
              <a:rPr sz="1300" b="1" spc="-25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Garamond"/>
              </a:rPr>
              <a:t>12</a:t>
            </a:r>
            <a:r>
              <a:rPr sz="1150" b="1" spc="-25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Bookman Old Style"/>
              </a:rPr>
              <a:t>.</a:t>
            </a:r>
            <a:endParaRPr sz="115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700" dirty="0">
                <a:solidFill>
                  <a:srgbClr val="BEC2C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토요일</a:t>
            </a:r>
            <a:r>
              <a:rPr sz="700" spc="195" dirty="0">
                <a:solidFill>
                  <a:srgbClr val="BEC2C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700" dirty="0">
                <a:solidFill>
                  <a:srgbClr val="BEC2C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14:00-</a:t>
            </a:r>
            <a:r>
              <a:rPr sz="700" spc="-10" dirty="0">
                <a:solidFill>
                  <a:srgbClr val="BEC2C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18:00</a:t>
            </a:r>
            <a:endParaRPr sz="70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01262" y="5875537"/>
            <a:ext cx="316230" cy="11413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V</a:t>
            </a:r>
            <a:r>
              <a:rPr sz="650" spc="-24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E</a:t>
            </a:r>
            <a:r>
              <a:rPr sz="650" spc="-24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N</a:t>
            </a:r>
            <a:r>
              <a:rPr sz="650" spc="-24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U</a:t>
            </a:r>
            <a:r>
              <a:rPr sz="650" spc="-24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50" spc="-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E</a:t>
            </a:r>
            <a:endParaRPr sz="650" dirty="0">
              <a:latin typeface="Georgia" panose="02040502050405020303" pitchFamily="18" charset="0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01262" y="6019165"/>
            <a:ext cx="927735" cy="39433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150" b="1" spc="-135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숙명여자대학교</a:t>
            </a:r>
            <a:endParaRPr sz="115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700" spc="-10" dirty="0">
                <a:solidFill>
                  <a:srgbClr val="BEC2C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눈꽃광장홀</a:t>
            </a:r>
            <a:endParaRPr sz="70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334000" y="5733933"/>
            <a:ext cx="9525" cy="676275"/>
          </a:xfrm>
          <a:custGeom>
            <a:avLst/>
            <a:gdLst/>
            <a:ahLst/>
            <a:cxnLst/>
            <a:rect l="l" t="t" r="r" b="b"/>
            <a:pathLst>
              <a:path w="9525" h="676275">
                <a:moveTo>
                  <a:pt x="9525" y="676275"/>
                </a:moveTo>
                <a:lnTo>
                  <a:pt x="0" y="676275"/>
                </a:lnTo>
                <a:lnTo>
                  <a:pt x="0" y="0"/>
                </a:lnTo>
                <a:lnTo>
                  <a:pt x="9525" y="0"/>
                </a:lnTo>
                <a:lnTo>
                  <a:pt x="9525" y="676275"/>
                </a:lnTo>
                <a:close/>
              </a:path>
            </a:pathLst>
          </a:custGeom>
          <a:solidFill>
            <a:srgbClr val="ECE7DB">
              <a:alpha val="160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767239" y="5875537"/>
            <a:ext cx="499745" cy="11413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A</a:t>
            </a:r>
            <a:r>
              <a:rPr sz="650" spc="-24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U</a:t>
            </a:r>
            <a:r>
              <a:rPr sz="650" spc="-24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D</a:t>
            </a:r>
            <a:r>
              <a:rPr sz="650" spc="-24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I</a:t>
            </a:r>
            <a:r>
              <a:rPr sz="650" spc="-24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E</a:t>
            </a:r>
            <a:r>
              <a:rPr sz="650" spc="-24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N</a:t>
            </a:r>
            <a:r>
              <a:rPr sz="650" spc="-24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C</a:t>
            </a:r>
            <a:r>
              <a:rPr sz="650" spc="-24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50" spc="-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E</a:t>
            </a:r>
            <a:endParaRPr sz="650" dirty="0">
              <a:latin typeface="Georgia" panose="02040502050405020303" pitchFamily="18" charset="0"/>
              <a:cs typeface="Consola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35"/>
              </a:lnSpc>
            </a:pPr>
            <a:r>
              <a:rPr spc="-25" dirty="0"/>
              <a:t>0</a:t>
            </a:r>
            <a:fld id="{81D60167-4931-47E6-BA6A-407CBD079E47}" type="slidenum">
              <a:rPr spc="-25" dirty="0"/>
              <a:t>1</a:t>
            </a:fld>
            <a:endParaRPr spc="-25" dirty="0"/>
          </a:p>
        </p:txBody>
      </p:sp>
      <p:sp>
        <p:nvSpPr>
          <p:cNvPr id="17" name="object 17"/>
          <p:cNvSpPr txBox="1"/>
          <p:nvPr/>
        </p:nvSpPr>
        <p:spPr>
          <a:xfrm>
            <a:off x="3767239" y="6019165"/>
            <a:ext cx="891540" cy="39433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150" b="1" spc="-145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수백</a:t>
            </a:r>
            <a:r>
              <a:rPr sz="1150" b="1" spc="-70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1150" b="1" spc="-145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명</a:t>
            </a:r>
            <a:r>
              <a:rPr sz="1150" b="1" spc="-70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1150" b="1" spc="-25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규모</a:t>
            </a:r>
            <a:endParaRPr sz="115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700" dirty="0">
                <a:solidFill>
                  <a:srgbClr val="BEC2C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서울권</a:t>
            </a:r>
            <a:r>
              <a:rPr sz="700" spc="80" dirty="0">
                <a:solidFill>
                  <a:srgbClr val="BEC2C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700" dirty="0">
                <a:solidFill>
                  <a:srgbClr val="BEC2C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대학생</a:t>
            </a:r>
            <a:r>
              <a:rPr sz="700" spc="85" dirty="0">
                <a:solidFill>
                  <a:srgbClr val="BEC2C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700" dirty="0">
                <a:solidFill>
                  <a:srgbClr val="BEC2C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·</a:t>
            </a:r>
            <a:r>
              <a:rPr sz="700" spc="85" dirty="0">
                <a:solidFill>
                  <a:srgbClr val="BEC2C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700" spc="-35" dirty="0">
                <a:solidFill>
                  <a:srgbClr val="BEC2C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청년</a:t>
            </a:r>
            <a:endParaRPr sz="70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33206" y="5875537"/>
            <a:ext cx="316230" cy="11413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pt-BR" sz="6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A</a:t>
            </a:r>
            <a:r>
              <a:rPr lang="pt-BR" sz="650" spc="-24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lang="pt-BR" sz="6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F</a:t>
            </a:r>
            <a:r>
              <a:rPr lang="pt-BR" sz="650" spc="-24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lang="pt-BR" sz="6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T</a:t>
            </a:r>
            <a:r>
              <a:rPr lang="pt-BR" sz="650" spc="-24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lang="pt-BR" sz="6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E</a:t>
            </a:r>
            <a:r>
              <a:rPr lang="pt-BR" sz="650" spc="-24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lang="pt-BR" sz="650" spc="-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R</a:t>
            </a:r>
            <a:endParaRPr sz="650" dirty="0">
              <a:latin typeface="Georgia" panose="02040502050405020303" pitchFamily="18" charset="0"/>
              <a:cs typeface="Consola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33206" y="6006038"/>
            <a:ext cx="1721644" cy="391774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300" b="1" spc="-50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Garamond"/>
              </a:rPr>
              <a:t>Networking</a:t>
            </a:r>
            <a:r>
              <a:rPr sz="1300" b="1" spc="-5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Garamond"/>
              </a:rPr>
              <a:t> </a:t>
            </a:r>
            <a:r>
              <a:rPr sz="1300" b="1" spc="-60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Garamond"/>
              </a:rPr>
              <a:t>Night</a:t>
            </a:r>
            <a:endParaRPr sz="130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700" dirty="0">
                <a:solidFill>
                  <a:srgbClr val="BEC2C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알럼나이</a:t>
            </a:r>
            <a:r>
              <a:rPr sz="700" spc="150" dirty="0">
                <a:solidFill>
                  <a:srgbClr val="BEC2C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700" dirty="0">
                <a:solidFill>
                  <a:srgbClr val="BEC2C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네트워킹</a:t>
            </a:r>
            <a:r>
              <a:rPr sz="700" spc="150" dirty="0">
                <a:solidFill>
                  <a:srgbClr val="BEC2C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700" spc="-25" dirty="0">
                <a:solidFill>
                  <a:srgbClr val="BEC2C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나잇</a:t>
            </a:r>
            <a:endParaRPr sz="70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40450" y="571499"/>
            <a:ext cx="956310" cy="38735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204"/>
              </a:spcBef>
            </a:pPr>
            <a:r>
              <a:rPr sz="1100" i="1" spc="-140" dirty="0">
                <a:solidFill>
                  <a:srgbClr val="BEC2CD"/>
                </a:solidFill>
                <a:latin typeface="Georgia"/>
                <a:cs typeface="Georgia"/>
              </a:rPr>
              <a:t>2026</a:t>
            </a:r>
            <a:r>
              <a:rPr sz="1100" i="1" spc="45" dirty="0">
                <a:solidFill>
                  <a:srgbClr val="BEC2CD"/>
                </a:solidFill>
                <a:latin typeface="Georgia"/>
                <a:cs typeface="Georgia"/>
              </a:rPr>
              <a:t> </a:t>
            </a:r>
            <a:r>
              <a:rPr sz="1100" i="1" spc="-50" dirty="0">
                <a:solidFill>
                  <a:srgbClr val="BEC2CD"/>
                </a:solidFill>
                <a:latin typeface="Georgia"/>
                <a:cs typeface="Georgia"/>
              </a:rPr>
              <a:t>Conference</a:t>
            </a:r>
            <a:endParaRPr sz="1100" dirty="0">
              <a:latin typeface="Georgia"/>
              <a:cs typeface="Georgia"/>
            </a:endParaRPr>
          </a:p>
          <a:p>
            <a:pPr marR="5080" algn="r">
              <a:lnSpc>
                <a:spcPct val="100000"/>
              </a:lnSpc>
              <a:spcBef>
                <a:spcPts val="105"/>
              </a:spcBef>
            </a:pPr>
            <a:r>
              <a:rPr sz="1100" i="1" spc="-10" dirty="0">
                <a:solidFill>
                  <a:srgbClr val="BEC2CD"/>
                </a:solidFill>
                <a:latin typeface="Georgia"/>
                <a:cs typeface="Georgia"/>
              </a:rPr>
              <a:t>Seoul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2B3E7D3C-D111-FD15-5B40-6D35409E09C6}"/>
              </a:ext>
            </a:extLst>
          </p:cNvPr>
          <p:cNvSpPr/>
          <p:nvPr/>
        </p:nvSpPr>
        <p:spPr>
          <a:xfrm>
            <a:off x="0" y="156845"/>
            <a:ext cx="7556500" cy="84455"/>
          </a:xfrm>
          <a:custGeom>
            <a:avLst/>
            <a:gdLst/>
            <a:ahLst/>
            <a:cxnLst/>
            <a:rect l="l" t="t" r="r" b="b"/>
            <a:pathLst>
              <a:path w="7556500" h="84455">
                <a:moveTo>
                  <a:pt x="0" y="0"/>
                </a:moveTo>
                <a:lnTo>
                  <a:pt x="3989928" y="0"/>
                </a:lnTo>
                <a:lnTo>
                  <a:pt x="4199924" y="83998"/>
                </a:lnTo>
                <a:lnTo>
                  <a:pt x="7555992" y="83998"/>
                </a:lnTo>
              </a:path>
            </a:pathLst>
          </a:custGeom>
          <a:ln w="5249">
            <a:solidFill>
              <a:srgbClr val="ECE7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34B8D-0984-FB02-3A83-2654E0718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82A29D9-C558-7D1B-9401-F5D7717C0EE6}"/>
              </a:ext>
            </a:extLst>
          </p:cNvPr>
          <p:cNvSpPr/>
          <p:nvPr/>
        </p:nvSpPr>
        <p:spPr>
          <a:xfrm>
            <a:off x="-409575" y="-502630"/>
            <a:ext cx="8312150" cy="11761343"/>
          </a:xfrm>
          <a:custGeom>
            <a:avLst/>
            <a:gdLst/>
            <a:ahLst/>
            <a:cxnLst/>
            <a:rect l="l" t="t" r="r" b="b"/>
            <a:pathLst>
              <a:path w="7556500" h="10692130">
                <a:moveTo>
                  <a:pt x="7555992" y="10691957"/>
                </a:moveTo>
                <a:lnTo>
                  <a:pt x="0" y="10691957"/>
                </a:lnTo>
                <a:lnTo>
                  <a:pt x="0" y="0"/>
                </a:lnTo>
                <a:lnTo>
                  <a:pt x="7555992" y="0"/>
                </a:lnTo>
                <a:lnTo>
                  <a:pt x="7555992" y="10691957"/>
                </a:lnTo>
                <a:close/>
              </a:path>
            </a:pathLst>
          </a:custGeom>
          <a:solidFill>
            <a:srgbClr val="F4EFE4"/>
          </a:solidFill>
        </p:spPr>
        <p:txBody>
          <a:bodyPr wrap="square" lIns="0" tIns="0" rIns="0" bIns="0" rtlCol="0"/>
          <a:lstStyle/>
          <a:p>
            <a:endParaRPr dirty="0">
              <a:latin typeface="+mn-ea"/>
              <a:ea typeface="+mn-e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426936C-3306-ED90-7A70-3538304EEFFA}"/>
              </a:ext>
            </a:extLst>
          </p:cNvPr>
          <p:cNvSpPr/>
          <p:nvPr/>
        </p:nvSpPr>
        <p:spPr>
          <a:xfrm>
            <a:off x="647700" y="1419209"/>
            <a:ext cx="6267450" cy="9525"/>
          </a:xfrm>
          <a:custGeom>
            <a:avLst/>
            <a:gdLst/>
            <a:ahLst/>
            <a:cxnLst/>
            <a:rect l="l" t="t" r="r" b="b"/>
            <a:pathLst>
              <a:path w="6267450" h="9525">
                <a:moveTo>
                  <a:pt x="6267450" y="9525"/>
                </a:moveTo>
                <a:lnTo>
                  <a:pt x="0" y="9525"/>
                </a:lnTo>
                <a:lnTo>
                  <a:pt x="0" y="0"/>
                </a:lnTo>
                <a:lnTo>
                  <a:pt x="6267450" y="0"/>
                </a:lnTo>
                <a:lnTo>
                  <a:pt x="6267450" y="9525"/>
                </a:lnTo>
                <a:close/>
              </a:path>
            </a:pathLst>
          </a:custGeom>
          <a:solidFill>
            <a:srgbClr val="1C2136">
              <a:alpha val="14118"/>
            </a:srgbClr>
          </a:solidFill>
        </p:spPr>
        <p:txBody>
          <a:bodyPr wrap="square" lIns="0" tIns="0" rIns="0" bIns="0" rtlCol="0"/>
          <a:lstStyle/>
          <a:p>
            <a:endParaRPr>
              <a:latin typeface="+mn-ea"/>
              <a:ea typeface="+mn-ea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5E5E372-45A4-FF09-9BF1-35723F3856BA}"/>
              </a:ext>
            </a:extLst>
          </p:cNvPr>
          <p:cNvSpPr txBox="1"/>
          <p:nvPr/>
        </p:nvSpPr>
        <p:spPr>
          <a:xfrm>
            <a:off x="635298" y="649271"/>
            <a:ext cx="601345" cy="1218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00" b="1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O</a:t>
            </a:r>
            <a:r>
              <a:rPr sz="700" b="1" spc="-19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700" b="1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V</a:t>
            </a:r>
            <a:r>
              <a:rPr sz="700" b="1" spc="-185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700" b="1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E</a:t>
            </a:r>
            <a:r>
              <a:rPr sz="700" b="1" spc="-185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700" b="1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R</a:t>
            </a:r>
            <a:r>
              <a:rPr sz="700" b="1" spc="-185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700" b="1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V</a:t>
            </a:r>
            <a:r>
              <a:rPr sz="700" b="1" spc="-19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700" b="1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I</a:t>
            </a:r>
            <a:r>
              <a:rPr sz="700" b="1" spc="-185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700" b="1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E</a:t>
            </a:r>
            <a:r>
              <a:rPr sz="700" b="1" spc="-185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700" b="1" spc="-5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W</a:t>
            </a:r>
            <a:endParaRPr sz="700" dirty="0">
              <a:latin typeface="+mn-ea"/>
              <a:ea typeface="+mn-ea"/>
              <a:cs typeface="Consolas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6AF5836F-9F2B-B101-3DC3-0987393CB92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6784282" y="10134434"/>
            <a:ext cx="16827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35"/>
              </a:lnSpc>
            </a:pPr>
            <a:r>
              <a:rPr spc="-25" dirty="0">
                <a:latin typeface="+mn-ea"/>
                <a:ea typeface="+mn-ea"/>
              </a:rPr>
              <a:t>0</a:t>
            </a:r>
            <a:fld id="{81D60167-4931-47E6-BA6A-407CBD079E47}" type="slidenum">
              <a:rPr spc="-25" dirty="0">
                <a:latin typeface="+mn-ea"/>
                <a:ea typeface="+mn-ea"/>
              </a:rPr>
              <a:t>2</a:t>
            </a:fld>
            <a:endParaRPr spc="-25" dirty="0">
              <a:latin typeface="+mn-ea"/>
              <a:ea typeface="+mn-ea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8D7D764-0F8F-FC4B-CEF3-033DE8AE1919}"/>
              </a:ext>
            </a:extLst>
          </p:cNvPr>
          <p:cNvSpPr txBox="1"/>
          <p:nvPr/>
        </p:nvSpPr>
        <p:spPr>
          <a:xfrm>
            <a:off x="635298" y="850900"/>
            <a:ext cx="556895" cy="400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50" b="1" spc="-405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개요</a:t>
            </a:r>
            <a:endParaRPr sz="2450" dirty="0">
              <a:latin typeface="+mn-ea"/>
              <a:ea typeface="+mn-ea"/>
              <a:cs typeface="Malgun Gothic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01A08F06-872C-E1EB-EA49-F0303E17F9C5}"/>
              </a:ext>
            </a:extLst>
          </p:cNvPr>
          <p:cNvSpPr txBox="1"/>
          <p:nvPr/>
        </p:nvSpPr>
        <p:spPr>
          <a:xfrm>
            <a:off x="6771481" y="958834"/>
            <a:ext cx="141605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25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02</a:t>
            </a:r>
            <a:endParaRPr sz="750">
              <a:latin typeface="+mn-ea"/>
              <a:ea typeface="+mn-ea"/>
              <a:cs typeface="Consolas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205B55C-5450-0E37-4CA9-064FEBF657BF}"/>
              </a:ext>
            </a:extLst>
          </p:cNvPr>
          <p:cNvSpPr txBox="1"/>
          <p:nvPr/>
        </p:nvSpPr>
        <p:spPr>
          <a:xfrm>
            <a:off x="635297" y="1673857"/>
            <a:ext cx="6317259" cy="69974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lvl="1" algn="l">
              <a:lnSpc>
                <a:spcPct val="150000"/>
              </a:lnSpc>
              <a:spcBef>
                <a:spcPts val="55"/>
              </a:spcBef>
            </a:pPr>
            <a:r>
              <a:rPr sz="1600" b="1" spc="-15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VAN</a:t>
            </a:r>
            <a:r>
              <a:rPr sz="1600" b="1" spc="-150" dirty="0">
                <a:solidFill>
                  <a:schemeClr val="tx1"/>
                </a:solidFill>
                <a:latin typeface="+mn-ea"/>
                <a:ea typeface="+mn-ea"/>
                <a:cs typeface="Batang"/>
              </a:rPr>
              <a:t>은 급격한 기술 변화와 사회 구조의 전환 속에서</a:t>
            </a:r>
            <a:r>
              <a:rPr sz="1600" b="1" spc="-150" dirty="0">
                <a:solidFill>
                  <a:schemeClr val="tx1"/>
                </a:solidFill>
                <a:latin typeface="+mn-ea"/>
                <a:ea typeface="+mn-ea"/>
                <a:cs typeface="Gungsuh"/>
              </a:rPr>
              <a:t>, </a:t>
            </a:r>
            <a:r>
              <a:rPr sz="1600" b="1" spc="-150" dirty="0">
                <a:solidFill>
                  <a:schemeClr val="tx1"/>
                </a:solidFill>
                <a:latin typeface="+mn-ea"/>
                <a:ea typeface="+mn-ea"/>
                <a:cs typeface="Batang"/>
              </a:rPr>
              <a:t>오늘의 청년 세대가 마주 한 핵심 질문을 함께 논의하기 위해 </a:t>
            </a:r>
            <a:r>
              <a:rPr sz="1600" b="1" spc="-150" dirty="0">
                <a:solidFill>
                  <a:srgbClr val="A7814D"/>
                </a:solidFill>
                <a:latin typeface="+mn-ea"/>
                <a:ea typeface="+mn-ea"/>
                <a:cs typeface="PMingLiU"/>
              </a:rPr>
              <a:t>「</a:t>
            </a:r>
            <a:r>
              <a:rPr sz="1600" b="1" spc="-150" dirty="0">
                <a:solidFill>
                  <a:srgbClr val="A7814D"/>
                </a:solidFill>
                <a:latin typeface="+mn-ea"/>
                <a:ea typeface="+mn-ea"/>
                <a:cs typeface="Batang"/>
              </a:rPr>
              <a:t>대격변의 시대</a:t>
            </a:r>
            <a:r>
              <a:rPr sz="1600" b="1" spc="-150" dirty="0">
                <a:solidFill>
                  <a:srgbClr val="A7814D"/>
                </a:solidFill>
                <a:latin typeface="+mn-ea"/>
                <a:ea typeface="+mn-ea"/>
                <a:cs typeface="Gungsuh"/>
              </a:rPr>
              <a:t>, </a:t>
            </a:r>
            <a:r>
              <a:rPr sz="1600" b="1" spc="-150" dirty="0" err="1">
                <a:solidFill>
                  <a:srgbClr val="A7814D"/>
                </a:solidFill>
                <a:latin typeface="+mn-ea"/>
                <a:ea typeface="+mn-ea"/>
                <a:cs typeface="Batang"/>
              </a:rPr>
              <a:t>혁신을</a:t>
            </a:r>
            <a:r>
              <a:rPr sz="1600" b="1" spc="-150" dirty="0">
                <a:solidFill>
                  <a:srgbClr val="A7814D"/>
                </a:solidFill>
                <a:latin typeface="+mn-ea"/>
                <a:ea typeface="+mn-ea"/>
                <a:cs typeface="Batang"/>
              </a:rPr>
              <a:t> </a:t>
            </a:r>
            <a:r>
              <a:rPr sz="1600" b="1" spc="-150" dirty="0" err="1">
                <a:solidFill>
                  <a:srgbClr val="A7814D"/>
                </a:solidFill>
                <a:latin typeface="+mn-ea"/>
                <a:ea typeface="+mn-ea"/>
                <a:cs typeface="Batang"/>
              </a:rPr>
              <a:t>묻다</a:t>
            </a:r>
            <a:r>
              <a:rPr lang="ko-KR" altLang="en-US" sz="1600" b="1" spc="-150" dirty="0">
                <a:solidFill>
                  <a:srgbClr val="A7814D"/>
                </a:solidFill>
                <a:latin typeface="+mn-ea"/>
                <a:ea typeface="+mn-ea"/>
                <a:cs typeface="PMingLiU"/>
              </a:rPr>
              <a:t>」</a:t>
            </a:r>
            <a:r>
              <a:rPr sz="1600" b="1" spc="-150" dirty="0">
                <a:solidFill>
                  <a:schemeClr val="tx1"/>
                </a:solidFill>
                <a:latin typeface="+mn-ea"/>
                <a:ea typeface="+mn-ea"/>
                <a:cs typeface="Batang"/>
              </a:rPr>
              <a:t>를 </a:t>
            </a:r>
            <a:r>
              <a:rPr sz="1600" b="1" spc="-150" dirty="0" err="1">
                <a:solidFill>
                  <a:schemeClr val="tx1"/>
                </a:solidFill>
                <a:latin typeface="+mn-ea"/>
                <a:ea typeface="+mn-ea"/>
                <a:cs typeface="Batang"/>
              </a:rPr>
              <a:t>개최합니다</a:t>
            </a:r>
            <a:r>
              <a:rPr sz="1600" b="1" spc="-150" dirty="0">
                <a:solidFill>
                  <a:schemeClr val="tx1"/>
                </a:solidFill>
                <a:latin typeface="+mn-ea"/>
                <a:ea typeface="+mn-ea"/>
                <a:cs typeface="Gungsuh"/>
              </a:rPr>
              <a:t>.</a:t>
            </a: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05FB611E-939E-A09C-0A97-EEA1045FBE9B}"/>
              </a:ext>
            </a:extLst>
          </p:cNvPr>
          <p:cNvSpPr txBox="1"/>
          <p:nvPr/>
        </p:nvSpPr>
        <p:spPr>
          <a:xfrm>
            <a:off x="647700" y="2506283"/>
            <a:ext cx="6317258" cy="68876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lvl="2" algn="l">
              <a:lnSpc>
                <a:spcPct val="200000"/>
              </a:lnSpc>
              <a:spcBef>
                <a:spcPts val="55"/>
              </a:spcBef>
            </a:pP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인공지능을 비롯한 기술 혁신은 산업의 질서뿐 아니라 교육</a:t>
            </a: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노동</a:t>
            </a: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정치</a:t>
            </a: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공동체의 방식까지 빠르게 재편하고 있습니다</a:t>
            </a: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. 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이에 </a:t>
            </a: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VAN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은 변화의 속도 앞에서 청년들이 단순한 관찰자에 머무르지 않고</a:t>
            </a: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미래 사회의 방향을 스스로 질문하고 해석할 수 있는 공론장을 마련하고자 합니다</a:t>
            </a: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.</a:t>
            </a:r>
          </a:p>
          <a:p>
            <a:pPr marL="12700" marR="5080" lvl="2" algn="l">
              <a:lnSpc>
                <a:spcPct val="200000"/>
              </a:lnSpc>
              <a:spcBef>
                <a:spcPts val="55"/>
              </a:spcBef>
            </a:pPr>
            <a:endParaRPr lang="en-US" altLang="ko-KR" sz="1400" dirty="0">
              <a:solidFill>
                <a:schemeClr val="tx1"/>
              </a:solidFill>
              <a:latin typeface="+mn-ea"/>
              <a:ea typeface="+mn-ea"/>
              <a:cs typeface="Century"/>
            </a:endParaRPr>
          </a:p>
          <a:p>
            <a:pPr marL="12700" marR="5080" lvl="2" algn="l">
              <a:lnSpc>
                <a:spcPct val="200000"/>
              </a:lnSpc>
              <a:spcBef>
                <a:spcPts val="55"/>
              </a:spcBef>
            </a:pP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이번 행사는 </a:t>
            </a:r>
            <a:r>
              <a:rPr lang="en-US" altLang="ko-KR" sz="1400" dirty="0">
                <a:solidFill>
                  <a:srgbClr val="A7814D"/>
                </a:solidFill>
                <a:latin typeface="+mn-ea"/>
                <a:ea typeface="+mn-ea"/>
                <a:cs typeface="Century"/>
              </a:rPr>
              <a:t>2026</a:t>
            </a:r>
            <a:r>
              <a:rPr lang="ko-KR" altLang="en-US" sz="1400" dirty="0">
                <a:solidFill>
                  <a:srgbClr val="A7814D"/>
                </a:solidFill>
                <a:latin typeface="+mn-ea"/>
                <a:ea typeface="+mn-ea"/>
                <a:cs typeface="Century"/>
              </a:rPr>
              <a:t>년 </a:t>
            </a:r>
            <a:r>
              <a:rPr lang="en-US" altLang="ko-KR" sz="1400" dirty="0">
                <a:solidFill>
                  <a:srgbClr val="A7814D"/>
                </a:solidFill>
                <a:latin typeface="+mn-ea"/>
                <a:ea typeface="+mn-ea"/>
                <a:cs typeface="Century"/>
              </a:rPr>
              <a:t>9</a:t>
            </a:r>
            <a:r>
              <a:rPr lang="ko-KR" altLang="en-US" sz="1400" dirty="0">
                <a:solidFill>
                  <a:srgbClr val="A7814D"/>
                </a:solidFill>
                <a:latin typeface="+mn-ea"/>
                <a:ea typeface="+mn-ea"/>
                <a:cs typeface="Century"/>
              </a:rPr>
              <a:t>월 </a:t>
            </a:r>
            <a:r>
              <a:rPr lang="en-US" altLang="ko-KR" sz="1400" dirty="0">
                <a:solidFill>
                  <a:srgbClr val="A7814D"/>
                </a:solidFill>
                <a:latin typeface="+mn-ea"/>
                <a:ea typeface="+mn-ea"/>
                <a:cs typeface="Century"/>
              </a:rPr>
              <a:t>12</a:t>
            </a:r>
            <a:r>
              <a:rPr lang="ko-KR" altLang="en-US" sz="1400" dirty="0">
                <a:solidFill>
                  <a:srgbClr val="A7814D"/>
                </a:solidFill>
                <a:latin typeface="+mn-ea"/>
                <a:ea typeface="+mn-ea"/>
                <a:cs typeface="Century"/>
              </a:rPr>
              <a:t>일 토요일</a:t>
            </a:r>
            <a:r>
              <a:rPr lang="en-US" altLang="ko-KR" sz="1400" dirty="0">
                <a:solidFill>
                  <a:srgbClr val="A7814D"/>
                </a:solidFill>
                <a:latin typeface="+mn-ea"/>
                <a:ea typeface="+mn-ea"/>
                <a:cs typeface="Century"/>
              </a:rPr>
              <a:t>, </a:t>
            </a:r>
            <a:r>
              <a:rPr lang="ko-KR" altLang="en-US" sz="1400" dirty="0">
                <a:solidFill>
                  <a:srgbClr val="A7814D"/>
                </a:solidFill>
                <a:latin typeface="+mn-ea"/>
                <a:ea typeface="+mn-ea"/>
                <a:cs typeface="Century"/>
              </a:rPr>
              <a:t>숙명 여자 대학교 눈꽃 광장홀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에서 대학생 및 청년 수백 명 규모를 대상으로 진행됩니다</a:t>
            </a: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. 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학계</a:t>
            </a: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·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산업계</a:t>
            </a: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·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정계 및 각 분야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  <a:ea typeface="+mn-ea"/>
                <a:cs typeface="Century"/>
              </a:rPr>
              <a:t>알럼나이가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 함께 참여하여 각 영역에서 바라본 혁신의 의미와 과제를 공유하고</a:t>
            </a: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청년 참가자들은 이를 바탕으로 토론과 네트워킹을 통해 자신의 문제의식을 확장하게 됩니다</a:t>
            </a: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.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전체 프로그램은 기술혁신</a:t>
            </a: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사회</a:t>
            </a: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·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정치혁신</a:t>
            </a: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,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  <a:ea typeface="+mn-ea"/>
                <a:cs typeface="Century"/>
              </a:rPr>
              <a:t>디스커션</a:t>
            </a: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,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  <a:ea typeface="+mn-ea"/>
                <a:cs typeface="Century"/>
              </a:rPr>
              <a:t>알럼나이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 네트워킹 세션으로 구성됩니다</a:t>
            </a: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. </a:t>
            </a:r>
          </a:p>
          <a:p>
            <a:pPr marL="12700" marR="5080" lvl="2" algn="l">
              <a:lnSpc>
                <a:spcPct val="200000"/>
              </a:lnSpc>
              <a:spcBef>
                <a:spcPts val="55"/>
              </a:spcBef>
            </a:pPr>
            <a:endParaRPr lang="en-US" altLang="ko-KR" sz="1400" dirty="0">
              <a:solidFill>
                <a:schemeClr val="tx1"/>
              </a:solidFill>
              <a:latin typeface="+mn-ea"/>
              <a:ea typeface="+mn-ea"/>
              <a:cs typeface="Century"/>
            </a:endParaRPr>
          </a:p>
          <a:p>
            <a:pPr marL="12700" marR="5080" lvl="2" algn="l">
              <a:lnSpc>
                <a:spcPct val="200000"/>
              </a:lnSpc>
              <a:spcBef>
                <a:spcPts val="55"/>
              </a:spcBef>
            </a:pP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각 세션은 강연과 교류</a:t>
            </a: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참여형 논의를 유기적으로 연결하여 지식 전달에 그치지 않고 실질적인 대화와 관계 형성으로 이어지도록 설계되었습니다</a:t>
            </a: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. VAN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은 본 행사를 통해 청년들이 변화의 시대를 이해하는 것을 넘어</a:t>
            </a: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새로운 혁신의 기준과 방향을 함께 모색하는 계기를 만들고자 합니다</a:t>
            </a: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  <a:cs typeface="Century"/>
              </a:rPr>
              <a:t>.</a:t>
            </a:r>
            <a:endParaRPr sz="1400" dirty="0">
              <a:solidFill>
                <a:schemeClr val="tx1"/>
              </a:solidFill>
              <a:latin typeface="+mn-ea"/>
              <a:ea typeface="+mn-ea"/>
              <a:cs typeface="Gungsuh"/>
            </a:endParaRPr>
          </a:p>
        </p:txBody>
      </p:sp>
    </p:spTree>
    <p:extLst>
      <p:ext uri="{BB962C8B-B14F-4D97-AF65-F5344CB8AC3E}">
        <p14:creationId xmlns:p14="http://schemas.microsoft.com/office/powerpoint/2010/main" val="3059183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"/>
            <a:ext cx="7556500" cy="10692130"/>
          </a:xfrm>
          <a:custGeom>
            <a:avLst/>
            <a:gdLst/>
            <a:ahLst/>
            <a:cxnLst/>
            <a:rect l="l" t="t" r="r" b="b"/>
            <a:pathLst>
              <a:path w="7556500" h="10692130">
                <a:moveTo>
                  <a:pt x="7555992" y="10691957"/>
                </a:moveTo>
                <a:lnTo>
                  <a:pt x="0" y="10691957"/>
                </a:lnTo>
                <a:lnTo>
                  <a:pt x="0" y="0"/>
                </a:lnTo>
                <a:lnTo>
                  <a:pt x="7555992" y="0"/>
                </a:lnTo>
                <a:lnTo>
                  <a:pt x="7555992" y="10691957"/>
                </a:lnTo>
                <a:close/>
              </a:path>
            </a:pathLst>
          </a:custGeom>
          <a:solidFill>
            <a:srgbClr val="131729"/>
          </a:solidFill>
        </p:spPr>
        <p:txBody>
          <a:bodyPr wrap="square" lIns="0" tIns="0" rIns="0" bIns="0" rtlCol="0"/>
          <a:lstStyle/>
          <a:p>
            <a:endParaRPr>
              <a:latin typeface="+mj-ea"/>
              <a:ea typeface="+mj-e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700" y="1419224"/>
            <a:ext cx="6267450" cy="9525"/>
          </a:xfrm>
          <a:custGeom>
            <a:avLst/>
            <a:gdLst/>
            <a:ahLst/>
            <a:cxnLst/>
            <a:rect l="l" t="t" r="r" b="b"/>
            <a:pathLst>
              <a:path w="6267450" h="9525">
                <a:moveTo>
                  <a:pt x="6267450" y="9525"/>
                </a:moveTo>
                <a:lnTo>
                  <a:pt x="0" y="9525"/>
                </a:lnTo>
                <a:lnTo>
                  <a:pt x="0" y="0"/>
                </a:lnTo>
                <a:lnTo>
                  <a:pt x="6267450" y="0"/>
                </a:lnTo>
                <a:lnTo>
                  <a:pt x="6267450" y="9525"/>
                </a:lnTo>
                <a:close/>
              </a:path>
            </a:pathLst>
          </a:custGeom>
          <a:solidFill>
            <a:srgbClr val="ECE7DB">
              <a:alpha val="16079"/>
            </a:srgbClr>
          </a:solidFill>
        </p:spPr>
        <p:txBody>
          <a:bodyPr wrap="square" lIns="0" tIns="0" rIns="0" bIns="0" rtlCol="0"/>
          <a:lstStyle/>
          <a:p>
            <a:endParaRPr>
              <a:latin typeface="+mj-ea"/>
              <a:ea typeface="+mj-e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5298" y="649287"/>
            <a:ext cx="525780" cy="1218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00" dirty="0">
                <a:solidFill>
                  <a:srgbClr val="C8A062"/>
                </a:solidFill>
                <a:latin typeface="+mj-ea"/>
                <a:ea typeface="+mj-ea"/>
                <a:cs typeface="Consolas"/>
              </a:rPr>
              <a:t>P</a:t>
            </a:r>
            <a:r>
              <a:rPr sz="700" spc="-190" dirty="0">
                <a:solidFill>
                  <a:srgbClr val="C8A062"/>
                </a:solidFill>
                <a:latin typeface="+mj-ea"/>
                <a:ea typeface="+mj-ea"/>
                <a:cs typeface="Consolas"/>
              </a:rPr>
              <a:t> </a:t>
            </a:r>
            <a:r>
              <a:rPr sz="700" dirty="0">
                <a:solidFill>
                  <a:srgbClr val="C8A062"/>
                </a:solidFill>
                <a:latin typeface="+mj-ea"/>
                <a:ea typeface="+mj-ea"/>
                <a:cs typeface="Consolas"/>
              </a:rPr>
              <a:t>R</a:t>
            </a:r>
            <a:r>
              <a:rPr sz="700" spc="-185" dirty="0">
                <a:solidFill>
                  <a:srgbClr val="C8A062"/>
                </a:solidFill>
                <a:latin typeface="+mj-ea"/>
                <a:ea typeface="+mj-ea"/>
                <a:cs typeface="Consolas"/>
              </a:rPr>
              <a:t> </a:t>
            </a:r>
            <a:r>
              <a:rPr sz="700" dirty="0">
                <a:solidFill>
                  <a:srgbClr val="C8A062"/>
                </a:solidFill>
                <a:latin typeface="+mj-ea"/>
                <a:ea typeface="+mj-ea"/>
                <a:cs typeface="Consolas"/>
              </a:rPr>
              <a:t>O</a:t>
            </a:r>
            <a:r>
              <a:rPr sz="700" spc="-185" dirty="0">
                <a:solidFill>
                  <a:srgbClr val="C8A062"/>
                </a:solidFill>
                <a:latin typeface="+mj-ea"/>
                <a:ea typeface="+mj-ea"/>
                <a:cs typeface="Consolas"/>
              </a:rPr>
              <a:t> </a:t>
            </a:r>
            <a:r>
              <a:rPr sz="700" dirty="0">
                <a:solidFill>
                  <a:srgbClr val="C8A062"/>
                </a:solidFill>
                <a:latin typeface="+mj-ea"/>
                <a:ea typeface="+mj-ea"/>
                <a:cs typeface="Consolas"/>
              </a:rPr>
              <a:t>G</a:t>
            </a:r>
            <a:r>
              <a:rPr sz="700" spc="-185" dirty="0">
                <a:solidFill>
                  <a:srgbClr val="C8A062"/>
                </a:solidFill>
                <a:latin typeface="+mj-ea"/>
                <a:ea typeface="+mj-ea"/>
                <a:cs typeface="Consolas"/>
              </a:rPr>
              <a:t> </a:t>
            </a:r>
            <a:r>
              <a:rPr sz="700" dirty="0">
                <a:solidFill>
                  <a:srgbClr val="C8A062"/>
                </a:solidFill>
                <a:latin typeface="+mj-ea"/>
                <a:ea typeface="+mj-ea"/>
                <a:cs typeface="Consolas"/>
              </a:rPr>
              <a:t>R</a:t>
            </a:r>
            <a:r>
              <a:rPr sz="700" spc="-190" dirty="0">
                <a:solidFill>
                  <a:srgbClr val="C8A062"/>
                </a:solidFill>
                <a:latin typeface="+mj-ea"/>
                <a:ea typeface="+mj-ea"/>
                <a:cs typeface="Consolas"/>
              </a:rPr>
              <a:t> </a:t>
            </a:r>
            <a:r>
              <a:rPr sz="700" dirty="0">
                <a:solidFill>
                  <a:srgbClr val="C8A062"/>
                </a:solidFill>
                <a:latin typeface="+mj-ea"/>
                <a:ea typeface="+mj-ea"/>
                <a:cs typeface="Consolas"/>
              </a:rPr>
              <a:t>A</a:t>
            </a:r>
            <a:r>
              <a:rPr sz="700" spc="-185" dirty="0">
                <a:solidFill>
                  <a:srgbClr val="C8A062"/>
                </a:solidFill>
                <a:latin typeface="+mj-ea"/>
                <a:ea typeface="+mj-ea"/>
                <a:cs typeface="Consolas"/>
              </a:rPr>
              <a:t> </a:t>
            </a:r>
            <a:r>
              <a:rPr sz="700" spc="-50" dirty="0">
                <a:solidFill>
                  <a:srgbClr val="C8A062"/>
                </a:solidFill>
                <a:latin typeface="+mj-ea"/>
                <a:ea typeface="+mj-ea"/>
                <a:cs typeface="Consolas"/>
              </a:rPr>
              <a:t>M</a:t>
            </a:r>
            <a:endParaRPr sz="700" dirty="0">
              <a:latin typeface="+mj-ea"/>
              <a:ea typeface="+mj-ea"/>
              <a:cs typeface="Consola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77849" y="799690"/>
            <a:ext cx="1972943" cy="39049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b="0" dirty="0">
                <a:solidFill>
                  <a:srgbClr val="ECE7DB"/>
                </a:solidFill>
                <a:latin typeface="+mj-ea"/>
              </a:rPr>
              <a:t>Time</a:t>
            </a:r>
            <a:r>
              <a:rPr lang="ko-KR" altLang="en-US" b="0" dirty="0">
                <a:solidFill>
                  <a:srgbClr val="ECE7DB"/>
                </a:solidFill>
                <a:latin typeface="+mj-ea"/>
              </a:rPr>
              <a:t> </a:t>
            </a:r>
            <a:r>
              <a:rPr lang="en-US" altLang="ko-KR" b="0" dirty="0">
                <a:solidFill>
                  <a:srgbClr val="ECE7DB"/>
                </a:solidFill>
                <a:latin typeface="+mj-ea"/>
              </a:rPr>
              <a:t>Table</a:t>
            </a:r>
            <a:endParaRPr b="0" dirty="0">
              <a:solidFill>
                <a:srgbClr val="ECE7DB"/>
              </a:solidFill>
              <a:latin typeface="+mj-e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71481" y="958850"/>
            <a:ext cx="141605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25" dirty="0">
                <a:solidFill>
                  <a:srgbClr val="BEC2CD"/>
                </a:solidFill>
                <a:latin typeface="+mj-ea"/>
                <a:ea typeface="+mj-ea"/>
                <a:cs typeface="Consolas"/>
              </a:rPr>
              <a:t>03</a:t>
            </a:r>
            <a:endParaRPr sz="750">
              <a:latin typeface="+mj-ea"/>
              <a:ea typeface="+mj-ea"/>
              <a:cs typeface="Consolas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352460"/>
              </p:ext>
            </p:extLst>
          </p:nvPr>
        </p:nvGraphicFramePr>
        <p:xfrm>
          <a:off x="643253" y="1709736"/>
          <a:ext cx="6267451" cy="67611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7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725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900" dirty="0">
                        <a:latin typeface="+mj-ea"/>
                        <a:ea typeface="+mj-ea"/>
                        <a:cs typeface="Times New Roman"/>
                      </a:endParaRPr>
                    </a:p>
                    <a:p>
                      <a:pPr marL="253365">
                        <a:lnSpc>
                          <a:spcPct val="100000"/>
                        </a:lnSpc>
                        <a:tabLst>
                          <a:tab pos="1657350" algn="l"/>
                        </a:tabLst>
                      </a:pPr>
                      <a:r>
                        <a:rPr sz="900" dirty="0">
                          <a:solidFill>
                            <a:srgbClr val="C8A062"/>
                          </a:solidFill>
                          <a:latin typeface="+mj-ea"/>
                          <a:ea typeface="+mj-ea"/>
                          <a:cs typeface="Consolas"/>
                        </a:rPr>
                        <a:t>13:30-</a:t>
                      </a:r>
                      <a:r>
                        <a:rPr sz="900" spc="-10" dirty="0">
                          <a:solidFill>
                            <a:srgbClr val="C8A062"/>
                          </a:solidFill>
                          <a:latin typeface="+mj-ea"/>
                          <a:ea typeface="+mj-ea"/>
                          <a:cs typeface="Consolas"/>
                        </a:rPr>
                        <a:t>14:00</a:t>
                      </a:r>
                      <a:r>
                        <a:rPr sz="900" dirty="0">
                          <a:solidFill>
                            <a:srgbClr val="C8A062"/>
                          </a:solidFill>
                          <a:latin typeface="+mj-ea"/>
                          <a:ea typeface="+mj-ea"/>
                          <a:cs typeface="Consolas"/>
                        </a:rPr>
                        <a:t>	</a:t>
                      </a:r>
                      <a:r>
                        <a:rPr sz="2000" b="1" spc="-217" baseline="-28985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부스</a:t>
                      </a:r>
                      <a:r>
                        <a:rPr sz="2000" b="1" spc="-120" baseline="-28985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2000" b="1" spc="-217" baseline="-28985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운영</a:t>
                      </a:r>
                      <a:r>
                        <a:rPr sz="2000" b="1" spc="-104" baseline="-28985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2000" b="1" spc="-217" baseline="-28985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및</a:t>
                      </a:r>
                      <a:r>
                        <a:rPr sz="2000" b="1" spc="-97" baseline="-28985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2000" b="1" spc="-37" baseline="-28985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입장</a:t>
                      </a:r>
                      <a:endParaRPr sz="2000" baseline="-28985" dirty="0">
                        <a:latin typeface="+mj-ea"/>
                        <a:ea typeface="+mj-ea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endParaRPr sz="900" dirty="0">
                        <a:latin typeface="+mj-ea"/>
                        <a:ea typeface="+mj-ea"/>
                        <a:cs typeface="Times New Roman"/>
                      </a:endParaRPr>
                    </a:p>
                    <a:p>
                      <a:pPr marL="165735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BEC2CD"/>
                          </a:solidFill>
                          <a:latin typeface="+mj-ea"/>
                          <a:ea typeface="+mj-ea"/>
                          <a:cs typeface="Malgun Gothic"/>
                        </a:rPr>
                        <a:t>도서</a:t>
                      </a:r>
                      <a:r>
                        <a:rPr sz="900" spc="45" dirty="0">
                          <a:solidFill>
                            <a:srgbClr val="BEC2CD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BEC2CD"/>
                          </a:solidFill>
                          <a:latin typeface="+mj-ea"/>
                          <a:ea typeface="+mj-ea"/>
                          <a:cs typeface="Malgun Gothic"/>
                        </a:rPr>
                        <a:t>·</a:t>
                      </a:r>
                      <a:r>
                        <a:rPr sz="900" spc="50" dirty="0">
                          <a:solidFill>
                            <a:srgbClr val="BEC2CD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BEC2CD"/>
                          </a:solidFill>
                          <a:latin typeface="+mj-ea"/>
                          <a:ea typeface="+mj-ea"/>
                          <a:cs typeface="Malgun Gothic"/>
                        </a:rPr>
                        <a:t>포토</a:t>
                      </a:r>
                      <a:r>
                        <a:rPr sz="900" spc="45" dirty="0">
                          <a:solidFill>
                            <a:srgbClr val="BEC2CD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BEC2CD"/>
                          </a:solidFill>
                          <a:latin typeface="+mj-ea"/>
                          <a:ea typeface="+mj-ea"/>
                          <a:cs typeface="Malgun Gothic"/>
                        </a:rPr>
                        <a:t>·</a:t>
                      </a:r>
                      <a:r>
                        <a:rPr sz="900" spc="50" dirty="0">
                          <a:solidFill>
                            <a:srgbClr val="BEC2CD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BEC2CD"/>
                          </a:solidFill>
                          <a:latin typeface="+mj-ea"/>
                          <a:ea typeface="+mj-ea"/>
                          <a:cs typeface="Malgun Gothic"/>
                        </a:rPr>
                        <a:t>팝업</a:t>
                      </a:r>
                      <a:r>
                        <a:rPr sz="900" spc="45" dirty="0">
                          <a:solidFill>
                            <a:srgbClr val="BEC2CD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BEC2CD"/>
                          </a:solidFill>
                          <a:latin typeface="+mj-ea"/>
                          <a:ea typeface="+mj-ea"/>
                          <a:cs typeface="Malgun Gothic"/>
                        </a:rPr>
                        <a:t>·</a:t>
                      </a:r>
                      <a:r>
                        <a:rPr sz="900" spc="50" dirty="0">
                          <a:solidFill>
                            <a:srgbClr val="BEC2CD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BEC2CD"/>
                          </a:solidFill>
                          <a:latin typeface="+mj-ea"/>
                          <a:ea typeface="+mj-ea"/>
                          <a:cs typeface="Malgun Gothic"/>
                        </a:rPr>
                        <a:t>후원</a:t>
                      </a:r>
                      <a:r>
                        <a:rPr sz="900" spc="45" dirty="0">
                          <a:solidFill>
                            <a:srgbClr val="BEC2CD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spc="-25" dirty="0">
                          <a:solidFill>
                            <a:srgbClr val="BEC2CD"/>
                          </a:solidFill>
                          <a:latin typeface="+mj-ea"/>
                          <a:ea typeface="+mj-ea"/>
                          <a:cs typeface="Malgun Gothic"/>
                        </a:rPr>
                        <a:t>부스</a:t>
                      </a:r>
                      <a:endParaRPr sz="900" dirty="0">
                        <a:latin typeface="+mj-ea"/>
                        <a:ea typeface="+mj-ea"/>
                        <a:cs typeface="Malgun Gothic"/>
                      </a:endParaRPr>
                    </a:p>
                  </a:txBody>
                  <a:tcPr marL="0" marR="0" marT="1270" marB="0">
                    <a:lnL w="9525">
                      <a:solidFill>
                        <a:srgbClr val="ECE7DB"/>
                      </a:solidFill>
                      <a:prstDash val="solid"/>
                    </a:lnL>
                    <a:lnB w="9525">
                      <a:solidFill>
                        <a:srgbClr val="ECE7D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90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900" dirty="0">
                        <a:latin typeface="+mj-ea"/>
                        <a:ea typeface="+mj-ea"/>
                        <a:cs typeface="Times New Roman"/>
                      </a:endParaRPr>
                    </a:p>
                    <a:p>
                      <a:pPr marL="253365">
                        <a:lnSpc>
                          <a:spcPct val="100000"/>
                        </a:lnSpc>
                        <a:tabLst>
                          <a:tab pos="1657350" algn="l"/>
                        </a:tabLst>
                      </a:pPr>
                      <a:r>
                        <a:rPr sz="900" dirty="0">
                          <a:solidFill>
                            <a:srgbClr val="C8A062"/>
                          </a:solidFill>
                          <a:latin typeface="+mj-ea"/>
                          <a:ea typeface="+mj-ea"/>
                          <a:cs typeface="Consolas"/>
                        </a:rPr>
                        <a:t>14:00-</a:t>
                      </a:r>
                      <a:r>
                        <a:rPr sz="900" spc="-10" dirty="0">
                          <a:solidFill>
                            <a:srgbClr val="C8A062"/>
                          </a:solidFill>
                          <a:latin typeface="+mj-ea"/>
                          <a:ea typeface="+mj-ea"/>
                          <a:cs typeface="Consolas"/>
                        </a:rPr>
                        <a:t>14:40</a:t>
                      </a:r>
                      <a:r>
                        <a:rPr sz="900" dirty="0">
                          <a:solidFill>
                            <a:srgbClr val="C8A062"/>
                          </a:solidFill>
                          <a:latin typeface="+mj-ea"/>
                          <a:ea typeface="+mj-ea"/>
                          <a:cs typeface="Consolas"/>
                        </a:rPr>
                        <a:t>	</a:t>
                      </a:r>
                      <a:r>
                        <a:rPr sz="2000" b="1" spc="-217" baseline="-28985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개회</a:t>
                      </a:r>
                      <a:r>
                        <a:rPr sz="2000" b="1" spc="-120" baseline="-28985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2000" b="1" spc="-217" baseline="-28985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및</a:t>
                      </a:r>
                      <a:r>
                        <a:rPr sz="2000" b="1" spc="-104" baseline="-28985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2000" b="1" spc="-217" baseline="-28985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공식</a:t>
                      </a:r>
                      <a:r>
                        <a:rPr sz="2000" b="1" spc="-97" baseline="-28985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2000" b="1" spc="-37" baseline="-28985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순서</a:t>
                      </a:r>
                      <a:endParaRPr sz="2000" baseline="-28985" dirty="0">
                        <a:latin typeface="+mj-ea"/>
                        <a:ea typeface="+mj-ea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900" dirty="0">
                        <a:latin typeface="+mj-ea"/>
                        <a:ea typeface="+mj-ea"/>
                        <a:cs typeface="Times New Roman"/>
                      </a:endParaRPr>
                    </a:p>
                    <a:p>
                      <a:pPr marL="165735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BEC2CD"/>
                          </a:solidFill>
                          <a:latin typeface="+mj-ea"/>
                          <a:ea typeface="+mj-ea"/>
                          <a:cs typeface="Malgun Gothic"/>
                        </a:rPr>
                        <a:t>소개</a:t>
                      </a:r>
                      <a:r>
                        <a:rPr sz="900" spc="45" dirty="0">
                          <a:solidFill>
                            <a:srgbClr val="BEC2CD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BEC2CD"/>
                          </a:solidFill>
                          <a:latin typeface="+mj-ea"/>
                          <a:ea typeface="+mj-ea"/>
                          <a:cs typeface="Malgun Gothic"/>
                        </a:rPr>
                        <a:t>·</a:t>
                      </a:r>
                      <a:r>
                        <a:rPr sz="900" spc="50" dirty="0">
                          <a:solidFill>
                            <a:srgbClr val="BEC2CD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BEC2CD"/>
                          </a:solidFill>
                          <a:latin typeface="+mj-ea"/>
                          <a:ea typeface="+mj-ea"/>
                          <a:cs typeface="Malgun Gothic"/>
                        </a:rPr>
                        <a:t>축사</a:t>
                      </a:r>
                      <a:r>
                        <a:rPr sz="900" spc="50" dirty="0">
                          <a:solidFill>
                            <a:srgbClr val="BEC2CD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BEC2CD"/>
                          </a:solidFill>
                          <a:latin typeface="+mj-ea"/>
                          <a:ea typeface="+mj-ea"/>
                          <a:cs typeface="Malgun Gothic"/>
                        </a:rPr>
                        <a:t>·</a:t>
                      </a:r>
                      <a:r>
                        <a:rPr sz="900" spc="50" dirty="0">
                          <a:solidFill>
                            <a:srgbClr val="BEC2CD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BEC2CD"/>
                          </a:solidFill>
                          <a:latin typeface="+mj-ea"/>
                          <a:ea typeface="+mj-ea"/>
                          <a:cs typeface="Malgun Gothic"/>
                        </a:rPr>
                        <a:t>사진</a:t>
                      </a:r>
                      <a:r>
                        <a:rPr sz="900" spc="50" dirty="0">
                          <a:solidFill>
                            <a:srgbClr val="BEC2CD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spc="-25" dirty="0">
                          <a:solidFill>
                            <a:srgbClr val="BEC2CD"/>
                          </a:solidFill>
                          <a:latin typeface="+mj-ea"/>
                          <a:ea typeface="+mj-ea"/>
                          <a:cs typeface="Malgun Gothic"/>
                        </a:rPr>
                        <a:t>촬영</a:t>
                      </a:r>
                      <a:endParaRPr sz="900" dirty="0">
                        <a:latin typeface="+mj-ea"/>
                        <a:ea typeface="+mj-ea"/>
                        <a:cs typeface="Malgun Gothic"/>
                      </a:endParaRPr>
                    </a:p>
                  </a:txBody>
                  <a:tcPr marL="0" marR="0" marT="6350" marB="0">
                    <a:lnL w="9525">
                      <a:solidFill>
                        <a:srgbClr val="ECE7DB"/>
                      </a:solidFill>
                      <a:prstDash val="solid"/>
                    </a:lnL>
                    <a:lnT w="9525">
                      <a:solidFill>
                        <a:srgbClr val="ECE7DB"/>
                      </a:solidFill>
                      <a:prstDash val="solid"/>
                    </a:lnT>
                    <a:lnB w="9525">
                      <a:solidFill>
                        <a:srgbClr val="ECE7D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68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900" dirty="0">
                        <a:latin typeface="+mj-ea"/>
                        <a:ea typeface="+mj-ea"/>
                        <a:cs typeface="Times New Roman"/>
                      </a:endParaRPr>
                    </a:p>
                    <a:p>
                      <a:pPr marL="253365">
                        <a:lnSpc>
                          <a:spcPct val="100000"/>
                        </a:lnSpc>
                        <a:tabLst>
                          <a:tab pos="1657350" algn="l"/>
                        </a:tabLst>
                      </a:pPr>
                      <a:r>
                        <a:rPr sz="900" dirty="0">
                          <a:solidFill>
                            <a:srgbClr val="C8A062"/>
                          </a:solidFill>
                          <a:latin typeface="+mj-ea"/>
                          <a:ea typeface="+mj-ea"/>
                          <a:cs typeface="Consolas"/>
                        </a:rPr>
                        <a:t>14:40-</a:t>
                      </a:r>
                      <a:r>
                        <a:rPr sz="900" spc="-10" dirty="0">
                          <a:solidFill>
                            <a:srgbClr val="C8A062"/>
                          </a:solidFill>
                          <a:latin typeface="+mj-ea"/>
                          <a:ea typeface="+mj-ea"/>
                          <a:cs typeface="Consolas"/>
                        </a:rPr>
                        <a:t>15:50</a:t>
                      </a:r>
                      <a:r>
                        <a:rPr sz="900" dirty="0">
                          <a:solidFill>
                            <a:srgbClr val="C8A062"/>
                          </a:solidFill>
                          <a:latin typeface="+mj-ea"/>
                          <a:ea typeface="+mj-ea"/>
                          <a:cs typeface="Consolas"/>
                        </a:rPr>
                        <a:t>	</a:t>
                      </a:r>
                      <a:r>
                        <a:rPr sz="2000" b="1" spc="-30" baseline="-28985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기술혁신</a:t>
                      </a:r>
                      <a:endParaRPr sz="2000" baseline="-28985" dirty="0">
                        <a:latin typeface="+mj-ea"/>
                        <a:ea typeface="+mj-ea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900" dirty="0">
                        <a:latin typeface="+mj-ea"/>
                        <a:ea typeface="+mj-ea"/>
                        <a:cs typeface="Times New Roman"/>
                      </a:endParaRPr>
                    </a:p>
                    <a:p>
                      <a:pPr marL="165735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BEC2CD"/>
                          </a:solidFill>
                          <a:latin typeface="+mj-ea"/>
                          <a:ea typeface="+mj-ea"/>
                          <a:cs typeface="Malgun Gothic"/>
                        </a:rPr>
                        <a:t>기업인·교수</a:t>
                      </a:r>
                      <a:r>
                        <a:rPr sz="900" spc="100" dirty="0">
                          <a:solidFill>
                            <a:srgbClr val="BEC2CD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BEC2CD"/>
                          </a:solidFill>
                          <a:latin typeface="+mj-ea"/>
                          <a:ea typeface="+mj-ea"/>
                          <a:cs typeface="Malgun Gothic"/>
                        </a:rPr>
                        <a:t>등</a:t>
                      </a:r>
                      <a:r>
                        <a:rPr sz="900" spc="105" dirty="0">
                          <a:solidFill>
                            <a:srgbClr val="BEC2CD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BEC2CD"/>
                          </a:solidFill>
                          <a:latin typeface="+mj-ea"/>
                          <a:ea typeface="+mj-ea"/>
                          <a:cs typeface="Malgun Gothic"/>
                        </a:rPr>
                        <a:t>관계자</a:t>
                      </a:r>
                      <a:r>
                        <a:rPr sz="900" spc="100" dirty="0">
                          <a:solidFill>
                            <a:srgbClr val="BEC2CD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spc="-25" dirty="0">
                          <a:solidFill>
                            <a:srgbClr val="BEC2CD"/>
                          </a:solidFill>
                          <a:latin typeface="+mj-ea"/>
                          <a:ea typeface="+mj-ea"/>
                          <a:cs typeface="Malgun Gothic"/>
                        </a:rPr>
                        <a:t>6인</a:t>
                      </a:r>
                      <a:endParaRPr sz="900" dirty="0">
                        <a:latin typeface="+mj-ea"/>
                        <a:ea typeface="+mj-ea"/>
                        <a:cs typeface="Malgun Gothic"/>
                      </a:endParaRPr>
                    </a:p>
                  </a:txBody>
                  <a:tcPr marL="0" marR="0" marT="6350" marB="0">
                    <a:lnL w="9525">
                      <a:solidFill>
                        <a:srgbClr val="ECE7DB"/>
                      </a:solidFill>
                      <a:prstDash val="solid"/>
                    </a:lnL>
                    <a:lnT w="9525">
                      <a:solidFill>
                        <a:srgbClr val="ECE7DB"/>
                      </a:solidFill>
                      <a:prstDash val="solid"/>
                    </a:lnT>
                    <a:lnB w="9525">
                      <a:solidFill>
                        <a:srgbClr val="ECE7D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2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900" dirty="0">
                        <a:latin typeface="+mj-ea"/>
                        <a:ea typeface="+mj-ea"/>
                        <a:cs typeface="Times New Roman"/>
                      </a:endParaRPr>
                    </a:p>
                    <a:p>
                      <a:pPr marL="253365">
                        <a:lnSpc>
                          <a:spcPct val="100000"/>
                        </a:lnSpc>
                        <a:tabLst>
                          <a:tab pos="1657350" algn="l"/>
                        </a:tabLst>
                      </a:pPr>
                      <a:r>
                        <a:rPr sz="900" dirty="0">
                          <a:solidFill>
                            <a:srgbClr val="C8A062"/>
                          </a:solidFill>
                          <a:latin typeface="+mj-ea"/>
                          <a:ea typeface="+mj-ea"/>
                          <a:cs typeface="Consolas"/>
                        </a:rPr>
                        <a:t>15:50-</a:t>
                      </a:r>
                      <a:r>
                        <a:rPr sz="900" spc="-10" dirty="0">
                          <a:solidFill>
                            <a:srgbClr val="C8A062"/>
                          </a:solidFill>
                          <a:latin typeface="+mj-ea"/>
                          <a:ea typeface="+mj-ea"/>
                          <a:cs typeface="Consolas"/>
                        </a:rPr>
                        <a:t>16:00</a:t>
                      </a:r>
                      <a:r>
                        <a:rPr sz="900" dirty="0">
                          <a:solidFill>
                            <a:srgbClr val="C8A062"/>
                          </a:solidFill>
                          <a:latin typeface="+mj-ea"/>
                          <a:ea typeface="+mj-ea"/>
                          <a:cs typeface="Consolas"/>
                        </a:rPr>
                        <a:t>	</a:t>
                      </a:r>
                      <a:r>
                        <a:rPr sz="2000" b="1" spc="-37" baseline="-28985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휴식</a:t>
                      </a:r>
                      <a:endParaRPr sz="2000" baseline="-28985" dirty="0">
                        <a:latin typeface="+mj-ea"/>
                        <a:ea typeface="+mj-ea"/>
                        <a:cs typeface="Malgun Gothic"/>
                      </a:endParaRPr>
                    </a:p>
                  </a:txBody>
                  <a:tcPr marL="0" marR="0" marT="15875" marB="0">
                    <a:lnL w="9525">
                      <a:solidFill>
                        <a:srgbClr val="ECE7DB"/>
                      </a:solidFill>
                      <a:prstDash val="solid"/>
                    </a:lnL>
                    <a:lnT w="9525">
                      <a:solidFill>
                        <a:srgbClr val="ECE7DB"/>
                      </a:solidFill>
                      <a:prstDash val="solid"/>
                    </a:lnT>
                    <a:lnB w="9525">
                      <a:solidFill>
                        <a:srgbClr val="ECE7D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9051">
                <a:tc>
                  <a:txBody>
                    <a:bodyPr/>
                    <a:lstStyle/>
                    <a:p>
                      <a:pPr marL="253365">
                        <a:lnSpc>
                          <a:spcPct val="100000"/>
                        </a:lnSpc>
                        <a:spcBef>
                          <a:spcPts val="760"/>
                        </a:spcBef>
                        <a:tabLst>
                          <a:tab pos="1657350" algn="l"/>
                        </a:tabLst>
                      </a:pPr>
                      <a:r>
                        <a:rPr sz="900" dirty="0">
                          <a:solidFill>
                            <a:srgbClr val="C8A062"/>
                          </a:solidFill>
                          <a:latin typeface="+mj-ea"/>
                          <a:ea typeface="+mj-ea"/>
                          <a:cs typeface="Consolas"/>
                        </a:rPr>
                        <a:t>16:00-</a:t>
                      </a:r>
                      <a:r>
                        <a:rPr sz="900" spc="-10" dirty="0">
                          <a:solidFill>
                            <a:srgbClr val="C8A062"/>
                          </a:solidFill>
                          <a:latin typeface="+mj-ea"/>
                          <a:ea typeface="+mj-ea"/>
                          <a:cs typeface="Consolas"/>
                        </a:rPr>
                        <a:t>17:20</a:t>
                      </a:r>
                      <a:r>
                        <a:rPr sz="900" dirty="0">
                          <a:solidFill>
                            <a:srgbClr val="C8A062"/>
                          </a:solidFill>
                          <a:latin typeface="+mj-ea"/>
                          <a:ea typeface="+mj-ea"/>
                          <a:cs typeface="Consolas"/>
                        </a:rPr>
                        <a:t>	</a:t>
                      </a:r>
                      <a:r>
                        <a:rPr sz="2000" b="1" spc="-15" baseline="-28985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사회</a:t>
                      </a:r>
                      <a:r>
                        <a:rPr sz="2400" b="1" spc="-15" baseline="-25641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Garamond"/>
                        </a:rPr>
                        <a:t>·</a:t>
                      </a:r>
                      <a:r>
                        <a:rPr sz="2000" b="1" spc="-15" baseline="-28985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정치혁신</a:t>
                      </a:r>
                      <a:endParaRPr sz="2000" baseline="-28985" dirty="0">
                        <a:latin typeface="+mj-ea"/>
                        <a:ea typeface="+mj-ea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900" dirty="0">
                        <a:latin typeface="+mj-ea"/>
                        <a:ea typeface="+mj-ea"/>
                        <a:cs typeface="Times New Roman"/>
                      </a:endParaRPr>
                    </a:p>
                    <a:p>
                      <a:pPr marL="165735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BEC2CD"/>
                          </a:solidFill>
                          <a:latin typeface="+mj-ea"/>
                          <a:ea typeface="+mj-ea"/>
                          <a:cs typeface="Malgun Gothic"/>
                        </a:rPr>
                        <a:t>현직</a:t>
                      </a:r>
                      <a:r>
                        <a:rPr sz="900" spc="90" dirty="0">
                          <a:solidFill>
                            <a:srgbClr val="BEC2CD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BEC2CD"/>
                          </a:solidFill>
                          <a:latin typeface="+mj-ea"/>
                          <a:ea typeface="+mj-ea"/>
                          <a:cs typeface="Malgun Gothic"/>
                        </a:rPr>
                        <a:t>30대</a:t>
                      </a:r>
                      <a:r>
                        <a:rPr sz="900" spc="90" dirty="0">
                          <a:solidFill>
                            <a:srgbClr val="BEC2CD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BEC2CD"/>
                          </a:solidFill>
                          <a:latin typeface="+mj-ea"/>
                          <a:ea typeface="+mj-ea"/>
                          <a:cs typeface="Malgun Gothic"/>
                        </a:rPr>
                        <a:t>국회의원</a:t>
                      </a:r>
                      <a:r>
                        <a:rPr sz="900" spc="90" dirty="0">
                          <a:solidFill>
                            <a:srgbClr val="BEC2CD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spc="-25" dirty="0">
                          <a:solidFill>
                            <a:srgbClr val="BEC2CD"/>
                          </a:solidFill>
                          <a:latin typeface="+mj-ea"/>
                          <a:ea typeface="+mj-ea"/>
                          <a:cs typeface="Malgun Gothic"/>
                        </a:rPr>
                        <a:t>4인</a:t>
                      </a:r>
                      <a:endParaRPr sz="900" dirty="0">
                        <a:latin typeface="+mj-ea"/>
                        <a:ea typeface="+mj-ea"/>
                        <a:cs typeface="Malgun Gothic"/>
                      </a:endParaRPr>
                    </a:p>
                  </a:txBody>
                  <a:tcPr marL="0" marR="0" marT="96520" marB="0">
                    <a:lnL w="9525">
                      <a:solidFill>
                        <a:srgbClr val="ECE7DB"/>
                      </a:solidFill>
                      <a:prstDash val="solid"/>
                    </a:lnL>
                    <a:lnT w="9525">
                      <a:solidFill>
                        <a:srgbClr val="ECE7DB"/>
                      </a:solidFill>
                      <a:prstDash val="solid"/>
                    </a:lnT>
                    <a:lnB w="9525">
                      <a:solidFill>
                        <a:srgbClr val="ECE7D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98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900" dirty="0">
                        <a:latin typeface="+mj-ea"/>
                        <a:ea typeface="+mj-ea"/>
                        <a:cs typeface="Times New Roman"/>
                      </a:endParaRPr>
                    </a:p>
                    <a:p>
                      <a:pPr marL="253365">
                        <a:lnSpc>
                          <a:spcPct val="100000"/>
                        </a:lnSpc>
                        <a:tabLst>
                          <a:tab pos="1657350" algn="l"/>
                        </a:tabLst>
                      </a:pPr>
                      <a:r>
                        <a:rPr sz="900" dirty="0">
                          <a:solidFill>
                            <a:srgbClr val="C8A062"/>
                          </a:solidFill>
                          <a:latin typeface="+mj-ea"/>
                          <a:ea typeface="+mj-ea"/>
                          <a:cs typeface="Consolas"/>
                        </a:rPr>
                        <a:t>17:20-</a:t>
                      </a:r>
                      <a:r>
                        <a:rPr sz="900" spc="-10" dirty="0">
                          <a:solidFill>
                            <a:srgbClr val="C8A062"/>
                          </a:solidFill>
                          <a:latin typeface="+mj-ea"/>
                          <a:ea typeface="+mj-ea"/>
                          <a:cs typeface="Consolas"/>
                        </a:rPr>
                        <a:t>17:50</a:t>
                      </a:r>
                      <a:r>
                        <a:rPr sz="900" dirty="0">
                          <a:solidFill>
                            <a:srgbClr val="C8A062"/>
                          </a:solidFill>
                          <a:latin typeface="+mj-ea"/>
                          <a:ea typeface="+mj-ea"/>
                          <a:cs typeface="Consolas"/>
                        </a:rPr>
                        <a:t>	</a:t>
                      </a:r>
                      <a:r>
                        <a:rPr sz="2000" b="1" spc="-217" baseline="-28985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종합</a:t>
                      </a:r>
                      <a:r>
                        <a:rPr sz="2000" b="1" spc="-104" baseline="-28985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2000" b="1" spc="-30" baseline="-28985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디스커션</a:t>
                      </a:r>
                      <a:endParaRPr sz="2000" baseline="-28985" dirty="0">
                        <a:latin typeface="+mj-ea"/>
                        <a:ea typeface="+mj-ea"/>
                        <a:cs typeface="Malgun Gothic"/>
                      </a:endParaRPr>
                    </a:p>
                  </a:txBody>
                  <a:tcPr marL="0" marR="0" marT="6350" marB="0">
                    <a:lnL w="9525">
                      <a:solidFill>
                        <a:srgbClr val="ECE7DB"/>
                      </a:solidFill>
                      <a:prstDash val="solid"/>
                    </a:lnL>
                    <a:lnT w="9525">
                      <a:solidFill>
                        <a:srgbClr val="ECE7DB"/>
                      </a:solidFill>
                      <a:prstDash val="solid"/>
                    </a:lnT>
                    <a:lnB w="9525">
                      <a:solidFill>
                        <a:srgbClr val="ECE7D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2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200" dirty="0">
                        <a:latin typeface="+mj-ea"/>
                        <a:ea typeface="+mj-ea"/>
                        <a:cs typeface="Times New Roman"/>
                      </a:endParaRPr>
                    </a:p>
                    <a:p>
                      <a:pPr marL="253365">
                        <a:lnSpc>
                          <a:spcPct val="100000"/>
                        </a:lnSpc>
                        <a:tabLst>
                          <a:tab pos="1657350" algn="l"/>
                        </a:tabLst>
                      </a:pPr>
                      <a:r>
                        <a:rPr sz="1400" baseline="44444" dirty="0">
                          <a:solidFill>
                            <a:srgbClr val="C8A062"/>
                          </a:solidFill>
                          <a:latin typeface="+mj-ea"/>
                          <a:ea typeface="+mj-ea"/>
                          <a:cs typeface="Consolas"/>
                        </a:rPr>
                        <a:t>17:50-</a:t>
                      </a:r>
                      <a:r>
                        <a:rPr sz="1400" spc="-15" baseline="44444" dirty="0">
                          <a:solidFill>
                            <a:srgbClr val="C8A062"/>
                          </a:solidFill>
                          <a:latin typeface="+mj-ea"/>
                          <a:ea typeface="+mj-ea"/>
                          <a:cs typeface="Consolas"/>
                        </a:rPr>
                        <a:t>18:00</a:t>
                      </a:r>
                      <a:r>
                        <a:rPr sz="1400" baseline="44444" dirty="0">
                          <a:solidFill>
                            <a:srgbClr val="C8A062"/>
                          </a:solidFill>
                          <a:latin typeface="+mj-ea"/>
                          <a:ea typeface="+mj-ea"/>
                          <a:cs typeface="Consolas"/>
                        </a:rPr>
                        <a:t>	</a:t>
                      </a:r>
                      <a:r>
                        <a:rPr sz="1400" b="1" spc="-140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마무리</a:t>
                      </a:r>
                      <a:r>
                        <a:rPr sz="1400" b="1" spc="-70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1400" b="1" spc="-145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멘트</a:t>
                      </a:r>
                      <a:r>
                        <a:rPr sz="1400" b="1" spc="-70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1400" b="1" spc="-145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및</a:t>
                      </a:r>
                      <a:r>
                        <a:rPr sz="1400" b="1" spc="-70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1400" b="1" spc="-140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네트워킹</a:t>
                      </a:r>
                      <a:r>
                        <a:rPr sz="1400" b="1" spc="-70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1400" b="1" spc="-145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장소</a:t>
                      </a:r>
                      <a:r>
                        <a:rPr sz="1400" b="1" spc="-70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1400" b="1" spc="-145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이동</a:t>
                      </a:r>
                      <a:r>
                        <a:rPr sz="1400" b="1" spc="-70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안내</a:t>
                      </a:r>
                      <a:endParaRPr sz="1400" dirty="0">
                        <a:latin typeface="+mj-ea"/>
                        <a:ea typeface="+mj-ea"/>
                        <a:cs typeface="Malgun Gothic"/>
                      </a:endParaRPr>
                    </a:p>
                  </a:txBody>
                  <a:tcPr marL="0" marR="0" marT="38735" marB="0">
                    <a:lnL w="9525">
                      <a:solidFill>
                        <a:srgbClr val="ECE7DB"/>
                      </a:solidFill>
                      <a:prstDash val="solid"/>
                    </a:lnL>
                    <a:lnT w="9525">
                      <a:solidFill>
                        <a:srgbClr val="ECE7DB"/>
                      </a:solidFill>
                      <a:prstDash val="solid"/>
                    </a:lnT>
                    <a:lnB w="9525">
                      <a:solidFill>
                        <a:srgbClr val="ECE7D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098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200" dirty="0">
                        <a:latin typeface="+mj-ea"/>
                        <a:ea typeface="+mj-ea"/>
                        <a:cs typeface="Times New Roman"/>
                      </a:endParaRPr>
                    </a:p>
                    <a:p>
                      <a:pPr marL="253365">
                        <a:lnSpc>
                          <a:spcPct val="100000"/>
                        </a:lnSpc>
                        <a:tabLst>
                          <a:tab pos="1657350" algn="l"/>
                        </a:tabLst>
                      </a:pPr>
                      <a:r>
                        <a:rPr sz="1400" spc="-15" baseline="44444" dirty="0">
                          <a:solidFill>
                            <a:srgbClr val="C8A062"/>
                          </a:solidFill>
                          <a:latin typeface="+mj-ea"/>
                          <a:ea typeface="+mj-ea"/>
                          <a:cs typeface="Consolas"/>
                        </a:rPr>
                        <a:t>18:00-</a:t>
                      </a:r>
                      <a:r>
                        <a:rPr sz="1400" baseline="44444" dirty="0">
                          <a:solidFill>
                            <a:srgbClr val="C8A062"/>
                          </a:solidFill>
                          <a:latin typeface="+mj-ea"/>
                          <a:ea typeface="+mj-ea"/>
                          <a:cs typeface="Consolas"/>
                        </a:rPr>
                        <a:t>	</a:t>
                      </a:r>
                      <a:r>
                        <a:rPr sz="1400" b="1" spc="-140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알럼나이와</a:t>
                      </a:r>
                      <a:r>
                        <a:rPr sz="1400" b="1" spc="-75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1400" b="1" spc="-140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함께하는</a:t>
                      </a:r>
                      <a:r>
                        <a:rPr sz="1400" b="1" spc="-70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1400" b="1" spc="-140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네트워킹</a:t>
                      </a:r>
                      <a:r>
                        <a:rPr sz="1400" b="1" spc="-70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1400" b="1" spc="-35" dirty="0">
                          <a:solidFill>
                            <a:srgbClr val="ECE7DB"/>
                          </a:solidFill>
                          <a:latin typeface="+mj-ea"/>
                          <a:ea typeface="+mj-ea"/>
                          <a:cs typeface="Malgun Gothic"/>
                        </a:rPr>
                        <a:t>나잇</a:t>
                      </a:r>
                      <a:endParaRPr sz="1400" dirty="0">
                        <a:latin typeface="+mj-ea"/>
                        <a:ea typeface="+mj-ea"/>
                        <a:cs typeface="Malgun Gothic"/>
                      </a:endParaRPr>
                    </a:p>
                  </a:txBody>
                  <a:tcPr marL="0" marR="0" marT="38735" marB="0">
                    <a:lnL w="9525">
                      <a:solidFill>
                        <a:srgbClr val="ECE7DB"/>
                      </a:solidFill>
                      <a:prstDash val="solid"/>
                    </a:lnL>
                    <a:lnT w="9525">
                      <a:solidFill>
                        <a:srgbClr val="ECE7DB"/>
                      </a:solidFill>
                      <a:prstDash val="solid"/>
                    </a:lnT>
                    <a:lnB w="9525">
                      <a:noFill/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6784282" y="10134434"/>
            <a:ext cx="16827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35"/>
              </a:lnSpc>
            </a:pPr>
            <a:r>
              <a:rPr spc="-25" dirty="0">
                <a:latin typeface="+mj-ea"/>
                <a:ea typeface="+mj-ea"/>
              </a:rPr>
              <a:t>0</a:t>
            </a:r>
            <a:fld id="{81D60167-4931-47E6-BA6A-407CBD079E47}" type="slidenum">
              <a:rPr spc="-25" dirty="0">
                <a:latin typeface="+mj-ea"/>
                <a:ea typeface="+mj-ea"/>
              </a:rPr>
              <a:t>3</a:t>
            </a:fld>
            <a:endParaRPr spc="-25" dirty="0">
              <a:latin typeface="+mj-ea"/>
              <a:ea typeface="+mj-ea"/>
            </a:endParaRPr>
          </a:p>
        </p:txBody>
      </p:sp>
      <p:pic>
        <p:nvPicPr>
          <p:cNvPr id="17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0250" y="1917700"/>
            <a:ext cx="85725" cy="85725"/>
          </a:xfrm>
          <a:prstGeom prst="rect">
            <a:avLst/>
          </a:prstGeom>
        </p:spPr>
      </p:pic>
      <p:pic>
        <p:nvPicPr>
          <p:cNvPr id="18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0250" y="2908300"/>
            <a:ext cx="85725" cy="95250"/>
          </a:xfrm>
          <a:prstGeom prst="rect">
            <a:avLst/>
          </a:prstGeom>
        </p:spPr>
      </p:pic>
      <p:pic>
        <p:nvPicPr>
          <p:cNvPr id="19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0250" y="4813300"/>
            <a:ext cx="85725" cy="95250"/>
          </a:xfrm>
          <a:prstGeom prst="rect">
            <a:avLst/>
          </a:prstGeom>
        </p:spPr>
      </p:pic>
      <p:pic>
        <p:nvPicPr>
          <p:cNvPr id="23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725" y="5575300"/>
            <a:ext cx="85725" cy="85725"/>
          </a:xfrm>
          <a:prstGeom prst="rect">
            <a:avLst/>
          </a:prstGeom>
        </p:spPr>
      </p:pic>
      <p:pic>
        <p:nvPicPr>
          <p:cNvPr id="25" name="object 10">
            <a:extLst>
              <a:ext uri="{FF2B5EF4-FFF2-40B4-BE49-F238E27FC236}">
                <a16:creationId xmlns:a16="http://schemas.microsoft.com/office/drawing/2014/main" id="{6D17B118-1458-6DA4-0395-56A80D0B3EE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0250" y="3879850"/>
            <a:ext cx="85725" cy="95250"/>
          </a:xfrm>
          <a:prstGeom prst="rect">
            <a:avLst/>
          </a:prstGeom>
        </p:spPr>
      </p:pic>
      <p:pic>
        <p:nvPicPr>
          <p:cNvPr id="26" name="object 10">
            <a:extLst>
              <a:ext uri="{FF2B5EF4-FFF2-40B4-BE49-F238E27FC236}">
                <a16:creationId xmlns:a16="http://schemas.microsoft.com/office/drawing/2014/main" id="{EED959B4-893E-E91B-B0B0-359EAB7068A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0250" y="7251700"/>
            <a:ext cx="85725" cy="95250"/>
          </a:xfrm>
          <a:prstGeom prst="rect">
            <a:avLst/>
          </a:prstGeom>
        </p:spPr>
      </p:pic>
      <p:pic>
        <p:nvPicPr>
          <p:cNvPr id="27" name="object 14">
            <a:extLst>
              <a:ext uri="{FF2B5EF4-FFF2-40B4-BE49-F238E27FC236}">
                <a16:creationId xmlns:a16="http://schemas.microsoft.com/office/drawing/2014/main" id="{3D074CE1-FD6A-5584-842E-E18BD2F76A6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0250" y="6556375"/>
            <a:ext cx="85725" cy="85725"/>
          </a:xfrm>
          <a:prstGeom prst="rect">
            <a:avLst/>
          </a:prstGeom>
        </p:spPr>
      </p:pic>
      <p:pic>
        <p:nvPicPr>
          <p:cNvPr id="28" name="object 10">
            <a:extLst>
              <a:ext uri="{FF2B5EF4-FFF2-40B4-BE49-F238E27FC236}">
                <a16:creationId xmlns:a16="http://schemas.microsoft.com/office/drawing/2014/main" id="{7714E526-62A1-8D21-6A9C-48D67FDFFFE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0250" y="7994650"/>
            <a:ext cx="85725" cy="95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7699" y="3590344"/>
            <a:ext cx="6623563" cy="9525"/>
          </a:xfrm>
          <a:custGeom>
            <a:avLst/>
            <a:gdLst/>
            <a:ahLst/>
            <a:cxnLst/>
            <a:rect l="l" t="t" r="r" b="b"/>
            <a:pathLst>
              <a:path w="6267450" h="9525">
                <a:moveTo>
                  <a:pt x="6267450" y="9525"/>
                </a:moveTo>
                <a:lnTo>
                  <a:pt x="0" y="9525"/>
                </a:lnTo>
                <a:lnTo>
                  <a:pt x="0" y="0"/>
                </a:lnTo>
                <a:lnTo>
                  <a:pt x="6267450" y="0"/>
                </a:lnTo>
                <a:lnTo>
                  <a:pt x="6267450" y="9525"/>
                </a:lnTo>
                <a:close/>
              </a:path>
            </a:pathLst>
          </a:custGeom>
          <a:solidFill>
            <a:srgbClr val="1C2136">
              <a:alpha val="14118"/>
            </a:srgbClr>
          </a:solidFill>
        </p:spPr>
        <p:txBody>
          <a:bodyPr wrap="square" lIns="0" tIns="0" rIns="0" bIns="0" rtlCol="0"/>
          <a:lstStyle/>
          <a:p>
            <a:endParaRPr sz="1600">
              <a:latin typeface="+mn-ea"/>
              <a:ea typeface="+mn-e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699" y="5800144"/>
            <a:ext cx="6623563" cy="9525"/>
          </a:xfrm>
          <a:custGeom>
            <a:avLst/>
            <a:gdLst/>
            <a:ahLst/>
            <a:cxnLst/>
            <a:rect l="l" t="t" r="r" b="b"/>
            <a:pathLst>
              <a:path w="6267450" h="9525">
                <a:moveTo>
                  <a:pt x="6267450" y="9525"/>
                </a:moveTo>
                <a:lnTo>
                  <a:pt x="0" y="9525"/>
                </a:lnTo>
                <a:lnTo>
                  <a:pt x="0" y="0"/>
                </a:lnTo>
                <a:lnTo>
                  <a:pt x="6267450" y="0"/>
                </a:lnTo>
                <a:lnTo>
                  <a:pt x="6267450" y="9525"/>
                </a:lnTo>
                <a:close/>
              </a:path>
            </a:pathLst>
          </a:custGeom>
          <a:solidFill>
            <a:srgbClr val="1C2136">
              <a:alpha val="14118"/>
            </a:srgbClr>
          </a:solidFill>
        </p:spPr>
        <p:txBody>
          <a:bodyPr wrap="square" lIns="0" tIns="0" rIns="0" bIns="0" rtlCol="0"/>
          <a:lstStyle/>
          <a:p>
            <a:endParaRPr sz="1600">
              <a:latin typeface="+mn-ea"/>
              <a:ea typeface="+mn-e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5298" y="698500"/>
            <a:ext cx="635513" cy="10643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00" b="1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S</a:t>
            </a:r>
            <a:r>
              <a:rPr sz="600" b="1" spc="-19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b="1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E</a:t>
            </a:r>
            <a:r>
              <a:rPr sz="600" b="1" spc="-185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b="1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S</a:t>
            </a:r>
            <a:r>
              <a:rPr sz="600" b="1" spc="-185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b="1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S</a:t>
            </a:r>
            <a:r>
              <a:rPr sz="600" b="1" spc="-185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b="1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I</a:t>
            </a:r>
            <a:r>
              <a:rPr sz="600" b="1" spc="-19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b="1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O</a:t>
            </a:r>
            <a:r>
              <a:rPr sz="600" b="1" spc="-185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b="1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N</a:t>
            </a:r>
            <a:r>
              <a:rPr sz="600" b="1" spc="-185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b="1" spc="-5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S</a:t>
            </a:r>
            <a:endParaRPr sz="600">
              <a:latin typeface="+mn-ea"/>
              <a:ea typeface="+mn-ea"/>
              <a:cs typeface="Consola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35298" y="800703"/>
            <a:ext cx="1234117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380" dirty="0">
                <a:latin typeface="+mn-ea"/>
                <a:ea typeface="+mn-ea"/>
              </a:rPr>
              <a:t>세션</a:t>
            </a:r>
            <a:r>
              <a:rPr sz="2400" spc="-235" dirty="0">
                <a:latin typeface="+mn-ea"/>
                <a:ea typeface="+mn-ea"/>
              </a:rPr>
              <a:t> </a:t>
            </a:r>
            <a:r>
              <a:rPr sz="2400" spc="-405" dirty="0">
                <a:latin typeface="+mn-ea"/>
                <a:ea typeface="+mn-ea"/>
              </a:rPr>
              <a:t>구성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771481" y="1008062"/>
            <a:ext cx="149651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25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04</a:t>
            </a:r>
            <a:endParaRPr sz="700" dirty="0">
              <a:latin typeface="+mn-ea"/>
              <a:ea typeface="+mn-ea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3469" y="1138325"/>
            <a:ext cx="399267" cy="909223"/>
          </a:xfrm>
          <a:prstGeom prst="rect">
            <a:avLst/>
          </a:prstGeom>
        </p:spPr>
        <p:txBody>
          <a:bodyPr vert="horz" wrap="square" lIns="0" tIns="298450" rIns="0" bIns="0" rtlCol="0">
            <a:spAutoFit/>
          </a:bodyPr>
          <a:lstStyle/>
          <a:p>
            <a:pPr algn="dist">
              <a:lnSpc>
                <a:spcPct val="100000"/>
              </a:lnSpc>
              <a:spcBef>
                <a:spcPts val="2350"/>
              </a:spcBef>
            </a:pPr>
            <a:r>
              <a:rPr lang="en-US" altLang="ko-KR" sz="3200" spc="-615" dirty="0">
                <a:solidFill>
                  <a:srgbClr val="A7814D"/>
                </a:solidFill>
                <a:latin typeface="+mn-ea"/>
                <a:ea typeface="+mn-ea"/>
                <a:cs typeface="Georgia"/>
              </a:rPr>
              <a:t>0</a:t>
            </a:r>
            <a:r>
              <a:rPr sz="3200" spc="-615" dirty="0">
                <a:solidFill>
                  <a:srgbClr val="A7814D"/>
                </a:solidFill>
                <a:latin typeface="+mn-ea"/>
                <a:ea typeface="+mn-ea"/>
                <a:cs typeface="Georgia"/>
              </a:rPr>
              <a:t>1</a:t>
            </a:r>
            <a:endParaRPr sz="3200" dirty="0">
              <a:latin typeface="+mn-ea"/>
              <a:ea typeface="+mn-ea"/>
              <a:cs typeface="Georgia"/>
            </a:endParaRPr>
          </a:p>
          <a:p>
            <a:pPr marL="12700" algn="dist">
              <a:lnSpc>
                <a:spcPct val="100000"/>
              </a:lnSpc>
              <a:spcBef>
                <a:spcPts val="345"/>
              </a:spcBef>
            </a:pPr>
            <a:r>
              <a:rPr sz="400" b="1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S</a:t>
            </a:r>
            <a:r>
              <a:rPr sz="400" b="1" spc="-210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 </a:t>
            </a:r>
            <a:r>
              <a:rPr sz="400" b="1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E</a:t>
            </a:r>
            <a:r>
              <a:rPr sz="400" b="1" spc="-204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 </a:t>
            </a:r>
            <a:r>
              <a:rPr sz="400" b="1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S</a:t>
            </a:r>
            <a:r>
              <a:rPr sz="400" b="1" spc="-210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 </a:t>
            </a:r>
            <a:r>
              <a:rPr sz="400" b="1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S</a:t>
            </a:r>
            <a:r>
              <a:rPr sz="400" b="1" spc="-204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 </a:t>
            </a:r>
            <a:r>
              <a:rPr sz="400" b="1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I</a:t>
            </a:r>
            <a:r>
              <a:rPr sz="400" b="1" spc="-204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 </a:t>
            </a:r>
            <a:r>
              <a:rPr sz="400" b="1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O</a:t>
            </a:r>
            <a:r>
              <a:rPr sz="400" b="1" spc="-210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 </a:t>
            </a:r>
            <a:r>
              <a:rPr sz="400" b="1" spc="-50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N</a:t>
            </a:r>
            <a:endParaRPr sz="400" dirty="0">
              <a:latin typeface="+mn-ea"/>
              <a:ea typeface="+mn-ea"/>
              <a:cs typeface="Consola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38325" y="2218744"/>
            <a:ext cx="5365287" cy="9525"/>
          </a:xfrm>
          <a:custGeom>
            <a:avLst/>
            <a:gdLst/>
            <a:ahLst/>
            <a:cxnLst/>
            <a:rect l="l" t="t" r="r" b="b"/>
            <a:pathLst>
              <a:path w="5076825" h="9525">
                <a:moveTo>
                  <a:pt x="5076825" y="9525"/>
                </a:moveTo>
                <a:lnTo>
                  <a:pt x="0" y="9525"/>
                </a:lnTo>
                <a:lnTo>
                  <a:pt x="0" y="0"/>
                </a:lnTo>
                <a:lnTo>
                  <a:pt x="5076825" y="0"/>
                </a:lnTo>
                <a:lnTo>
                  <a:pt x="5076825" y="9525"/>
                </a:lnTo>
                <a:close/>
              </a:path>
            </a:pathLst>
          </a:custGeom>
          <a:solidFill>
            <a:srgbClr val="1C2136">
              <a:alpha val="14118"/>
            </a:srgbClr>
          </a:solidFill>
        </p:spPr>
        <p:txBody>
          <a:bodyPr wrap="square" lIns="0" tIns="0" rIns="0" bIns="0" rtlCol="0"/>
          <a:lstStyle/>
          <a:p>
            <a:endParaRPr>
              <a:latin typeface="+mn-ea"/>
              <a:ea typeface="+mn-e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23241" y="1470979"/>
            <a:ext cx="876431" cy="26096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600" b="1" spc="-295" dirty="0" err="1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기술</a:t>
            </a:r>
            <a:r>
              <a:rPr lang="en-US" sz="1600" b="1" spc="-295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1600" b="1" spc="-295" dirty="0" err="1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혁신</a:t>
            </a:r>
            <a:endParaRPr sz="1600" dirty="0">
              <a:latin typeface="+mn-ea"/>
              <a:ea typeface="+mn-ea"/>
              <a:cs typeface="Malgun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23243" y="1798169"/>
            <a:ext cx="532204" cy="10708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F</a:t>
            </a:r>
            <a:r>
              <a:rPr sz="600" spc="-245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O</a:t>
            </a:r>
            <a:r>
              <a:rPr sz="600" spc="-229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R</a:t>
            </a:r>
            <a:r>
              <a:rPr sz="600" spc="-235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M</a:t>
            </a:r>
            <a:r>
              <a:rPr sz="600" spc="-229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A</a:t>
            </a:r>
            <a:r>
              <a:rPr sz="600" spc="-229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spc="-5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T</a:t>
            </a:r>
            <a:endParaRPr sz="600" dirty="0">
              <a:latin typeface="+mn-ea"/>
              <a:ea typeface="+mn-ea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23243" y="1989938"/>
            <a:ext cx="1551964" cy="13721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토크콘서트</a:t>
            </a:r>
            <a:r>
              <a:rPr sz="800" b="1" spc="25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형식의</a:t>
            </a:r>
            <a:r>
              <a:rPr sz="800" b="1" spc="25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토의</a:t>
            </a:r>
            <a:r>
              <a:rPr sz="800" b="1" spc="30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b="1" spc="-25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세션</a:t>
            </a:r>
            <a:endParaRPr sz="800" dirty="0">
              <a:latin typeface="+mn-ea"/>
              <a:ea typeface="+mn-ea"/>
              <a:cs typeface="Malgun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54246" y="1798169"/>
            <a:ext cx="261420" cy="10708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T</a:t>
            </a:r>
            <a:r>
              <a:rPr sz="600" spc="-235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I</a:t>
            </a:r>
            <a:r>
              <a:rPr sz="600" spc="-229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M</a:t>
            </a:r>
            <a:r>
              <a:rPr sz="600" spc="-235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spc="-5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E</a:t>
            </a:r>
            <a:endParaRPr sz="600">
              <a:latin typeface="+mn-ea"/>
              <a:ea typeface="+mn-ea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54247" y="1989938"/>
            <a:ext cx="1055047" cy="13721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약</a:t>
            </a:r>
            <a:r>
              <a:rPr sz="800" b="1" spc="15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1시간</a:t>
            </a:r>
            <a:r>
              <a:rPr sz="800" b="1" spc="15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10분</a:t>
            </a:r>
            <a:r>
              <a:rPr sz="800" b="1" spc="15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b="1" spc="-25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예정</a:t>
            </a:r>
            <a:endParaRPr sz="800" dirty="0">
              <a:latin typeface="+mn-ea"/>
              <a:ea typeface="+mn-ea"/>
              <a:cs typeface="Malgun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46957" y="1798169"/>
            <a:ext cx="505558" cy="10708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S</a:t>
            </a:r>
            <a:r>
              <a:rPr sz="600" spc="-235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P</a:t>
            </a:r>
            <a:r>
              <a:rPr sz="600" spc="-229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E</a:t>
            </a:r>
            <a:r>
              <a:rPr sz="600" spc="-235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A</a:t>
            </a:r>
            <a:r>
              <a:rPr sz="600" spc="-229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K</a:t>
            </a:r>
            <a:r>
              <a:rPr sz="600" spc="-229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E</a:t>
            </a:r>
            <a:r>
              <a:rPr sz="600" spc="-235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R</a:t>
            </a:r>
            <a:r>
              <a:rPr sz="600" spc="-229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spc="-5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S</a:t>
            </a:r>
            <a:endParaRPr sz="600">
              <a:latin typeface="+mn-ea"/>
              <a:ea typeface="+mn-ea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46958" y="1989938"/>
            <a:ext cx="1417292" cy="13721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기업인·교수</a:t>
            </a:r>
            <a:r>
              <a:rPr sz="800" b="1" spc="20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등</a:t>
            </a:r>
            <a:r>
              <a:rPr sz="800" b="1" spc="25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관계자</a:t>
            </a:r>
            <a:r>
              <a:rPr sz="800" b="1" spc="20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b="1" spc="-25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6인</a:t>
            </a:r>
            <a:endParaRPr sz="800">
              <a:latin typeface="+mn-ea"/>
              <a:ea typeface="+mn-ea"/>
              <a:cs typeface="Malgun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23242" y="2232575"/>
            <a:ext cx="5350104" cy="94692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56200"/>
              </a:lnSpc>
              <a:spcBef>
                <a:spcPts val="90"/>
              </a:spcBef>
            </a:pP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본</a:t>
            </a:r>
            <a:r>
              <a:rPr sz="800" spc="13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세션은</a:t>
            </a:r>
            <a:r>
              <a:rPr sz="800" spc="14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생성형</a:t>
            </a:r>
            <a:r>
              <a:rPr sz="800" spc="14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AI를</a:t>
            </a:r>
            <a:r>
              <a:rPr sz="800" spc="14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중심으로</a:t>
            </a:r>
            <a:r>
              <a:rPr sz="800" spc="14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급격히</a:t>
            </a:r>
            <a:r>
              <a:rPr sz="800" spc="13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전개되고</a:t>
            </a:r>
            <a:r>
              <a:rPr sz="800" spc="14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있는</a:t>
            </a:r>
            <a:r>
              <a:rPr sz="800" spc="14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기술혁신의</a:t>
            </a:r>
            <a:r>
              <a:rPr sz="800" spc="14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흐름을</a:t>
            </a:r>
            <a:r>
              <a:rPr sz="800" spc="14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학술적</a:t>
            </a:r>
            <a:r>
              <a:rPr sz="800" spc="14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관점에서</a:t>
            </a:r>
            <a:r>
              <a:rPr sz="800" spc="13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거시적으로</a:t>
            </a:r>
            <a:r>
              <a:rPr sz="800" spc="14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spc="-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조</a:t>
            </a:r>
            <a:r>
              <a:rPr sz="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망합니다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.</a:t>
            </a:r>
            <a:r>
              <a:rPr sz="800" spc="13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단순한</a:t>
            </a:r>
            <a:r>
              <a:rPr sz="800" spc="13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기술</a:t>
            </a:r>
            <a:r>
              <a:rPr sz="800" spc="13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소개를</a:t>
            </a:r>
            <a:r>
              <a:rPr sz="800" spc="13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넘어,</a:t>
            </a:r>
            <a:r>
              <a:rPr sz="800" spc="13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오늘날</a:t>
            </a:r>
            <a:r>
              <a:rPr sz="800" spc="13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기술혁신이</a:t>
            </a:r>
            <a:r>
              <a:rPr sz="800" spc="13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어떠한</a:t>
            </a:r>
            <a:r>
              <a:rPr sz="800" spc="13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원리와</a:t>
            </a:r>
            <a:r>
              <a:rPr sz="800" spc="13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방향</a:t>
            </a:r>
            <a:r>
              <a:rPr sz="800" spc="13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속에서</a:t>
            </a:r>
            <a:r>
              <a:rPr sz="800" spc="13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전개되고</a:t>
            </a:r>
            <a:r>
              <a:rPr sz="800" spc="13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있는지,</a:t>
            </a:r>
            <a:r>
              <a:rPr sz="800" spc="13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spc="-2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그리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고</a:t>
            </a:r>
            <a:r>
              <a:rPr sz="800" spc="13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첨단</a:t>
            </a:r>
            <a:r>
              <a:rPr sz="800" spc="13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기술이</a:t>
            </a:r>
            <a:r>
              <a:rPr sz="800" spc="13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산업과</a:t>
            </a:r>
            <a:r>
              <a:rPr sz="800" spc="13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시장</a:t>
            </a:r>
            <a:r>
              <a:rPr sz="800" spc="13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질서를</a:t>
            </a:r>
            <a:r>
              <a:rPr sz="800" spc="13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어떻게</a:t>
            </a:r>
            <a:r>
              <a:rPr sz="800" spc="13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재편하고</a:t>
            </a:r>
            <a:r>
              <a:rPr sz="800" spc="13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있는지를</a:t>
            </a:r>
            <a:r>
              <a:rPr sz="800" spc="13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폭넓게</a:t>
            </a:r>
            <a:r>
              <a:rPr sz="800" spc="13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논의합니다.</a:t>
            </a:r>
            <a:r>
              <a:rPr sz="800" spc="13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국가</a:t>
            </a:r>
            <a:r>
              <a:rPr sz="800" spc="13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차원에서는</a:t>
            </a:r>
            <a:r>
              <a:rPr sz="800" spc="13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spc="-2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기술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패권</a:t>
            </a:r>
            <a:r>
              <a:rPr sz="800" spc="114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경쟁이</a:t>
            </a:r>
            <a:r>
              <a:rPr sz="800" spc="114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심화되는</a:t>
            </a:r>
            <a:r>
              <a:rPr sz="800" spc="114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국제</a:t>
            </a:r>
            <a:r>
              <a:rPr sz="800" spc="12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환경</a:t>
            </a:r>
            <a:r>
              <a:rPr sz="800" spc="114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속</a:t>
            </a:r>
            <a:r>
              <a:rPr sz="800" spc="114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대한민국이</a:t>
            </a:r>
            <a:r>
              <a:rPr sz="800" spc="114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확보해야</a:t>
            </a:r>
            <a:r>
              <a:rPr sz="800" spc="12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할</a:t>
            </a:r>
            <a:r>
              <a:rPr sz="800" spc="114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전략적</a:t>
            </a:r>
            <a:r>
              <a:rPr sz="800" spc="114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위치와</a:t>
            </a:r>
            <a:r>
              <a:rPr sz="800" spc="114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경쟁</a:t>
            </a:r>
            <a:r>
              <a:rPr sz="800" spc="12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우위를,</a:t>
            </a:r>
            <a:r>
              <a:rPr sz="800" spc="114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개인</a:t>
            </a:r>
            <a:r>
              <a:rPr sz="800" spc="114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차원에서는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기술혁신</a:t>
            </a:r>
            <a:r>
              <a:rPr sz="800" spc="12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이후</a:t>
            </a:r>
            <a:r>
              <a:rPr sz="800" spc="12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변화하는</a:t>
            </a:r>
            <a:r>
              <a:rPr sz="800" spc="12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인간의</a:t>
            </a:r>
            <a:r>
              <a:rPr sz="800" spc="12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삶과</a:t>
            </a:r>
            <a:r>
              <a:rPr sz="800" spc="12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노동,</a:t>
            </a:r>
            <a:r>
              <a:rPr sz="800" spc="12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가치와</a:t>
            </a:r>
            <a:r>
              <a:rPr sz="800" spc="12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선</a:t>
            </a:r>
            <a:r>
              <a:rPr lang="ko-KR" altLang="en-US" sz="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택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의</a:t>
            </a:r>
            <a:r>
              <a:rPr sz="800" spc="12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문제를</a:t>
            </a:r>
            <a:r>
              <a:rPr sz="800" spc="12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함께</a:t>
            </a:r>
            <a:r>
              <a:rPr sz="800" spc="12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성찰합니다.</a:t>
            </a:r>
            <a:endParaRPr sz="8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  <a:cs typeface="Malgun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3471" y="3224300"/>
            <a:ext cx="399752" cy="909223"/>
          </a:xfrm>
          <a:prstGeom prst="rect">
            <a:avLst/>
          </a:prstGeom>
        </p:spPr>
        <p:txBody>
          <a:bodyPr vert="horz" wrap="square" lIns="0" tIns="298450" rIns="0" bIns="0" rtlCol="0">
            <a:spAutoFit/>
          </a:bodyPr>
          <a:lstStyle/>
          <a:p>
            <a:pPr algn="dist">
              <a:lnSpc>
                <a:spcPct val="100000"/>
              </a:lnSpc>
              <a:spcBef>
                <a:spcPts val="2350"/>
              </a:spcBef>
            </a:pPr>
            <a:r>
              <a:rPr sz="3200" spc="-670" dirty="0">
                <a:solidFill>
                  <a:srgbClr val="A7814D"/>
                </a:solidFill>
                <a:latin typeface="+mn-ea"/>
                <a:ea typeface="+mn-ea"/>
                <a:cs typeface="Georgia"/>
              </a:rPr>
              <a:t>02</a:t>
            </a:r>
            <a:endParaRPr sz="3200" dirty="0">
              <a:latin typeface="+mn-ea"/>
              <a:ea typeface="+mn-ea"/>
              <a:cs typeface="Georgia"/>
            </a:endParaRPr>
          </a:p>
          <a:p>
            <a:pPr marL="12700" algn="dist">
              <a:lnSpc>
                <a:spcPct val="100000"/>
              </a:lnSpc>
              <a:spcBef>
                <a:spcPts val="345"/>
              </a:spcBef>
            </a:pPr>
            <a:r>
              <a:rPr sz="400" b="1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S</a:t>
            </a:r>
            <a:r>
              <a:rPr sz="400" b="1" spc="-210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 </a:t>
            </a:r>
            <a:r>
              <a:rPr sz="400" b="1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E</a:t>
            </a:r>
            <a:r>
              <a:rPr sz="400" b="1" spc="-204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 </a:t>
            </a:r>
            <a:r>
              <a:rPr sz="400" b="1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S</a:t>
            </a:r>
            <a:r>
              <a:rPr sz="400" b="1" spc="-210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 </a:t>
            </a:r>
            <a:r>
              <a:rPr sz="400" b="1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S</a:t>
            </a:r>
            <a:r>
              <a:rPr sz="400" b="1" spc="-204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 </a:t>
            </a:r>
            <a:r>
              <a:rPr sz="400" b="1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I</a:t>
            </a:r>
            <a:r>
              <a:rPr sz="400" b="1" spc="-204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 </a:t>
            </a:r>
            <a:r>
              <a:rPr sz="400" b="1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O</a:t>
            </a:r>
            <a:r>
              <a:rPr sz="400" b="1" spc="-210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 </a:t>
            </a:r>
            <a:r>
              <a:rPr sz="400" b="1" spc="-50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N</a:t>
            </a:r>
            <a:endParaRPr sz="400" dirty="0">
              <a:latin typeface="+mn-ea"/>
              <a:ea typeface="+mn-ea"/>
              <a:cs typeface="Consola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838325" y="4423526"/>
            <a:ext cx="5365287" cy="9525"/>
          </a:xfrm>
          <a:custGeom>
            <a:avLst/>
            <a:gdLst/>
            <a:ahLst/>
            <a:cxnLst/>
            <a:rect l="l" t="t" r="r" b="b"/>
            <a:pathLst>
              <a:path w="5076825" h="9525">
                <a:moveTo>
                  <a:pt x="5076825" y="9525"/>
                </a:moveTo>
                <a:lnTo>
                  <a:pt x="0" y="9525"/>
                </a:lnTo>
                <a:lnTo>
                  <a:pt x="0" y="0"/>
                </a:lnTo>
                <a:lnTo>
                  <a:pt x="5076825" y="0"/>
                </a:lnTo>
                <a:lnTo>
                  <a:pt x="5076825" y="9525"/>
                </a:lnTo>
                <a:close/>
              </a:path>
            </a:pathLst>
          </a:custGeom>
          <a:solidFill>
            <a:srgbClr val="1C2136">
              <a:alpha val="14118"/>
            </a:srgbClr>
          </a:solidFill>
        </p:spPr>
        <p:txBody>
          <a:bodyPr wrap="square" lIns="0" tIns="0" rIns="0" bIns="0" rtlCol="0"/>
          <a:lstStyle/>
          <a:p>
            <a:endParaRPr>
              <a:latin typeface="+mn-ea"/>
              <a:ea typeface="+mn-e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23241" y="3680714"/>
            <a:ext cx="1801467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00" b="1" spc="-270" dirty="0" err="1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사회</a:t>
            </a:r>
            <a:r>
              <a:rPr lang="en-US" sz="1600" b="1" spc="-270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 &amp; </a:t>
            </a:r>
            <a:r>
              <a:rPr lang="ko-KR" altLang="en-US" sz="1600" b="1" spc="-270" dirty="0">
                <a:solidFill>
                  <a:srgbClr val="1C2136"/>
                </a:solidFill>
                <a:latin typeface="+mn-ea"/>
                <a:ea typeface="+mn-ea"/>
                <a:cs typeface="Garamond"/>
              </a:rPr>
              <a:t>정</a:t>
            </a:r>
            <a:r>
              <a:rPr sz="1600" b="1" spc="-270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치</a:t>
            </a:r>
            <a:r>
              <a:rPr lang="en-US" sz="1600" b="1" spc="-270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1600" b="1" spc="-270" dirty="0" err="1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혁신</a:t>
            </a:r>
            <a:endParaRPr sz="1600" dirty="0">
              <a:latin typeface="+mn-ea"/>
              <a:ea typeface="+mn-ea"/>
              <a:cs typeface="Malgun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23241" y="4051300"/>
            <a:ext cx="488815" cy="10708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F</a:t>
            </a:r>
            <a:r>
              <a:rPr sz="600" spc="-245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O</a:t>
            </a:r>
            <a:r>
              <a:rPr sz="600" spc="-229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R</a:t>
            </a:r>
            <a:r>
              <a:rPr sz="600" spc="-235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M</a:t>
            </a:r>
            <a:r>
              <a:rPr sz="600" spc="-229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A</a:t>
            </a:r>
            <a:r>
              <a:rPr sz="600" spc="-229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spc="-5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T</a:t>
            </a:r>
            <a:endParaRPr sz="600">
              <a:latin typeface="+mn-ea"/>
              <a:ea typeface="+mn-ea"/>
              <a:cs typeface="Consola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23243" y="4233544"/>
            <a:ext cx="1551964" cy="13721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토크콘서트</a:t>
            </a:r>
            <a:r>
              <a:rPr sz="800" b="1" spc="25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형식의</a:t>
            </a:r>
            <a:r>
              <a:rPr sz="800" b="1" spc="25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토론</a:t>
            </a:r>
            <a:r>
              <a:rPr sz="800" b="1" spc="30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b="1" spc="-25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세션</a:t>
            </a:r>
            <a:endParaRPr sz="800">
              <a:latin typeface="+mn-ea"/>
              <a:ea typeface="+mn-ea"/>
              <a:cs typeface="Malgun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54246" y="4051300"/>
            <a:ext cx="261420" cy="10708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T</a:t>
            </a:r>
            <a:r>
              <a:rPr sz="600" spc="-235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I</a:t>
            </a:r>
            <a:r>
              <a:rPr sz="600" spc="-229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M</a:t>
            </a:r>
            <a:r>
              <a:rPr sz="600" spc="-235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spc="-5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E</a:t>
            </a:r>
            <a:endParaRPr sz="600">
              <a:latin typeface="+mn-ea"/>
              <a:ea typeface="+mn-ea"/>
              <a:cs typeface="Consola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54247" y="4233544"/>
            <a:ext cx="1055047" cy="13721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약</a:t>
            </a:r>
            <a:r>
              <a:rPr sz="800" b="1" spc="15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1시간</a:t>
            </a:r>
            <a:r>
              <a:rPr sz="800" b="1" spc="15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20분</a:t>
            </a:r>
            <a:r>
              <a:rPr sz="800" b="1" spc="15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b="1" spc="-25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예정</a:t>
            </a:r>
            <a:endParaRPr sz="800">
              <a:latin typeface="+mn-ea"/>
              <a:ea typeface="+mn-ea"/>
              <a:cs typeface="Malgun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646958" y="4051300"/>
            <a:ext cx="321916" cy="10708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P</a:t>
            </a:r>
            <a:r>
              <a:rPr sz="600" spc="-235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A</a:t>
            </a:r>
            <a:r>
              <a:rPr sz="600" spc="-229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N</a:t>
            </a:r>
            <a:r>
              <a:rPr sz="600" spc="-235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E</a:t>
            </a:r>
            <a:r>
              <a:rPr sz="600" spc="-229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spc="-5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L</a:t>
            </a:r>
            <a:endParaRPr sz="600">
              <a:latin typeface="+mn-ea"/>
              <a:ea typeface="+mn-ea"/>
              <a:cs typeface="Consola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646958" y="4233544"/>
            <a:ext cx="1288382" cy="13721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30대</a:t>
            </a:r>
            <a:r>
              <a:rPr sz="800" b="1" spc="20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현직</a:t>
            </a:r>
            <a:r>
              <a:rPr sz="800" b="1" spc="20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국회의원</a:t>
            </a:r>
            <a:r>
              <a:rPr sz="800" b="1" spc="25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b="1" spc="-25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4인</a:t>
            </a:r>
            <a:endParaRPr sz="800">
              <a:latin typeface="+mn-ea"/>
              <a:ea typeface="+mn-ea"/>
              <a:cs typeface="Malgun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823243" y="4399279"/>
            <a:ext cx="5350104" cy="94692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56200"/>
              </a:lnSpc>
              <a:spcBef>
                <a:spcPts val="90"/>
              </a:spcBef>
            </a:pP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대격변의</a:t>
            </a:r>
            <a:r>
              <a:rPr sz="800" spc="16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시대</a:t>
            </a:r>
            <a:r>
              <a:rPr sz="800" spc="16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속에서</a:t>
            </a:r>
            <a:r>
              <a:rPr sz="800" spc="16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대한민국의</a:t>
            </a:r>
            <a:r>
              <a:rPr sz="800" spc="16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사회·정치</a:t>
            </a:r>
            <a:r>
              <a:rPr sz="800" spc="16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혁신이</a:t>
            </a:r>
            <a:r>
              <a:rPr sz="800" spc="16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어떠한</a:t>
            </a:r>
            <a:r>
              <a:rPr sz="800" spc="16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방향으로</a:t>
            </a:r>
            <a:r>
              <a:rPr sz="800" spc="16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이루어져야</a:t>
            </a:r>
            <a:r>
              <a:rPr sz="800" spc="16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하는지를</a:t>
            </a:r>
            <a:r>
              <a:rPr sz="800" spc="16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조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망</a:t>
            </a:r>
            <a:r>
              <a:rPr sz="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합니다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.</a:t>
            </a:r>
            <a:r>
              <a:rPr sz="800" spc="16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단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기</a:t>
            </a:r>
            <a:r>
              <a:rPr sz="800" spc="12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현안과</a:t>
            </a:r>
            <a:r>
              <a:rPr sz="800" spc="13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정책</a:t>
            </a:r>
            <a:r>
              <a:rPr sz="800" spc="12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경쟁에</a:t>
            </a:r>
            <a:r>
              <a:rPr sz="800" spc="13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머무르는</a:t>
            </a:r>
            <a:r>
              <a:rPr sz="800" spc="12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흐름을</a:t>
            </a:r>
            <a:r>
              <a:rPr sz="800" spc="13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넘어,</a:t>
            </a:r>
            <a:r>
              <a:rPr sz="800" spc="12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뉴노멀</a:t>
            </a:r>
            <a:r>
              <a:rPr sz="800" spc="13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이후</a:t>
            </a:r>
            <a:r>
              <a:rPr sz="800" spc="12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대한민국의</a:t>
            </a:r>
            <a:r>
              <a:rPr sz="800" spc="13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백년대계를</a:t>
            </a:r>
            <a:r>
              <a:rPr sz="800" spc="13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어떠한</a:t>
            </a:r>
            <a:r>
              <a:rPr sz="800" spc="12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비전과</a:t>
            </a:r>
            <a:r>
              <a:rPr sz="800" spc="13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철학</a:t>
            </a:r>
            <a:r>
              <a:rPr sz="800" spc="12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위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에서</a:t>
            </a:r>
            <a:r>
              <a:rPr sz="800" spc="12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재설계할</a:t>
            </a:r>
            <a:r>
              <a:rPr sz="800" spc="12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것인지</a:t>
            </a:r>
            <a:r>
              <a:rPr sz="800" spc="12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논의하는</a:t>
            </a:r>
            <a:r>
              <a:rPr sz="800" spc="12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것을</a:t>
            </a:r>
            <a:r>
              <a:rPr sz="800" spc="12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목표로</a:t>
            </a:r>
            <a:r>
              <a:rPr sz="800" spc="12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합니다.</a:t>
            </a:r>
            <a:r>
              <a:rPr sz="800" spc="12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개별</a:t>
            </a:r>
            <a:r>
              <a:rPr sz="800" spc="12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현안에</a:t>
            </a:r>
            <a:r>
              <a:rPr sz="800" spc="12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대한</a:t>
            </a:r>
            <a:r>
              <a:rPr lang="en-US" sz="800" spc="12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spc="-1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정치·사회·법</a:t>
            </a:r>
            <a:r>
              <a:rPr sz="8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제도의</a:t>
            </a:r>
            <a:r>
              <a:rPr sz="800" spc="114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구조적</a:t>
            </a:r>
            <a:r>
              <a:rPr sz="800" spc="114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개혁,</a:t>
            </a:r>
            <a:r>
              <a:rPr sz="800" spc="12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미래</a:t>
            </a:r>
            <a:r>
              <a:rPr sz="800" spc="114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국가</a:t>
            </a:r>
            <a:r>
              <a:rPr sz="800" spc="114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비전,</a:t>
            </a:r>
            <a:r>
              <a:rPr sz="800" spc="12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청년</a:t>
            </a:r>
            <a:r>
              <a:rPr sz="800" spc="114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세대가</a:t>
            </a:r>
            <a:r>
              <a:rPr sz="800" spc="12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바라보는</a:t>
            </a:r>
            <a:r>
              <a:rPr sz="800" spc="114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공공성과</a:t>
            </a:r>
            <a:r>
              <a:rPr sz="800" spc="114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책임의</a:t>
            </a:r>
            <a:r>
              <a:rPr sz="800" spc="12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문제를</a:t>
            </a:r>
            <a:r>
              <a:rPr sz="800" spc="114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밀도</a:t>
            </a:r>
            <a:r>
              <a:rPr sz="800" spc="12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있게</a:t>
            </a:r>
            <a:r>
              <a:rPr sz="800" spc="114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다룹니다.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각</a:t>
            </a:r>
            <a:r>
              <a:rPr sz="800" spc="13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정당을</a:t>
            </a:r>
            <a:r>
              <a:rPr sz="800" spc="13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대표하는</a:t>
            </a:r>
            <a:r>
              <a:rPr sz="800" spc="13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젊은</a:t>
            </a:r>
            <a:r>
              <a:rPr sz="800" spc="13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현역</a:t>
            </a:r>
            <a:r>
              <a:rPr sz="800" spc="13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의원들과</a:t>
            </a:r>
            <a:r>
              <a:rPr sz="800" spc="13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함께,</a:t>
            </a:r>
            <a:r>
              <a:rPr sz="800" spc="13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오늘의</a:t>
            </a:r>
            <a:r>
              <a:rPr sz="800" spc="13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대한민국에</a:t>
            </a:r>
            <a:r>
              <a:rPr sz="800" spc="13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요구되는</a:t>
            </a:r>
            <a:r>
              <a:rPr sz="800" spc="13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사회·정치</a:t>
            </a:r>
            <a:r>
              <a:rPr sz="800" spc="13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혁신의</a:t>
            </a:r>
            <a:r>
              <a:rPr sz="800" spc="13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방향을</a:t>
            </a:r>
            <a:r>
              <a:rPr sz="800" spc="135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spc="-25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고민</a:t>
            </a:r>
            <a:r>
              <a:rPr sz="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하는</a:t>
            </a:r>
            <a:r>
              <a:rPr sz="800" spc="9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자리가</a:t>
            </a:r>
            <a:r>
              <a:rPr sz="800" spc="9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될</a:t>
            </a:r>
            <a:r>
              <a:rPr sz="800" spc="9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것입니다.</a:t>
            </a:r>
            <a:endParaRPr sz="8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  <a:cs typeface="Malgun Gothic"/>
            </a:endParaRPr>
          </a:p>
        </p:txBody>
      </p:sp>
      <p:sp>
        <p:nvSpPr>
          <p:cNvPr id="19" name="object 4"/>
          <p:cNvSpPr/>
          <p:nvPr/>
        </p:nvSpPr>
        <p:spPr>
          <a:xfrm>
            <a:off x="647699" y="7889831"/>
            <a:ext cx="6623563" cy="7156"/>
          </a:xfrm>
          <a:custGeom>
            <a:avLst/>
            <a:gdLst/>
            <a:ahLst/>
            <a:cxnLst/>
            <a:rect l="l" t="t" r="r" b="b"/>
            <a:pathLst>
              <a:path w="6267450" h="9525">
                <a:moveTo>
                  <a:pt x="6267450" y="9525"/>
                </a:moveTo>
                <a:lnTo>
                  <a:pt x="0" y="9525"/>
                </a:lnTo>
                <a:lnTo>
                  <a:pt x="0" y="0"/>
                </a:lnTo>
                <a:lnTo>
                  <a:pt x="6267450" y="0"/>
                </a:lnTo>
                <a:lnTo>
                  <a:pt x="6267450" y="9525"/>
                </a:lnTo>
                <a:close/>
              </a:path>
            </a:pathLst>
          </a:custGeom>
          <a:solidFill>
            <a:srgbClr val="1C2136">
              <a:alpha val="14118"/>
            </a:srgbClr>
          </a:solidFill>
        </p:spPr>
        <p:txBody>
          <a:bodyPr wrap="square" lIns="0" tIns="0" rIns="0" bIns="0" rtlCol="0"/>
          <a:lstStyle/>
          <a:p>
            <a:endParaRPr sz="1600">
              <a:latin typeface="+mn-ea"/>
              <a:ea typeface="+mn-ea"/>
            </a:endParaRPr>
          </a:p>
        </p:txBody>
      </p:sp>
      <p:sp>
        <p:nvSpPr>
          <p:cNvPr id="30" name="object 9"/>
          <p:cNvSpPr txBox="1"/>
          <p:nvPr/>
        </p:nvSpPr>
        <p:spPr>
          <a:xfrm>
            <a:off x="643470" y="5523157"/>
            <a:ext cx="399267" cy="909223"/>
          </a:xfrm>
          <a:prstGeom prst="rect">
            <a:avLst/>
          </a:prstGeom>
        </p:spPr>
        <p:txBody>
          <a:bodyPr vert="horz" wrap="square" lIns="0" tIns="298450" rIns="0" bIns="0" rtlCol="0">
            <a:spAutoFit/>
          </a:bodyPr>
          <a:lstStyle/>
          <a:p>
            <a:pPr marL="12700" algn="dist">
              <a:lnSpc>
                <a:spcPct val="100000"/>
              </a:lnSpc>
              <a:spcBef>
                <a:spcPts val="2350"/>
              </a:spcBef>
            </a:pPr>
            <a:r>
              <a:rPr sz="3200" spc="-670" dirty="0">
                <a:solidFill>
                  <a:srgbClr val="A7814D"/>
                </a:solidFill>
                <a:latin typeface="+mn-ea"/>
                <a:ea typeface="+mn-ea"/>
                <a:cs typeface="Georgia"/>
              </a:rPr>
              <a:t>03</a:t>
            </a:r>
            <a:endParaRPr sz="3200" dirty="0">
              <a:latin typeface="+mn-ea"/>
              <a:ea typeface="+mn-ea"/>
              <a:cs typeface="Georgia"/>
            </a:endParaRPr>
          </a:p>
          <a:p>
            <a:pPr marL="12700" algn="dist">
              <a:lnSpc>
                <a:spcPct val="100000"/>
              </a:lnSpc>
              <a:spcBef>
                <a:spcPts val="345"/>
              </a:spcBef>
            </a:pPr>
            <a:r>
              <a:rPr sz="400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S</a:t>
            </a:r>
            <a:r>
              <a:rPr sz="400" spc="-210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 </a:t>
            </a:r>
            <a:r>
              <a:rPr sz="400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E</a:t>
            </a:r>
            <a:r>
              <a:rPr sz="400" spc="-204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 </a:t>
            </a:r>
            <a:r>
              <a:rPr sz="400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S</a:t>
            </a:r>
            <a:r>
              <a:rPr sz="400" spc="-210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 </a:t>
            </a:r>
            <a:r>
              <a:rPr sz="400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S</a:t>
            </a:r>
            <a:r>
              <a:rPr sz="400" spc="-204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 </a:t>
            </a:r>
            <a:r>
              <a:rPr sz="400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I</a:t>
            </a:r>
            <a:r>
              <a:rPr sz="400" spc="-204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 </a:t>
            </a:r>
            <a:r>
              <a:rPr sz="400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O</a:t>
            </a:r>
            <a:r>
              <a:rPr sz="400" spc="-210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 </a:t>
            </a:r>
            <a:r>
              <a:rPr sz="400" spc="-50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N</a:t>
            </a:r>
            <a:endParaRPr sz="400" dirty="0">
              <a:latin typeface="+mn-ea"/>
              <a:ea typeface="+mn-ea"/>
              <a:cs typeface="Consolas"/>
            </a:endParaRPr>
          </a:p>
        </p:txBody>
      </p:sp>
      <p:sp>
        <p:nvSpPr>
          <p:cNvPr id="31" name="object 10"/>
          <p:cNvSpPr/>
          <p:nvPr/>
        </p:nvSpPr>
        <p:spPr>
          <a:xfrm>
            <a:off x="1838325" y="6253944"/>
            <a:ext cx="5365287" cy="7156"/>
          </a:xfrm>
          <a:custGeom>
            <a:avLst/>
            <a:gdLst/>
            <a:ahLst/>
            <a:cxnLst/>
            <a:rect l="l" t="t" r="r" b="b"/>
            <a:pathLst>
              <a:path w="5076825" h="9525">
                <a:moveTo>
                  <a:pt x="5076825" y="9525"/>
                </a:moveTo>
                <a:lnTo>
                  <a:pt x="0" y="9525"/>
                </a:lnTo>
                <a:lnTo>
                  <a:pt x="0" y="0"/>
                </a:lnTo>
                <a:lnTo>
                  <a:pt x="5076825" y="0"/>
                </a:lnTo>
                <a:lnTo>
                  <a:pt x="5076825" y="9525"/>
                </a:lnTo>
                <a:close/>
              </a:path>
            </a:pathLst>
          </a:custGeom>
          <a:solidFill>
            <a:srgbClr val="1C2136">
              <a:alpha val="14118"/>
            </a:srgbClr>
          </a:solidFill>
        </p:spPr>
        <p:txBody>
          <a:bodyPr wrap="square" lIns="0" tIns="0" rIns="0" bIns="0" rtlCol="0"/>
          <a:lstStyle/>
          <a:p>
            <a:endParaRPr sz="1600">
              <a:latin typeface="+mn-ea"/>
              <a:ea typeface="+mn-ea"/>
            </a:endParaRPr>
          </a:p>
        </p:txBody>
      </p:sp>
      <p:sp>
        <p:nvSpPr>
          <p:cNvPr id="32" name="object 11"/>
          <p:cNvSpPr/>
          <p:nvPr/>
        </p:nvSpPr>
        <p:spPr>
          <a:xfrm>
            <a:off x="1838325" y="6693943"/>
            <a:ext cx="5365287" cy="7156"/>
          </a:xfrm>
          <a:custGeom>
            <a:avLst/>
            <a:gdLst/>
            <a:ahLst/>
            <a:cxnLst/>
            <a:rect l="l" t="t" r="r" b="b"/>
            <a:pathLst>
              <a:path w="5076825" h="9525">
                <a:moveTo>
                  <a:pt x="5076825" y="9525"/>
                </a:moveTo>
                <a:lnTo>
                  <a:pt x="0" y="9525"/>
                </a:lnTo>
                <a:lnTo>
                  <a:pt x="0" y="0"/>
                </a:lnTo>
                <a:lnTo>
                  <a:pt x="5076825" y="0"/>
                </a:lnTo>
                <a:lnTo>
                  <a:pt x="5076825" y="9525"/>
                </a:lnTo>
                <a:close/>
              </a:path>
            </a:pathLst>
          </a:custGeom>
          <a:solidFill>
            <a:srgbClr val="1C2136">
              <a:alpha val="14118"/>
            </a:srgbClr>
          </a:solidFill>
        </p:spPr>
        <p:txBody>
          <a:bodyPr wrap="square" lIns="0" tIns="0" rIns="0" bIns="0" rtlCol="0"/>
          <a:lstStyle/>
          <a:p>
            <a:endParaRPr sz="1600">
              <a:latin typeface="+mn-ea"/>
              <a:ea typeface="+mn-ea"/>
            </a:endParaRPr>
          </a:p>
        </p:txBody>
      </p:sp>
      <p:sp>
        <p:nvSpPr>
          <p:cNvPr id="33" name="object 12"/>
          <p:cNvSpPr txBox="1"/>
          <p:nvPr/>
        </p:nvSpPr>
        <p:spPr>
          <a:xfrm>
            <a:off x="1823242" y="5881424"/>
            <a:ext cx="876431" cy="26096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600" b="1" spc="-295" dirty="0" err="1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디스커션</a:t>
            </a:r>
            <a:r>
              <a:rPr lang="en-US" sz="1600" b="1" spc="-295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 </a:t>
            </a:r>
            <a:endParaRPr sz="1600" dirty="0">
              <a:latin typeface="+mn-ea"/>
              <a:ea typeface="+mn-ea"/>
              <a:cs typeface="Malgun Gothic"/>
            </a:endParaRPr>
          </a:p>
        </p:txBody>
      </p:sp>
      <p:sp>
        <p:nvSpPr>
          <p:cNvPr id="34" name="object 13"/>
          <p:cNvSpPr txBox="1"/>
          <p:nvPr/>
        </p:nvSpPr>
        <p:spPr>
          <a:xfrm>
            <a:off x="1823241" y="6325299"/>
            <a:ext cx="616557" cy="10708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F</a:t>
            </a:r>
            <a:r>
              <a:rPr sz="600" spc="-245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O</a:t>
            </a:r>
            <a:r>
              <a:rPr sz="600" spc="-229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R</a:t>
            </a:r>
            <a:r>
              <a:rPr sz="600" spc="-235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M</a:t>
            </a:r>
            <a:r>
              <a:rPr sz="600" spc="-229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A</a:t>
            </a:r>
            <a:r>
              <a:rPr sz="600" spc="-229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spc="-5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T</a:t>
            </a:r>
            <a:endParaRPr sz="600" dirty="0">
              <a:latin typeface="+mn-ea"/>
              <a:ea typeface="+mn-ea"/>
              <a:cs typeface="Consolas"/>
            </a:endParaRPr>
          </a:p>
        </p:txBody>
      </p:sp>
      <p:sp>
        <p:nvSpPr>
          <p:cNvPr id="35" name="object 14"/>
          <p:cNvSpPr txBox="1"/>
          <p:nvPr/>
        </p:nvSpPr>
        <p:spPr>
          <a:xfrm>
            <a:off x="1823243" y="6472499"/>
            <a:ext cx="769860" cy="13721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팀별</a:t>
            </a:r>
            <a:r>
              <a:rPr sz="800" b="1" spc="15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b="1" spc="-20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디스커션</a:t>
            </a:r>
            <a:endParaRPr sz="800" dirty="0">
              <a:latin typeface="+mn-ea"/>
              <a:ea typeface="+mn-ea"/>
              <a:cs typeface="Malgun Gothic"/>
            </a:endParaRPr>
          </a:p>
        </p:txBody>
      </p:sp>
      <p:sp>
        <p:nvSpPr>
          <p:cNvPr id="36" name="object 15"/>
          <p:cNvSpPr txBox="1"/>
          <p:nvPr/>
        </p:nvSpPr>
        <p:spPr>
          <a:xfrm>
            <a:off x="2764731" y="6325299"/>
            <a:ext cx="261420" cy="10708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T</a:t>
            </a:r>
            <a:r>
              <a:rPr sz="600" spc="-235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I</a:t>
            </a:r>
            <a:r>
              <a:rPr sz="600" spc="-229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M</a:t>
            </a:r>
            <a:r>
              <a:rPr sz="600" spc="-235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spc="-5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E</a:t>
            </a:r>
            <a:endParaRPr sz="600">
              <a:latin typeface="+mn-ea"/>
              <a:ea typeface="+mn-ea"/>
              <a:cs typeface="Consolas"/>
            </a:endParaRPr>
          </a:p>
        </p:txBody>
      </p:sp>
      <p:sp>
        <p:nvSpPr>
          <p:cNvPr id="37" name="object 16"/>
          <p:cNvSpPr txBox="1"/>
          <p:nvPr/>
        </p:nvSpPr>
        <p:spPr>
          <a:xfrm>
            <a:off x="2764731" y="6472499"/>
            <a:ext cx="712967" cy="13721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약</a:t>
            </a:r>
            <a:r>
              <a:rPr sz="800" b="1" spc="10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30분</a:t>
            </a:r>
            <a:r>
              <a:rPr sz="800" b="1" spc="15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b="1" spc="-25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예정</a:t>
            </a:r>
            <a:endParaRPr sz="800" dirty="0">
              <a:latin typeface="+mn-ea"/>
              <a:ea typeface="+mn-ea"/>
              <a:cs typeface="Malgun Gothic"/>
            </a:endParaRPr>
          </a:p>
        </p:txBody>
      </p:sp>
      <p:sp>
        <p:nvSpPr>
          <p:cNvPr id="38" name="object 17"/>
          <p:cNvSpPr txBox="1"/>
          <p:nvPr/>
        </p:nvSpPr>
        <p:spPr>
          <a:xfrm>
            <a:off x="3655910" y="6325299"/>
            <a:ext cx="321916" cy="10708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T</a:t>
            </a:r>
            <a:r>
              <a:rPr sz="600" spc="-235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O</a:t>
            </a:r>
            <a:r>
              <a:rPr sz="600" spc="-229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P</a:t>
            </a:r>
            <a:r>
              <a:rPr sz="600" spc="-235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I</a:t>
            </a:r>
            <a:r>
              <a:rPr sz="600" spc="-229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spc="-5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C</a:t>
            </a:r>
            <a:endParaRPr sz="600">
              <a:latin typeface="+mn-ea"/>
              <a:ea typeface="+mn-ea"/>
              <a:cs typeface="Consolas"/>
            </a:endParaRPr>
          </a:p>
        </p:txBody>
      </p:sp>
      <p:sp>
        <p:nvSpPr>
          <p:cNvPr id="39" name="object 18"/>
          <p:cNvSpPr txBox="1"/>
          <p:nvPr/>
        </p:nvSpPr>
        <p:spPr>
          <a:xfrm>
            <a:off x="3655909" y="6472499"/>
            <a:ext cx="1566367" cy="13721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세션</a:t>
            </a:r>
            <a:r>
              <a:rPr sz="800" b="1" spc="10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1·2</a:t>
            </a:r>
            <a:r>
              <a:rPr sz="800" b="1" spc="15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연계</a:t>
            </a:r>
            <a:r>
              <a:rPr sz="800" b="1" spc="15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사전</a:t>
            </a:r>
            <a:r>
              <a:rPr sz="800" b="1" spc="15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지정</a:t>
            </a:r>
            <a:r>
              <a:rPr sz="800" b="1" spc="15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b="1" spc="-25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의제</a:t>
            </a:r>
            <a:endParaRPr sz="800">
              <a:latin typeface="+mn-ea"/>
              <a:ea typeface="+mn-ea"/>
              <a:cs typeface="Malgun Gothic"/>
            </a:endParaRPr>
          </a:p>
        </p:txBody>
      </p:sp>
      <p:sp>
        <p:nvSpPr>
          <p:cNvPr id="42" name="object 21"/>
          <p:cNvSpPr txBox="1"/>
          <p:nvPr/>
        </p:nvSpPr>
        <p:spPr>
          <a:xfrm>
            <a:off x="1823242" y="6702415"/>
            <a:ext cx="5350105" cy="75411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56200"/>
              </a:lnSpc>
              <a:spcBef>
                <a:spcPts val="90"/>
              </a:spcBef>
            </a:pP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VAN 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산하 상설 연구조직이 사전에 구성한 기술혁신 및 사회혁신 관련 주요 의제를 바탕으로 참가자들이 팀별 </a:t>
            </a:r>
            <a:r>
              <a:rPr lang="ko-KR" altLang="en-US" sz="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디스커션을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진행합니다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. 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앞선 세션에서 제기된 쟁점을 단순히 청취하는 데 그치지 않고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, 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참가자들이 직접 분석하고 자신의 관점으로 재구성하며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, 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이를 사회적 실천과 정책적 상상력으로 확장할 수 있도록 설계합니다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. 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본 컨퍼런스가 청년들이 스스로 질문하고 토론하는 참여형 공론장으로 기능하도록 구성합니다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.</a:t>
            </a:r>
          </a:p>
        </p:txBody>
      </p:sp>
      <p:sp>
        <p:nvSpPr>
          <p:cNvPr id="60" name="object 22"/>
          <p:cNvSpPr txBox="1"/>
          <p:nvPr/>
        </p:nvSpPr>
        <p:spPr>
          <a:xfrm>
            <a:off x="643470" y="7536644"/>
            <a:ext cx="399267" cy="909223"/>
          </a:xfrm>
          <a:prstGeom prst="rect">
            <a:avLst/>
          </a:prstGeom>
        </p:spPr>
        <p:txBody>
          <a:bodyPr vert="horz" wrap="square" lIns="0" tIns="298450" rIns="0" bIns="0" rtlCol="0">
            <a:spAutoFit/>
          </a:bodyPr>
          <a:lstStyle/>
          <a:p>
            <a:pPr marL="12700" algn="dist">
              <a:lnSpc>
                <a:spcPct val="100000"/>
              </a:lnSpc>
              <a:spcBef>
                <a:spcPts val="2350"/>
              </a:spcBef>
            </a:pPr>
            <a:r>
              <a:rPr sz="3200" spc="-715" dirty="0">
                <a:solidFill>
                  <a:srgbClr val="A7814D"/>
                </a:solidFill>
                <a:latin typeface="+mn-ea"/>
                <a:ea typeface="+mn-ea"/>
                <a:cs typeface="Georgia"/>
              </a:rPr>
              <a:t>04</a:t>
            </a:r>
            <a:endParaRPr sz="3200" dirty="0">
              <a:latin typeface="+mn-ea"/>
              <a:ea typeface="+mn-ea"/>
              <a:cs typeface="Georgia"/>
            </a:endParaRPr>
          </a:p>
          <a:p>
            <a:pPr marL="12700" algn="dist">
              <a:lnSpc>
                <a:spcPct val="100000"/>
              </a:lnSpc>
              <a:spcBef>
                <a:spcPts val="345"/>
              </a:spcBef>
            </a:pPr>
            <a:r>
              <a:rPr sz="400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S</a:t>
            </a:r>
            <a:r>
              <a:rPr sz="400" spc="-210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 </a:t>
            </a:r>
            <a:r>
              <a:rPr sz="400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E</a:t>
            </a:r>
            <a:r>
              <a:rPr sz="400" spc="-204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 </a:t>
            </a:r>
            <a:r>
              <a:rPr sz="400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S</a:t>
            </a:r>
            <a:r>
              <a:rPr sz="400" spc="-210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 </a:t>
            </a:r>
            <a:r>
              <a:rPr sz="400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S</a:t>
            </a:r>
            <a:r>
              <a:rPr sz="400" spc="-204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 </a:t>
            </a:r>
            <a:r>
              <a:rPr sz="400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I</a:t>
            </a:r>
            <a:r>
              <a:rPr sz="400" spc="-204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 </a:t>
            </a:r>
            <a:r>
              <a:rPr sz="400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O</a:t>
            </a:r>
            <a:r>
              <a:rPr sz="400" spc="-210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 </a:t>
            </a:r>
            <a:r>
              <a:rPr sz="400" spc="-50" dirty="0">
                <a:solidFill>
                  <a:srgbClr val="596074"/>
                </a:solidFill>
                <a:latin typeface="+mn-ea"/>
                <a:ea typeface="+mn-ea"/>
                <a:cs typeface="Consolas"/>
              </a:rPr>
              <a:t>N</a:t>
            </a:r>
            <a:endParaRPr sz="400" dirty="0">
              <a:latin typeface="+mn-ea"/>
              <a:ea typeface="+mn-ea"/>
              <a:cs typeface="Consolas"/>
            </a:endParaRPr>
          </a:p>
        </p:txBody>
      </p:sp>
      <p:sp>
        <p:nvSpPr>
          <p:cNvPr id="61" name="object 23"/>
          <p:cNvSpPr/>
          <p:nvPr/>
        </p:nvSpPr>
        <p:spPr>
          <a:xfrm>
            <a:off x="1838325" y="8361742"/>
            <a:ext cx="5365287" cy="9525"/>
          </a:xfrm>
          <a:custGeom>
            <a:avLst/>
            <a:gdLst/>
            <a:ahLst/>
            <a:cxnLst/>
            <a:rect l="l" t="t" r="r" b="b"/>
            <a:pathLst>
              <a:path w="5076825" h="9525">
                <a:moveTo>
                  <a:pt x="5076825" y="9525"/>
                </a:moveTo>
                <a:lnTo>
                  <a:pt x="0" y="9525"/>
                </a:lnTo>
                <a:lnTo>
                  <a:pt x="0" y="0"/>
                </a:lnTo>
                <a:lnTo>
                  <a:pt x="5076825" y="0"/>
                </a:lnTo>
                <a:lnTo>
                  <a:pt x="5076825" y="9525"/>
                </a:lnTo>
                <a:close/>
              </a:path>
            </a:pathLst>
          </a:custGeom>
          <a:solidFill>
            <a:srgbClr val="1C2136">
              <a:alpha val="14118"/>
            </a:srgbClr>
          </a:solidFill>
        </p:spPr>
        <p:txBody>
          <a:bodyPr wrap="square" lIns="0" tIns="0" rIns="0" bIns="0" rtlCol="0"/>
          <a:lstStyle/>
          <a:p>
            <a:endParaRPr>
              <a:latin typeface="+mn-ea"/>
              <a:ea typeface="+mn-ea"/>
            </a:endParaRPr>
          </a:p>
        </p:txBody>
      </p:sp>
      <p:sp>
        <p:nvSpPr>
          <p:cNvPr id="62" name="object 24"/>
          <p:cNvSpPr/>
          <p:nvPr/>
        </p:nvSpPr>
        <p:spPr>
          <a:xfrm>
            <a:off x="1808059" y="8838619"/>
            <a:ext cx="5365287" cy="9525"/>
          </a:xfrm>
          <a:custGeom>
            <a:avLst/>
            <a:gdLst/>
            <a:ahLst/>
            <a:cxnLst/>
            <a:rect l="l" t="t" r="r" b="b"/>
            <a:pathLst>
              <a:path w="5076825" h="9525">
                <a:moveTo>
                  <a:pt x="5076825" y="9525"/>
                </a:moveTo>
                <a:lnTo>
                  <a:pt x="0" y="9525"/>
                </a:lnTo>
                <a:lnTo>
                  <a:pt x="0" y="0"/>
                </a:lnTo>
                <a:lnTo>
                  <a:pt x="5076825" y="0"/>
                </a:lnTo>
                <a:lnTo>
                  <a:pt x="5076825" y="9525"/>
                </a:lnTo>
                <a:close/>
              </a:path>
            </a:pathLst>
          </a:custGeom>
          <a:solidFill>
            <a:srgbClr val="1C2136">
              <a:alpha val="14118"/>
            </a:srgbClr>
          </a:solidFill>
        </p:spPr>
        <p:txBody>
          <a:bodyPr wrap="square" lIns="0" tIns="0" rIns="0" bIns="0" rtlCol="0"/>
          <a:lstStyle/>
          <a:p>
            <a:endParaRPr sz="1600">
              <a:latin typeface="+mn-ea"/>
              <a:ea typeface="+mn-ea"/>
            </a:endParaRPr>
          </a:p>
        </p:txBody>
      </p:sp>
      <p:sp>
        <p:nvSpPr>
          <p:cNvPr id="63" name="object 29"/>
          <p:cNvSpPr txBox="1"/>
          <p:nvPr/>
        </p:nvSpPr>
        <p:spPr>
          <a:xfrm>
            <a:off x="1823243" y="7997948"/>
            <a:ext cx="3404390" cy="26096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600" b="1" spc="-275" dirty="0" err="1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네트워킹</a:t>
            </a:r>
            <a:r>
              <a:rPr sz="1600" b="1" spc="-175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1600" b="1" spc="-295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나잇</a:t>
            </a:r>
            <a:endParaRPr sz="1600" dirty="0">
              <a:latin typeface="+mn-ea"/>
              <a:ea typeface="+mn-ea"/>
              <a:cs typeface="Malgun Gothic"/>
            </a:endParaRPr>
          </a:p>
        </p:txBody>
      </p:sp>
      <p:sp>
        <p:nvSpPr>
          <p:cNvPr id="64" name="object 30"/>
          <p:cNvSpPr txBox="1"/>
          <p:nvPr/>
        </p:nvSpPr>
        <p:spPr>
          <a:xfrm>
            <a:off x="1823241" y="8490010"/>
            <a:ext cx="488815" cy="10708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F</a:t>
            </a:r>
            <a:r>
              <a:rPr sz="600" spc="-245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O</a:t>
            </a:r>
            <a:r>
              <a:rPr sz="600" spc="-229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R</a:t>
            </a:r>
            <a:r>
              <a:rPr sz="600" spc="-235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M</a:t>
            </a:r>
            <a:r>
              <a:rPr sz="600" spc="-229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A</a:t>
            </a:r>
            <a:r>
              <a:rPr sz="600" spc="-229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spc="-5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T</a:t>
            </a:r>
            <a:endParaRPr sz="600" dirty="0">
              <a:latin typeface="+mn-ea"/>
              <a:ea typeface="+mn-ea"/>
              <a:cs typeface="Consolas"/>
            </a:endParaRPr>
          </a:p>
        </p:txBody>
      </p:sp>
      <p:sp>
        <p:nvSpPr>
          <p:cNvPr id="65" name="object 31"/>
          <p:cNvSpPr txBox="1"/>
          <p:nvPr/>
        </p:nvSpPr>
        <p:spPr>
          <a:xfrm>
            <a:off x="1823242" y="8619544"/>
            <a:ext cx="1277579" cy="13721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분야별</a:t>
            </a:r>
            <a:r>
              <a:rPr sz="800" b="1" spc="20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테이블</a:t>
            </a:r>
            <a:r>
              <a:rPr sz="800" b="1" spc="25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b="1" spc="-20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네트워킹</a:t>
            </a:r>
            <a:endParaRPr sz="800" dirty="0">
              <a:latin typeface="+mn-ea"/>
              <a:ea typeface="+mn-ea"/>
              <a:cs typeface="Malgun Gothic"/>
            </a:endParaRPr>
          </a:p>
        </p:txBody>
      </p:sp>
      <p:sp>
        <p:nvSpPr>
          <p:cNvPr id="66" name="object 32"/>
          <p:cNvSpPr txBox="1"/>
          <p:nvPr/>
        </p:nvSpPr>
        <p:spPr>
          <a:xfrm>
            <a:off x="3212254" y="8490010"/>
            <a:ext cx="333532" cy="10708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H</a:t>
            </a:r>
            <a:r>
              <a:rPr sz="600" spc="-235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O</a:t>
            </a:r>
            <a:r>
              <a:rPr sz="600" spc="-229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S</a:t>
            </a:r>
            <a:r>
              <a:rPr sz="600" spc="-235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spc="-5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T</a:t>
            </a:r>
            <a:endParaRPr sz="600">
              <a:latin typeface="+mn-ea"/>
              <a:ea typeface="+mn-ea"/>
              <a:cs typeface="Consolas"/>
            </a:endParaRPr>
          </a:p>
        </p:txBody>
      </p:sp>
      <p:sp>
        <p:nvSpPr>
          <p:cNvPr id="67" name="object 33"/>
          <p:cNvSpPr txBox="1"/>
          <p:nvPr/>
        </p:nvSpPr>
        <p:spPr>
          <a:xfrm>
            <a:off x="3212255" y="8619544"/>
            <a:ext cx="1174596" cy="13721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VAN</a:t>
            </a:r>
            <a:endParaRPr sz="800" dirty="0">
              <a:latin typeface="+mn-ea"/>
              <a:ea typeface="+mn-ea"/>
              <a:cs typeface="Malgun Gothic"/>
            </a:endParaRPr>
          </a:p>
        </p:txBody>
      </p:sp>
      <p:sp>
        <p:nvSpPr>
          <p:cNvPr id="68" name="object 34"/>
          <p:cNvSpPr txBox="1"/>
          <p:nvPr/>
        </p:nvSpPr>
        <p:spPr>
          <a:xfrm>
            <a:off x="4510332" y="8490010"/>
            <a:ext cx="956498" cy="10708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P</a:t>
            </a:r>
            <a:r>
              <a:rPr sz="600" spc="-235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A</a:t>
            </a:r>
            <a:r>
              <a:rPr sz="600" spc="-229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R</a:t>
            </a:r>
            <a:r>
              <a:rPr sz="600" spc="-235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T</a:t>
            </a:r>
            <a:r>
              <a:rPr sz="600" spc="-229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I</a:t>
            </a:r>
            <a:r>
              <a:rPr sz="600" spc="-229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C</a:t>
            </a:r>
            <a:r>
              <a:rPr sz="600" spc="-235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I</a:t>
            </a:r>
            <a:r>
              <a:rPr sz="600" spc="-229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P</a:t>
            </a:r>
            <a:r>
              <a:rPr sz="600" spc="-235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A</a:t>
            </a:r>
            <a:r>
              <a:rPr sz="600" spc="-229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N</a:t>
            </a:r>
            <a:r>
              <a:rPr sz="600" spc="-229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T</a:t>
            </a:r>
            <a:r>
              <a:rPr sz="600" spc="-235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 </a:t>
            </a:r>
            <a:r>
              <a:rPr sz="600" spc="-50" dirty="0">
                <a:solidFill>
                  <a:srgbClr val="A7814D"/>
                </a:solidFill>
                <a:latin typeface="+mn-ea"/>
                <a:ea typeface="+mn-ea"/>
                <a:cs typeface="Consolas"/>
              </a:rPr>
              <a:t>S</a:t>
            </a:r>
            <a:endParaRPr sz="600" dirty="0">
              <a:latin typeface="+mn-ea"/>
              <a:ea typeface="+mn-ea"/>
              <a:cs typeface="Consolas"/>
            </a:endParaRPr>
          </a:p>
        </p:txBody>
      </p:sp>
      <p:sp>
        <p:nvSpPr>
          <p:cNvPr id="69" name="object 35"/>
          <p:cNvSpPr txBox="1"/>
          <p:nvPr/>
        </p:nvSpPr>
        <p:spPr>
          <a:xfrm>
            <a:off x="4510332" y="8619544"/>
            <a:ext cx="1649906" cy="13721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dirty="0" err="1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알럼나이</a:t>
            </a:r>
            <a:r>
              <a:rPr sz="800" b="1" spc="10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·</a:t>
            </a:r>
            <a:r>
              <a:rPr sz="800" b="1" spc="10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 </a:t>
            </a:r>
            <a:r>
              <a:rPr sz="800" b="1" spc="-25" dirty="0">
                <a:solidFill>
                  <a:srgbClr val="1C2136"/>
                </a:solidFill>
                <a:latin typeface="+mn-ea"/>
                <a:ea typeface="+mn-ea"/>
                <a:cs typeface="Malgun Gothic"/>
              </a:rPr>
              <a:t>참가자</a:t>
            </a:r>
            <a:endParaRPr sz="800" dirty="0">
              <a:latin typeface="+mn-ea"/>
              <a:ea typeface="+mn-ea"/>
              <a:cs typeface="Malgun Gothic"/>
            </a:endParaRPr>
          </a:p>
        </p:txBody>
      </p:sp>
      <p:sp>
        <p:nvSpPr>
          <p:cNvPr id="70" name="object 21">
            <a:extLst>
              <a:ext uri="{FF2B5EF4-FFF2-40B4-BE49-F238E27FC236}">
                <a16:creationId xmlns:a16="http://schemas.microsoft.com/office/drawing/2014/main" id="{045E4088-4DCC-2117-8D21-DDDEEC6332C7}"/>
              </a:ext>
            </a:extLst>
          </p:cNvPr>
          <p:cNvSpPr txBox="1"/>
          <p:nvPr/>
        </p:nvSpPr>
        <p:spPr>
          <a:xfrm>
            <a:off x="1823241" y="8840700"/>
            <a:ext cx="5350105" cy="75488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56200"/>
              </a:lnSpc>
              <a:spcBef>
                <a:spcPts val="90"/>
              </a:spcBef>
            </a:pP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네트워킹 </a:t>
            </a:r>
            <a:r>
              <a:rPr lang="ko-KR" altLang="en-US" sz="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나잇은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 세션에서 제기된 질문을 바탕으로 참가자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, 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연사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, </a:t>
            </a:r>
            <a:r>
              <a:rPr lang="ko-KR" altLang="en-US" sz="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알럼나이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, 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외부 인사가 자유롭게 의견을 나누는 교류 프로그램입니다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. 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기술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·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정치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·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산업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·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학문 영역의 경험이 교차하는 자리로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, 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참가자들이 자신의 문제의식을 확장하고 새로운 협력의 가능성을 모색할 수 있도록 구성됩니다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. 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컨퍼런스의 논의를 실제 관계와 후속 활동으로 연결하는 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VAN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의 확장형 공론장입니다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Malgun Gothic"/>
              </a:rPr>
              <a:t>.</a:t>
            </a:r>
            <a:endParaRPr sz="8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  <a:cs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8" y="649287"/>
            <a:ext cx="601345" cy="1218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S</a:t>
            </a:r>
            <a:r>
              <a:rPr sz="700" spc="-19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P</a:t>
            </a:r>
            <a:r>
              <a:rPr sz="700" spc="-185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E</a:t>
            </a:r>
            <a:r>
              <a:rPr sz="700" spc="-185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A</a:t>
            </a:r>
            <a:r>
              <a:rPr sz="700" spc="-185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K</a:t>
            </a:r>
            <a:r>
              <a:rPr sz="700" spc="-19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E</a:t>
            </a:r>
            <a:r>
              <a:rPr sz="700" spc="-185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R</a:t>
            </a:r>
            <a:r>
              <a:rPr sz="700" spc="-185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700" spc="-5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S</a:t>
            </a:r>
            <a:endParaRPr sz="700" dirty="0">
              <a:latin typeface="+mj-ea"/>
              <a:ea typeface="+mj-ea"/>
              <a:cs typeface="Consola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5298" y="831850"/>
            <a:ext cx="1167765" cy="400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80" dirty="0">
                <a:latin typeface="+mj-ea"/>
              </a:rPr>
              <a:t>확정</a:t>
            </a:r>
            <a:r>
              <a:rPr spc="-235" dirty="0">
                <a:latin typeface="+mj-ea"/>
              </a:rPr>
              <a:t> </a:t>
            </a:r>
            <a:r>
              <a:rPr spc="-405" dirty="0">
                <a:latin typeface="+mj-ea"/>
              </a:rPr>
              <a:t>연사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71481" y="958850"/>
            <a:ext cx="141605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25" dirty="0">
                <a:solidFill>
                  <a:srgbClr val="596074"/>
                </a:solidFill>
                <a:latin typeface="+mj-ea"/>
                <a:ea typeface="+mj-ea"/>
                <a:cs typeface="Consolas"/>
              </a:rPr>
              <a:t>05</a:t>
            </a:r>
            <a:endParaRPr sz="750">
              <a:latin typeface="+mj-ea"/>
              <a:ea typeface="+mj-ea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5297" y="1460500"/>
            <a:ext cx="1297689" cy="20133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00" b="1" spc="-114" dirty="0">
                <a:solidFill>
                  <a:srgbClr val="A7814D"/>
                </a:solidFill>
                <a:latin typeface="+mj-ea"/>
                <a:ea typeface="+mj-ea"/>
                <a:cs typeface="Georgia"/>
              </a:rPr>
              <a:t>Session</a:t>
            </a:r>
            <a:r>
              <a:rPr sz="1200" b="1" spc="20" dirty="0">
                <a:solidFill>
                  <a:srgbClr val="A7814D"/>
                </a:solidFill>
                <a:latin typeface="+mj-ea"/>
                <a:ea typeface="+mj-ea"/>
                <a:cs typeface="Georgia"/>
              </a:rPr>
              <a:t> </a:t>
            </a:r>
            <a:r>
              <a:rPr sz="1200" b="1" spc="-45" dirty="0">
                <a:solidFill>
                  <a:srgbClr val="A7814D"/>
                </a:solidFill>
                <a:latin typeface="+mj-ea"/>
                <a:ea typeface="+mj-ea"/>
                <a:cs typeface="Georgia"/>
              </a:rPr>
              <a:t>1.</a:t>
            </a:r>
            <a:r>
              <a:rPr sz="1200" b="1" spc="35" dirty="0">
                <a:solidFill>
                  <a:srgbClr val="A7814D"/>
                </a:solidFill>
                <a:latin typeface="+mj-ea"/>
                <a:ea typeface="+mj-ea"/>
                <a:cs typeface="Georgia"/>
              </a:rPr>
              <a:t> </a:t>
            </a:r>
            <a:r>
              <a:rPr sz="1200" b="1" spc="-130" dirty="0">
                <a:solidFill>
                  <a:srgbClr val="A7814D"/>
                </a:solidFill>
                <a:latin typeface="+mj-ea"/>
                <a:ea typeface="+mj-ea"/>
                <a:cs typeface="Malgun Gothic"/>
              </a:rPr>
              <a:t>기술혁신</a:t>
            </a:r>
            <a:endParaRPr sz="1200" b="1" dirty="0">
              <a:latin typeface="+mj-ea"/>
              <a:ea typeface="+mj-ea"/>
              <a:cs typeface="Malgun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57225" y="2924174"/>
            <a:ext cx="6248400" cy="3933825"/>
          </a:xfrm>
          <a:custGeom>
            <a:avLst/>
            <a:gdLst/>
            <a:ahLst/>
            <a:cxnLst/>
            <a:rect l="l" t="t" r="r" b="b"/>
            <a:pathLst>
              <a:path w="6248400" h="3933825">
                <a:moveTo>
                  <a:pt x="6248400" y="0"/>
                </a:moveTo>
                <a:lnTo>
                  <a:pt x="0" y="0"/>
                </a:lnTo>
                <a:lnTo>
                  <a:pt x="0" y="1028700"/>
                </a:lnTo>
                <a:lnTo>
                  <a:pt x="0" y="2057400"/>
                </a:lnTo>
                <a:lnTo>
                  <a:pt x="0" y="3095625"/>
                </a:lnTo>
                <a:lnTo>
                  <a:pt x="0" y="3933825"/>
                </a:lnTo>
                <a:lnTo>
                  <a:pt x="6248400" y="3933825"/>
                </a:lnTo>
                <a:lnTo>
                  <a:pt x="6248400" y="3095625"/>
                </a:lnTo>
                <a:lnTo>
                  <a:pt x="6248400" y="2057400"/>
                </a:lnTo>
                <a:lnTo>
                  <a:pt x="6248400" y="1028700"/>
                </a:lnTo>
                <a:lnTo>
                  <a:pt x="6248400" y="0"/>
                </a:lnTo>
                <a:close/>
              </a:path>
            </a:pathLst>
          </a:custGeom>
          <a:solidFill>
            <a:srgbClr val="F4EFE4"/>
          </a:solidFill>
        </p:spPr>
        <p:txBody>
          <a:bodyPr wrap="square" lIns="0" tIns="0" rIns="0" bIns="0" rtlCol="0"/>
          <a:lstStyle/>
          <a:p>
            <a:endParaRPr>
              <a:latin typeface="+mj-ea"/>
              <a:ea typeface="+mj-e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0878"/>
              </p:ext>
            </p:extLst>
          </p:nvPr>
        </p:nvGraphicFramePr>
        <p:xfrm>
          <a:off x="647700" y="1673852"/>
          <a:ext cx="6272472" cy="37223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6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5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8665">
                <a:tc>
                  <a:txBody>
                    <a:bodyPr/>
                    <a:lstStyle/>
                    <a:p>
                      <a:pPr marL="184785" marR="287020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50" b="1" spc="-145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Georgia"/>
                        </a:rPr>
                        <a:t>Kenneth</a:t>
                      </a:r>
                      <a:r>
                        <a:rPr sz="1350" b="1" spc="75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Georgia"/>
                        </a:rPr>
                        <a:t> </a:t>
                      </a:r>
                      <a:r>
                        <a:rPr sz="1350" b="1" spc="-130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Georgia"/>
                        </a:rPr>
                        <a:t>Maxwell </a:t>
                      </a:r>
                      <a:r>
                        <a:rPr sz="1350" b="1" spc="-10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Georgia"/>
                        </a:rPr>
                        <a:t>Nance</a:t>
                      </a:r>
                      <a:endParaRPr sz="1350" dirty="0">
                        <a:latin typeface="+mj-ea"/>
                        <a:ea typeface="+mj-ea"/>
                        <a:cs typeface="Georgia"/>
                      </a:endParaRPr>
                    </a:p>
                    <a:p>
                      <a:pPr marL="18478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K</a:t>
                      </a:r>
                      <a:r>
                        <a:rPr sz="600" b="1" spc="-250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E</a:t>
                      </a:r>
                      <a:r>
                        <a:rPr sz="600" b="1" spc="-245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Y</a:t>
                      </a:r>
                      <a:r>
                        <a:rPr sz="600" b="1" spc="-250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N</a:t>
                      </a:r>
                      <a:r>
                        <a:rPr sz="600" b="1" spc="-245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O</a:t>
                      </a:r>
                      <a:r>
                        <a:rPr sz="600" b="1" spc="-245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T</a:t>
                      </a:r>
                      <a:r>
                        <a:rPr sz="600" b="1" spc="-250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 </a:t>
                      </a:r>
                      <a:r>
                        <a:rPr sz="600" b="1" spc="-50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E</a:t>
                      </a:r>
                      <a:endParaRPr sz="600" dirty="0">
                        <a:latin typeface="+mj-ea"/>
                        <a:ea typeface="+mj-ea"/>
                        <a:cs typeface="Consolas"/>
                      </a:endParaRPr>
                    </a:p>
                  </a:txBody>
                  <a:tcPr marL="0" marR="0" marT="156845" marB="0">
                    <a:lnL w="9525">
                      <a:noFill/>
                      <a:prstDash val="solid"/>
                    </a:lnL>
                    <a:lnR>
                      <a:noFill/>
                    </a:lnR>
                    <a:lnT w="9525">
                      <a:noFill/>
                      <a:prstDash val="solid"/>
                    </a:lnT>
                    <a:lnB w="3175" cap="flat" cmpd="sng" algn="ctr">
                      <a:solidFill>
                        <a:srgbClr val="898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9464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39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300" b="1" dirty="0">
                        <a:solidFill>
                          <a:srgbClr val="1C2136"/>
                        </a:solidFill>
                        <a:latin typeface="+mj-ea"/>
                        <a:ea typeface="+mj-ea"/>
                        <a:cs typeface="Malgun Gothic"/>
                      </a:endParaRPr>
                    </a:p>
                    <a:p>
                      <a:pPr marL="29464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39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하버드</a:t>
                      </a:r>
                      <a:r>
                        <a:rPr lang="ko-KR" altLang="en-US" sz="900" b="1" spc="90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lang="ko-KR" altLang="en-US" sz="900" b="1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박사</a:t>
                      </a:r>
                      <a:r>
                        <a:rPr lang="ko-KR" altLang="en-US" sz="900" b="1" spc="90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lang="en-US" altLang="ko-KR" sz="900" b="1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·</a:t>
                      </a:r>
                      <a:r>
                        <a:rPr lang="ko-KR" altLang="en-US" sz="900" b="1" spc="90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lang="ko-KR" altLang="en-US" sz="900" b="1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미</a:t>
                      </a:r>
                      <a:r>
                        <a:rPr lang="ko-KR" altLang="en-US" sz="900" b="1" spc="95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lang="ko-KR" altLang="en-US" sz="900" b="1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인트라넷</a:t>
                      </a:r>
                      <a:r>
                        <a:rPr lang="ko-KR" altLang="en-US" sz="900" b="1" spc="90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lang="ko-KR" altLang="en-US" sz="900" b="1" spc="-25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창시</a:t>
                      </a:r>
                      <a:endParaRPr lang="en-US" sz="900" dirty="0">
                        <a:solidFill>
                          <a:srgbClr val="596074"/>
                        </a:solidFill>
                        <a:latin typeface="+mj-ea"/>
                        <a:ea typeface="+mj-ea"/>
                        <a:cs typeface="Malgun Gothic"/>
                      </a:endParaRPr>
                    </a:p>
                    <a:p>
                      <a:pPr marL="294640" algn="l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00" dirty="0" err="1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기술</a:t>
                      </a:r>
                      <a:r>
                        <a:rPr sz="900" spc="13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정책과</a:t>
                      </a:r>
                      <a:r>
                        <a:rPr sz="900" spc="13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디지털</a:t>
                      </a:r>
                      <a:r>
                        <a:rPr sz="900" spc="13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인프라의</a:t>
                      </a:r>
                      <a:r>
                        <a:rPr sz="900" spc="13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발전</a:t>
                      </a:r>
                      <a:r>
                        <a:rPr sz="900" spc="13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경험을</a:t>
                      </a:r>
                      <a:r>
                        <a:rPr sz="900" spc="13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바탕으로</a:t>
                      </a:r>
                      <a:r>
                        <a:rPr sz="900" spc="13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혁신의</a:t>
                      </a:r>
                      <a:r>
                        <a:rPr sz="900" spc="13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방향을</a:t>
                      </a:r>
                      <a:r>
                        <a:rPr sz="900" spc="13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spc="-1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논의합니다.</a:t>
                      </a:r>
                      <a:endParaRPr sz="900" dirty="0">
                        <a:latin typeface="+mj-ea"/>
                        <a:ea typeface="+mj-ea"/>
                        <a:cs typeface="Malgun Gothic"/>
                      </a:endParaRPr>
                    </a:p>
                  </a:txBody>
                  <a:tcPr marL="0" marR="0" marT="3175" marB="0">
                    <a:lnL>
                      <a:noFill/>
                    </a:lnL>
                    <a:lnR w="9525">
                      <a:noFill/>
                      <a:prstDash val="solid"/>
                    </a:lnR>
                    <a:lnT w="9525">
                      <a:noFill/>
                      <a:prstDash val="solid"/>
                    </a:lnT>
                    <a:lnB w="3175" cap="flat" cmpd="sng" algn="ctr">
                      <a:solidFill>
                        <a:srgbClr val="898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8665"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300" b="1" spc="-25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이광희</a:t>
                      </a:r>
                      <a:endParaRPr sz="1300" dirty="0">
                        <a:latin typeface="+mj-ea"/>
                        <a:ea typeface="+mj-ea"/>
                        <a:cs typeface="Malgun Gothic"/>
                      </a:endParaRPr>
                    </a:p>
                    <a:p>
                      <a:pPr marL="18478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I</a:t>
                      </a:r>
                      <a:r>
                        <a:rPr sz="600" b="1" spc="-250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N</a:t>
                      </a:r>
                      <a:r>
                        <a:rPr sz="600" b="1" spc="-245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D</a:t>
                      </a:r>
                      <a:r>
                        <a:rPr sz="600" b="1" spc="-250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U</a:t>
                      </a:r>
                      <a:r>
                        <a:rPr sz="600" b="1" spc="-245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S</a:t>
                      </a:r>
                      <a:r>
                        <a:rPr sz="600" b="1" spc="-245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T</a:t>
                      </a:r>
                      <a:r>
                        <a:rPr sz="600" b="1" spc="-250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R</a:t>
                      </a:r>
                      <a:r>
                        <a:rPr sz="600" b="1" spc="-245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 </a:t>
                      </a:r>
                      <a:r>
                        <a:rPr sz="600" b="1" spc="-50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Y</a:t>
                      </a:r>
                      <a:endParaRPr sz="600" dirty="0">
                        <a:latin typeface="+mj-ea"/>
                        <a:ea typeface="+mj-ea"/>
                        <a:cs typeface="Consolas"/>
                      </a:endParaRPr>
                    </a:p>
                  </a:txBody>
                  <a:tcPr marL="0" marR="0" marT="153670" marB="0">
                    <a:lnL w="9525">
                      <a:noFill/>
                      <a:prstDash val="solid"/>
                    </a:lnL>
                    <a:lnR>
                      <a:noFill/>
                    </a:lnR>
                    <a:lnT w="3175" cap="flat" cmpd="sng" algn="ctr">
                      <a:solidFill>
                        <a:srgbClr val="898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8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 marL="294640" algn="l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endParaRPr lang="en-US" sz="300" b="1" dirty="0">
                        <a:solidFill>
                          <a:srgbClr val="1C2136"/>
                        </a:solidFill>
                        <a:latin typeface="+mj-ea"/>
                        <a:ea typeface="+mj-ea"/>
                        <a:cs typeface="Malgun Gothic"/>
                      </a:endParaRPr>
                    </a:p>
                    <a:p>
                      <a:pPr marL="294640" algn="l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sz="900" b="1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VIV</a:t>
                      </a:r>
                      <a:r>
                        <a:rPr sz="900" b="1" spc="35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b="1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Tech.</a:t>
                      </a:r>
                      <a:r>
                        <a:rPr sz="900" b="1" spc="40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b="1" spc="-25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CTO</a:t>
                      </a:r>
                      <a:endParaRPr sz="900" dirty="0">
                        <a:latin typeface="+mj-ea"/>
                        <a:ea typeface="+mj-ea"/>
                        <a:cs typeface="Malgun Gothic"/>
                      </a:endParaRPr>
                    </a:p>
                    <a:p>
                      <a:pPr marL="294640" marR="239395" algn="l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90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AI</a:t>
                      </a:r>
                      <a:r>
                        <a:rPr sz="900" spc="12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 err="1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연구개발과</a:t>
                      </a:r>
                      <a:r>
                        <a:rPr sz="900" spc="125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 err="1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현장</a:t>
                      </a:r>
                      <a:r>
                        <a:rPr sz="900" spc="125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 err="1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경험을</a:t>
                      </a:r>
                      <a:r>
                        <a:rPr sz="900" spc="12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 err="1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바탕으로</a:t>
                      </a:r>
                      <a:r>
                        <a:rPr sz="900" spc="12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AI의</a:t>
                      </a:r>
                      <a:r>
                        <a:rPr sz="900" spc="125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변화와</a:t>
                      </a:r>
                      <a:r>
                        <a:rPr sz="900" spc="12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활용</a:t>
                      </a:r>
                      <a:r>
                        <a:rPr sz="900" spc="125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 err="1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가능성을</a:t>
                      </a:r>
                      <a:r>
                        <a:rPr sz="900" spc="12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spc="-25" dirty="0" err="1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논의</a:t>
                      </a:r>
                      <a:r>
                        <a:rPr sz="900" spc="-20" dirty="0" err="1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합니다</a:t>
                      </a:r>
                      <a:r>
                        <a:rPr sz="900" spc="-2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.</a:t>
                      </a:r>
                      <a:endParaRPr sz="900" dirty="0">
                        <a:latin typeface="+mj-ea"/>
                        <a:ea typeface="+mj-ea"/>
                        <a:cs typeface="Malgun Gothic"/>
                      </a:endParaRPr>
                    </a:p>
                  </a:txBody>
                  <a:tcPr marL="0" marR="0" marT="71755" marB="0">
                    <a:lnL>
                      <a:noFill/>
                    </a:lnL>
                    <a:lnR w="9525">
                      <a:noFill/>
                      <a:prstDash val="solid"/>
                    </a:lnR>
                    <a:lnT w="3175" cap="flat" cmpd="sng" algn="ctr">
                      <a:solidFill>
                        <a:srgbClr val="898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8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7718"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300" b="1" spc="-25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김진홍</a:t>
                      </a:r>
                      <a:endParaRPr sz="1300" dirty="0">
                        <a:latin typeface="+mj-ea"/>
                        <a:ea typeface="+mj-ea"/>
                        <a:cs typeface="Malgun Gothic"/>
                      </a:endParaRPr>
                    </a:p>
                    <a:p>
                      <a:pPr marL="18478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D</a:t>
                      </a:r>
                      <a:r>
                        <a:rPr sz="600" b="1" spc="-250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E</a:t>
                      </a:r>
                      <a:r>
                        <a:rPr sz="600" b="1" spc="-245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F</a:t>
                      </a:r>
                      <a:r>
                        <a:rPr sz="600" b="1" spc="-250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E</a:t>
                      </a:r>
                      <a:r>
                        <a:rPr sz="600" b="1" spc="-245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N</a:t>
                      </a:r>
                      <a:r>
                        <a:rPr sz="600" b="1" spc="-245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S</a:t>
                      </a:r>
                      <a:r>
                        <a:rPr sz="600" b="1" spc="-250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 </a:t>
                      </a:r>
                      <a:r>
                        <a:rPr sz="600" b="1" spc="-50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E</a:t>
                      </a:r>
                      <a:endParaRPr sz="600" dirty="0">
                        <a:latin typeface="+mj-ea"/>
                        <a:ea typeface="+mj-ea"/>
                        <a:cs typeface="Consolas"/>
                      </a:endParaRPr>
                    </a:p>
                  </a:txBody>
                  <a:tcPr marL="0" marR="0" marT="153670" marB="0">
                    <a:lnL w="9525">
                      <a:noFill/>
                      <a:prstDash val="solid"/>
                    </a:lnL>
                    <a:lnR>
                      <a:noFill/>
                    </a:lnR>
                    <a:lnT w="3175" cap="flat" cmpd="sng" algn="ctr">
                      <a:solidFill>
                        <a:srgbClr val="898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8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 marL="294640" marR="299085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75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300" b="1" spc="10" dirty="0">
                        <a:solidFill>
                          <a:srgbClr val="1C2136"/>
                        </a:solidFill>
                        <a:latin typeface="+mj-ea"/>
                        <a:ea typeface="+mj-ea"/>
                        <a:cs typeface="Malgun Gothic"/>
                      </a:endParaRPr>
                    </a:p>
                    <a:p>
                      <a:pPr marL="294640" marR="299085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75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spc="10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공군</a:t>
                      </a:r>
                      <a:r>
                        <a:rPr lang="en-US" altLang="ko-KR" sz="900" b="1" spc="10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(</a:t>
                      </a:r>
                      <a:r>
                        <a:rPr lang="ko-KR" altLang="en-US" sz="900" b="1" spc="10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방공유도탄</a:t>
                      </a:r>
                      <a:r>
                        <a:rPr lang="en-US" altLang="ko-KR" sz="900" b="1" spc="10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)</a:t>
                      </a:r>
                      <a:r>
                        <a:rPr lang="ko-KR" altLang="en-US" sz="900" b="1" spc="220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lang="ko-KR" altLang="en-US" sz="900" b="1" spc="-25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사령관</a:t>
                      </a:r>
                      <a:endParaRPr lang="en-US" sz="900" dirty="0">
                        <a:solidFill>
                          <a:srgbClr val="596074"/>
                        </a:solidFill>
                        <a:latin typeface="+mj-ea"/>
                        <a:ea typeface="+mj-ea"/>
                        <a:cs typeface="Malgun Gothic"/>
                      </a:endParaRPr>
                    </a:p>
                    <a:p>
                      <a:pPr marL="294640" marR="299085" algn="l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900" dirty="0" err="1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방공유도탄</a:t>
                      </a:r>
                      <a:r>
                        <a:rPr sz="900" spc="14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분야의</a:t>
                      </a:r>
                      <a:r>
                        <a:rPr sz="900" spc="14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경험을</a:t>
                      </a:r>
                      <a:r>
                        <a:rPr sz="900" spc="135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 err="1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바탕으로</a:t>
                      </a:r>
                      <a:r>
                        <a:rPr sz="900" spc="14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 err="1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혁신과</a:t>
                      </a:r>
                      <a:r>
                        <a:rPr sz="900" spc="14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안보의</a:t>
                      </a:r>
                      <a:r>
                        <a:rPr sz="900" spc="14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 err="1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접점을</a:t>
                      </a:r>
                      <a:r>
                        <a:rPr sz="900" spc="14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spc="-20" dirty="0" err="1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논의합니</a:t>
                      </a:r>
                      <a:r>
                        <a:rPr sz="900" spc="-25" dirty="0" err="1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다</a:t>
                      </a:r>
                      <a:r>
                        <a:rPr sz="900" spc="-25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.</a:t>
                      </a:r>
                      <a:endParaRPr sz="900" dirty="0">
                        <a:latin typeface="+mj-ea"/>
                        <a:ea typeface="+mj-ea"/>
                        <a:cs typeface="Malgun Gothic"/>
                      </a:endParaRPr>
                    </a:p>
                  </a:txBody>
                  <a:tcPr marL="0" marR="0" marT="22225" marB="0">
                    <a:lnL>
                      <a:noFill/>
                    </a:lnL>
                    <a:lnR w="9525">
                      <a:noFill/>
                      <a:prstDash val="solid"/>
                    </a:lnR>
                    <a:lnT w="3175" cap="flat" cmpd="sng" algn="ctr">
                      <a:solidFill>
                        <a:srgbClr val="898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8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8665"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300" b="1" spc="-25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김성혁</a:t>
                      </a:r>
                      <a:endParaRPr sz="1300" dirty="0">
                        <a:latin typeface="+mj-ea"/>
                        <a:ea typeface="+mj-ea"/>
                        <a:cs typeface="Malgun Gothic"/>
                      </a:endParaRPr>
                    </a:p>
                    <a:p>
                      <a:pPr marL="18478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I</a:t>
                      </a:r>
                      <a:r>
                        <a:rPr sz="600" b="1" spc="-250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N</a:t>
                      </a:r>
                      <a:r>
                        <a:rPr sz="600" b="1" spc="-245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D</a:t>
                      </a:r>
                      <a:r>
                        <a:rPr sz="600" b="1" spc="-250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U</a:t>
                      </a:r>
                      <a:r>
                        <a:rPr sz="600" b="1" spc="-245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S</a:t>
                      </a:r>
                      <a:r>
                        <a:rPr sz="600" b="1" spc="-245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T</a:t>
                      </a:r>
                      <a:r>
                        <a:rPr sz="600" b="1" spc="-250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R</a:t>
                      </a:r>
                      <a:r>
                        <a:rPr sz="600" b="1" spc="-245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 </a:t>
                      </a:r>
                      <a:r>
                        <a:rPr sz="600" b="1" spc="-50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Y</a:t>
                      </a:r>
                      <a:endParaRPr sz="600" dirty="0">
                        <a:latin typeface="+mj-ea"/>
                        <a:ea typeface="+mj-ea"/>
                        <a:cs typeface="Consolas"/>
                      </a:endParaRPr>
                    </a:p>
                  </a:txBody>
                  <a:tcPr marL="0" marR="0" marT="153670" marB="0">
                    <a:lnL w="9525">
                      <a:noFill/>
                      <a:prstDash val="solid"/>
                    </a:lnL>
                    <a:lnR>
                      <a:noFill/>
                    </a:lnR>
                    <a:lnT w="3175" cap="flat" cmpd="sng" algn="ctr">
                      <a:solidFill>
                        <a:srgbClr val="898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8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 marL="294640" marR="31877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US" altLang="ko-KR" sz="300" b="1" dirty="0">
                        <a:solidFill>
                          <a:srgbClr val="1C2136"/>
                        </a:solidFill>
                        <a:latin typeface="+mj-ea"/>
                        <a:ea typeface="+mj-ea"/>
                        <a:cs typeface="Malgun Gothic"/>
                      </a:endParaRPr>
                    </a:p>
                    <a:p>
                      <a:pPr marL="294640" marR="31877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900" b="1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전</a:t>
                      </a:r>
                      <a:r>
                        <a:rPr lang="en-US" sz="900" b="1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LG전자</a:t>
                      </a:r>
                      <a:r>
                        <a:rPr sz="900" b="1" spc="110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b="1" spc="-25" dirty="0" err="1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상무</a:t>
                      </a:r>
                      <a:endParaRPr sz="900" dirty="0">
                        <a:latin typeface="+mj-ea"/>
                        <a:ea typeface="+mj-ea"/>
                        <a:cs typeface="Malgun Gothic"/>
                      </a:endParaRPr>
                    </a:p>
                    <a:p>
                      <a:pPr marL="294640" marR="276860" algn="l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AI</a:t>
                      </a:r>
                      <a:r>
                        <a:rPr sz="900" spc="125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센싱과</a:t>
                      </a:r>
                      <a:r>
                        <a:rPr sz="900" spc="13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양자</a:t>
                      </a:r>
                      <a:r>
                        <a:rPr sz="900" spc="13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AI를</a:t>
                      </a:r>
                      <a:r>
                        <a:rPr sz="900" spc="13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 err="1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중심으로</a:t>
                      </a:r>
                      <a:r>
                        <a:rPr sz="900" spc="13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 err="1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산업에서</a:t>
                      </a:r>
                      <a:r>
                        <a:rPr sz="900" spc="13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 err="1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구현되는</a:t>
                      </a:r>
                      <a:r>
                        <a:rPr sz="900" spc="13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 err="1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혁신의</a:t>
                      </a:r>
                      <a:r>
                        <a:rPr sz="900" spc="13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 err="1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방향을</a:t>
                      </a:r>
                      <a:r>
                        <a:rPr sz="900" spc="13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spc="-25" dirty="0" err="1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논의합니다</a:t>
                      </a:r>
                      <a:r>
                        <a:rPr sz="900" spc="-25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.</a:t>
                      </a:r>
                      <a:endParaRPr sz="900" dirty="0">
                        <a:latin typeface="+mj-ea"/>
                        <a:ea typeface="+mj-ea"/>
                        <a:cs typeface="Malgun Gothic"/>
                      </a:endParaRPr>
                    </a:p>
                  </a:txBody>
                  <a:tcPr marL="0" marR="0" marT="12700" marB="0">
                    <a:lnL>
                      <a:noFill/>
                    </a:lnL>
                    <a:lnR w="9525">
                      <a:noFill/>
                      <a:prstDash val="solid"/>
                    </a:lnR>
                    <a:lnT w="3175" cap="flat" cmpd="sng" algn="ctr">
                      <a:solidFill>
                        <a:srgbClr val="898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8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8665"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300" b="1" spc="-25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임영일</a:t>
                      </a:r>
                      <a:endParaRPr sz="1300" dirty="0">
                        <a:latin typeface="+mj-ea"/>
                        <a:ea typeface="+mj-ea"/>
                        <a:cs typeface="Malgun Gothic"/>
                      </a:endParaRPr>
                    </a:p>
                    <a:p>
                      <a:pPr marL="18478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D</a:t>
                      </a:r>
                      <a:r>
                        <a:rPr sz="600" b="1" spc="-250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E</a:t>
                      </a:r>
                      <a:r>
                        <a:rPr sz="600" b="1" spc="-245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F</a:t>
                      </a:r>
                      <a:r>
                        <a:rPr sz="600" b="1" spc="-250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E</a:t>
                      </a:r>
                      <a:r>
                        <a:rPr sz="600" b="1" spc="-245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N</a:t>
                      </a:r>
                      <a:r>
                        <a:rPr sz="600" b="1" spc="-245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S</a:t>
                      </a:r>
                      <a:r>
                        <a:rPr sz="600" b="1" spc="-250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 </a:t>
                      </a:r>
                      <a:r>
                        <a:rPr sz="600" b="1" spc="-50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Consolas"/>
                        </a:rPr>
                        <a:t>E</a:t>
                      </a:r>
                      <a:endParaRPr sz="600" dirty="0">
                        <a:latin typeface="+mj-ea"/>
                        <a:ea typeface="+mj-ea"/>
                        <a:cs typeface="Consolas"/>
                      </a:endParaRPr>
                    </a:p>
                  </a:txBody>
                  <a:tcPr marL="0" marR="0" marT="144145" marB="0">
                    <a:lnL w="9525">
                      <a:noFill/>
                      <a:prstDash val="solid"/>
                    </a:lnL>
                    <a:lnR>
                      <a:noFill/>
                    </a:lnR>
                    <a:lnT w="3175" cap="flat" cmpd="sng" algn="ctr">
                      <a:solidFill>
                        <a:srgbClr val="898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 marL="29464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altLang="ko-KR" sz="300" b="1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j-ea"/>
                        <a:ea typeface="+mj-ea"/>
                        <a:cs typeface="Malgun Gothic"/>
                      </a:endParaRPr>
                    </a:p>
                    <a:p>
                      <a:pPr marL="29464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900" b="1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latin typeface="+mj-ea"/>
                          <a:ea typeface="+mj-ea"/>
                          <a:cs typeface="Malgun Gothic"/>
                        </a:rPr>
                        <a:t>국방기술진흥연구소장</a:t>
                      </a:r>
                      <a:endParaRPr lang="en-US" sz="900" b="1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j-ea"/>
                        <a:ea typeface="+mj-ea"/>
                        <a:cs typeface="Malgun Gothic"/>
                      </a:endParaRPr>
                    </a:p>
                    <a:p>
                      <a:pPr marL="294640" algn="l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00" dirty="0" err="1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국방</a:t>
                      </a:r>
                      <a:r>
                        <a:rPr lang="en-US" sz="90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 err="1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기술과</a:t>
                      </a:r>
                      <a:r>
                        <a:rPr sz="900" spc="13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 err="1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미래</a:t>
                      </a:r>
                      <a:r>
                        <a:rPr lang="en-US" sz="900" spc="135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 err="1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안보</a:t>
                      </a:r>
                      <a:r>
                        <a:rPr sz="900" spc="135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 err="1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환경의</a:t>
                      </a:r>
                      <a:r>
                        <a:rPr sz="900" spc="135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 err="1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변화</a:t>
                      </a:r>
                      <a:r>
                        <a:rPr sz="900" spc="135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 err="1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속에서</a:t>
                      </a:r>
                      <a:r>
                        <a:rPr sz="900" spc="135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 err="1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혁신의</a:t>
                      </a:r>
                      <a:r>
                        <a:rPr sz="900" spc="135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 err="1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전략적</a:t>
                      </a:r>
                      <a:r>
                        <a:rPr sz="900" spc="135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dirty="0" err="1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의미를</a:t>
                      </a:r>
                      <a:r>
                        <a:rPr sz="900" spc="135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spc="-10" dirty="0" err="1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논의합니다</a:t>
                      </a:r>
                      <a:r>
                        <a:rPr sz="900" spc="-1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.</a:t>
                      </a:r>
                      <a:endParaRPr sz="900" dirty="0">
                        <a:latin typeface="+mj-ea"/>
                        <a:ea typeface="+mj-ea"/>
                        <a:cs typeface="Malgun Gothic"/>
                      </a:endParaRPr>
                    </a:p>
                  </a:txBody>
                  <a:tcPr marL="0" marR="0" marT="3175" marB="0">
                    <a:lnL>
                      <a:noFill/>
                    </a:lnL>
                    <a:lnR w="9525">
                      <a:noFill/>
                      <a:prstDash val="solid"/>
                    </a:lnR>
                    <a:lnT w="3175" cap="flat" cmpd="sng" algn="ctr">
                      <a:solidFill>
                        <a:srgbClr val="898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1933575" y="1575426"/>
            <a:ext cx="4981575" cy="9525"/>
          </a:xfrm>
          <a:custGeom>
            <a:avLst/>
            <a:gdLst/>
            <a:ahLst/>
            <a:cxnLst/>
            <a:rect l="l" t="t" r="r" b="b"/>
            <a:pathLst>
              <a:path w="4981575" h="9525">
                <a:moveTo>
                  <a:pt x="4981575" y="9525"/>
                </a:moveTo>
                <a:lnTo>
                  <a:pt x="0" y="9525"/>
                </a:lnTo>
                <a:lnTo>
                  <a:pt x="0" y="0"/>
                </a:lnTo>
                <a:lnTo>
                  <a:pt x="4981575" y="0"/>
                </a:lnTo>
                <a:lnTo>
                  <a:pt x="4981575" y="9525"/>
                </a:lnTo>
                <a:close/>
              </a:path>
            </a:pathLst>
          </a:custGeom>
          <a:solidFill>
            <a:srgbClr val="A7814D">
              <a:alpha val="14118"/>
            </a:srgbClr>
          </a:solidFill>
        </p:spPr>
        <p:txBody>
          <a:bodyPr wrap="square" lIns="0" tIns="0" rIns="0" bIns="0" rtlCol="0"/>
          <a:lstStyle/>
          <a:p>
            <a:endParaRPr>
              <a:latin typeface="+mj-ea"/>
              <a:ea typeface="+mj-ea"/>
            </a:endParaRPr>
          </a:p>
        </p:txBody>
      </p:sp>
      <p:sp>
        <p:nvSpPr>
          <p:cNvPr id="10" name="object 5"/>
          <p:cNvSpPr txBox="1"/>
          <p:nvPr/>
        </p:nvSpPr>
        <p:spPr>
          <a:xfrm>
            <a:off x="635297" y="5651500"/>
            <a:ext cx="1760481" cy="20133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00" b="1" spc="-114" dirty="0">
                <a:solidFill>
                  <a:srgbClr val="A7814D"/>
                </a:solidFill>
                <a:latin typeface="+mj-ea"/>
                <a:ea typeface="+mj-ea"/>
                <a:cs typeface="Georgia"/>
              </a:rPr>
              <a:t>Session</a:t>
            </a:r>
            <a:r>
              <a:rPr sz="1200" b="1" spc="45" dirty="0">
                <a:solidFill>
                  <a:srgbClr val="A7814D"/>
                </a:solidFill>
                <a:latin typeface="+mj-ea"/>
                <a:ea typeface="+mj-ea"/>
                <a:cs typeface="Georgia"/>
              </a:rPr>
              <a:t> </a:t>
            </a:r>
            <a:r>
              <a:rPr sz="1200" b="1" spc="-90" dirty="0">
                <a:solidFill>
                  <a:srgbClr val="A7814D"/>
                </a:solidFill>
                <a:latin typeface="+mj-ea"/>
                <a:ea typeface="+mj-ea"/>
                <a:cs typeface="Georgia"/>
              </a:rPr>
              <a:t>2.</a:t>
            </a:r>
            <a:r>
              <a:rPr sz="1200" b="1" spc="65" dirty="0">
                <a:solidFill>
                  <a:srgbClr val="A7814D"/>
                </a:solidFill>
                <a:latin typeface="+mj-ea"/>
                <a:ea typeface="+mj-ea"/>
                <a:cs typeface="Georgia"/>
              </a:rPr>
              <a:t> </a:t>
            </a:r>
            <a:r>
              <a:rPr sz="1200" b="1" spc="-180" dirty="0" err="1">
                <a:solidFill>
                  <a:srgbClr val="A7814D"/>
                </a:solidFill>
                <a:latin typeface="+mj-ea"/>
                <a:ea typeface="+mj-ea"/>
                <a:cs typeface="Malgun Gothic"/>
              </a:rPr>
              <a:t>사회</a:t>
            </a:r>
            <a:r>
              <a:rPr lang="en-US" sz="1200" b="1" spc="-180" dirty="0">
                <a:solidFill>
                  <a:srgbClr val="A7814D"/>
                </a:solidFill>
                <a:latin typeface="+mj-ea"/>
                <a:ea typeface="+mj-ea"/>
                <a:cs typeface="Malgun Gothic"/>
              </a:rPr>
              <a:t> &amp; </a:t>
            </a:r>
            <a:r>
              <a:rPr sz="1200" b="1" spc="-180" dirty="0" err="1">
                <a:solidFill>
                  <a:srgbClr val="A7814D"/>
                </a:solidFill>
                <a:latin typeface="+mj-ea"/>
                <a:ea typeface="+mj-ea"/>
                <a:cs typeface="Malgun Gothic"/>
              </a:rPr>
              <a:t>정치</a:t>
            </a:r>
            <a:r>
              <a:rPr sz="1200" b="1" spc="-175" dirty="0">
                <a:solidFill>
                  <a:srgbClr val="A7814D"/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1200" b="1" spc="-85" dirty="0">
                <a:solidFill>
                  <a:srgbClr val="A7814D"/>
                </a:solidFill>
                <a:latin typeface="+mj-ea"/>
                <a:ea typeface="+mj-ea"/>
                <a:cs typeface="Malgun Gothic"/>
              </a:rPr>
              <a:t>혁신</a:t>
            </a:r>
            <a:endParaRPr sz="1200" b="1" dirty="0">
              <a:latin typeface="+mj-ea"/>
              <a:ea typeface="+mj-ea"/>
              <a:cs typeface="Malgun Gothic"/>
            </a:endParaRPr>
          </a:p>
        </p:txBody>
      </p:sp>
      <p:sp>
        <p:nvSpPr>
          <p:cNvPr id="11" name="object 6"/>
          <p:cNvSpPr/>
          <p:nvPr/>
        </p:nvSpPr>
        <p:spPr>
          <a:xfrm>
            <a:off x="657225" y="6515259"/>
            <a:ext cx="6248400" cy="995484"/>
          </a:xfrm>
          <a:custGeom>
            <a:avLst/>
            <a:gdLst/>
            <a:ahLst/>
            <a:cxnLst/>
            <a:rect l="l" t="t" r="r" b="b"/>
            <a:pathLst>
              <a:path w="6248400" h="2019300">
                <a:moveTo>
                  <a:pt x="6248400" y="0"/>
                </a:moveTo>
                <a:lnTo>
                  <a:pt x="0" y="0"/>
                </a:lnTo>
                <a:lnTo>
                  <a:pt x="0" y="676275"/>
                </a:lnTo>
                <a:lnTo>
                  <a:pt x="0" y="1352550"/>
                </a:lnTo>
                <a:lnTo>
                  <a:pt x="0" y="2019300"/>
                </a:lnTo>
                <a:lnTo>
                  <a:pt x="6248400" y="2019300"/>
                </a:lnTo>
                <a:lnTo>
                  <a:pt x="6248400" y="1352550"/>
                </a:lnTo>
                <a:lnTo>
                  <a:pt x="6248400" y="676275"/>
                </a:lnTo>
                <a:lnTo>
                  <a:pt x="6248400" y="0"/>
                </a:lnTo>
                <a:close/>
              </a:path>
            </a:pathLst>
          </a:custGeom>
          <a:solidFill>
            <a:srgbClr val="F4EFE4"/>
          </a:solidFill>
        </p:spPr>
        <p:txBody>
          <a:bodyPr wrap="square" lIns="0" tIns="0" rIns="0" bIns="0" rtlCol="0"/>
          <a:lstStyle/>
          <a:p>
            <a:endParaRPr>
              <a:latin typeface="+mj-ea"/>
              <a:ea typeface="+mj-ea"/>
            </a:endParaRPr>
          </a:p>
        </p:txBody>
      </p:sp>
      <p:graphicFrame>
        <p:nvGraphicFramePr>
          <p:cNvPr id="12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5639464"/>
              </p:ext>
            </p:extLst>
          </p:nvPr>
        </p:nvGraphicFramePr>
        <p:xfrm>
          <a:off x="661612" y="5971243"/>
          <a:ext cx="6258560" cy="164995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1394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4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3048"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300" b="1" spc="-25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천하람</a:t>
                      </a:r>
                      <a:endParaRPr sz="1300" dirty="0">
                        <a:latin typeface="+mj-ea"/>
                        <a:ea typeface="+mj-ea"/>
                        <a:cs typeface="Malgun Gothic"/>
                      </a:endParaRPr>
                    </a:p>
                    <a:p>
                      <a:pPr marL="18478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Malgun Gothic"/>
                        </a:rPr>
                        <a:t>개</a:t>
                      </a:r>
                      <a:r>
                        <a:rPr sz="600" b="1" spc="-130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Malgun Gothic"/>
                        </a:rPr>
                        <a:t>혁</a:t>
                      </a:r>
                      <a:r>
                        <a:rPr sz="600" b="1" spc="-130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Malgun Gothic"/>
                        </a:rPr>
                        <a:t>신</a:t>
                      </a:r>
                      <a:r>
                        <a:rPr sz="600" b="1" spc="-130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600" b="1" spc="-50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Malgun Gothic"/>
                        </a:rPr>
                        <a:t>당</a:t>
                      </a:r>
                      <a:endParaRPr sz="600" dirty="0">
                        <a:latin typeface="+mj-ea"/>
                        <a:ea typeface="+mj-ea"/>
                        <a:cs typeface="Malgun Gothic"/>
                      </a:endParaRPr>
                    </a:p>
                  </a:txBody>
                  <a:tcPr marL="0" marR="0" marT="144145" marB="0">
                    <a:lnL w="9525">
                      <a:noFill/>
                      <a:prstDash val="solid"/>
                    </a:lnL>
                    <a:lnR>
                      <a:noFill/>
                    </a:lnR>
                    <a:lnT w="3175" cap="flat" cmpd="sng" algn="ctr">
                      <a:solidFill>
                        <a:srgbClr val="898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8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 marL="698500">
                        <a:lnSpc>
                          <a:spcPct val="100000"/>
                        </a:lnSpc>
                      </a:pPr>
                      <a:endParaRPr lang="en-US" sz="900" b="1" dirty="0">
                        <a:solidFill>
                          <a:srgbClr val="1C2136"/>
                        </a:solidFill>
                        <a:latin typeface="+mj-ea"/>
                        <a:ea typeface="+mj-ea"/>
                        <a:cs typeface="Malgun Gothic"/>
                      </a:endParaRPr>
                    </a:p>
                    <a:p>
                      <a:pPr marL="698500">
                        <a:lnSpc>
                          <a:spcPct val="100000"/>
                        </a:lnSpc>
                      </a:pPr>
                      <a:r>
                        <a:rPr sz="900" b="1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제22대</a:t>
                      </a:r>
                      <a:r>
                        <a:rPr sz="900" b="1" spc="120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b="1" spc="-20" dirty="0" err="1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국회의원</a:t>
                      </a:r>
                      <a:endParaRPr sz="900" dirty="0">
                        <a:latin typeface="+mj-ea"/>
                        <a:ea typeface="+mj-ea"/>
                        <a:cs typeface="Malgun Gothic"/>
                      </a:endParaRPr>
                    </a:p>
                    <a:p>
                      <a:pPr marL="69850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00" spc="-2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비례대표</a:t>
                      </a:r>
                      <a:endParaRPr sz="900" dirty="0">
                        <a:latin typeface="+mj-ea"/>
                        <a:ea typeface="+mj-ea"/>
                        <a:cs typeface="Malgun Gothic"/>
                      </a:endParaRPr>
                    </a:p>
                  </a:txBody>
                  <a:tcPr marL="0" marR="0" marT="62230" marB="0">
                    <a:lnL>
                      <a:noFill/>
                    </a:lnL>
                    <a:lnR w="9525">
                      <a:noFill/>
                      <a:prstDash val="solid"/>
                    </a:lnR>
                    <a:lnT w="3175" cap="flat" cmpd="sng" algn="ctr">
                      <a:solidFill>
                        <a:srgbClr val="898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8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451"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300" b="1" spc="-25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김동아</a:t>
                      </a:r>
                      <a:endParaRPr sz="1300" dirty="0">
                        <a:latin typeface="+mj-ea"/>
                        <a:ea typeface="+mj-ea"/>
                        <a:cs typeface="Malgun Gothic"/>
                      </a:endParaRPr>
                    </a:p>
                    <a:p>
                      <a:pPr marL="18478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Malgun Gothic"/>
                        </a:rPr>
                        <a:t>더</a:t>
                      </a:r>
                      <a:r>
                        <a:rPr sz="600" b="1" spc="-130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Malgun Gothic"/>
                        </a:rPr>
                        <a:t>불</a:t>
                      </a:r>
                      <a:r>
                        <a:rPr sz="600" b="1" spc="-130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Malgun Gothic"/>
                        </a:rPr>
                        <a:t>어</a:t>
                      </a:r>
                      <a:r>
                        <a:rPr sz="600" b="1" spc="-130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Malgun Gothic"/>
                        </a:rPr>
                        <a:t>민</a:t>
                      </a:r>
                      <a:r>
                        <a:rPr sz="600" b="1" spc="-130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Malgun Gothic"/>
                        </a:rPr>
                        <a:t>주</a:t>
                      </a:r>
                      <a:r>
                        <a:rPr sz="600" b="1" spc="-130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600" b="1" spc="-50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Malgun Gothic"/>
                        </a:rPr>
                        <a:t>당</a:t>
                      </a:r>
                      <a:endParaRPr sz="600" dirty="0">
                        <a:latin typeface="+mj-ea"/>
                        <a:ea typeface="+mj-ea"/>
                        <a:cs typeface="Malgun Gothic"/>
                      </a:endParaRPr>
                    </a:p>
                  </a:txBody>
                  <a:tcPr marL="0" marR="0" marT="153670" marB="0">
                    <a:lnL w="9525">
                      <a:noFill/>
                      <a:prstDash val="solid"/>
                    </a:lnL>
                    <a:lnR>
                      <a:noFill/>
                    </a:lnR>
                    <a:lnT w="3175" cap="flat" cmpd="sng" algn="ctr">
                      <a:solidFill>
                        <a:srgbClr val="898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8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 marL="698500">
                        <a:lnSpc>
                          <a:spcPct val="100000"/>
                        </a:lnSpc>
                      </a:pPr>
                      <a:endParaRPr lang="en-US" sz="900" b="1" dirty="0">
                        <a:solidFill>
                          <a:srgbClr val="1C2136"/>
                        </a:solidFill>
                        <a:latin typeface="+mj-ea"/>
                        <a:ea typeface="+mj-ea"/>
                        <a:cs typeface="Malgun Gothic"/>
                      </a:endParaRPr>
                    </a:p>
                    <a:p>
                      <a:pPr marL="698500">
                        <a:lnSpc>
                          <a:spcPct val="100000"/>
                        </a:lnSpc>
                      </a:pPr>
                      <a:r>
                        <a:rPr sz="900" b="1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제22대</a:t>
                      </a:r>
                      <a:r>
                        <a:rPr lang="en-US" sz="900" b="1" spc="120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b="1" spc="-20" dirty="0" err="1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국회의원</a:t>
                      </a:r>
                      <a:endParaRPr sz="900" dirty="0">
                        <a:latin typeface="+mj-ea"/>
                        <a:ea typeface="+mj-ea"/>
                        <a:cs typeface="Malgun Gothic"/>
                      </a:endParaRPr>
                    </a:p>
                    <a:p>
                      <a:pPr marL="6985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00" spc="-2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서대문갑</a:t>
                      </a:r>
                      <a:endParaRPr sz="900" dirty="0">
                        <a:latin typeface="+mj-ea"/>
                        <a:ea typeface="+mj-ea"/>
                        <a:cs typeface="Malgun Gothic"/>
                      </a:endParaRPr>
                    </a:p>
                  </a:txBody>
                  <a:tcPr marL="0" marR="0" marT="71755" marB="0">
                    <a:lnL>
                      <a:noFill/>
                    </a:lnL>
                    <a:lnR w="9525">
                      <a:noFill/>
                      <a:prstDash val="solid"/>
                    </a:lnR>
                    <a:lnT w="3175" cap="flat" cmpd="sng" algn="ctr">
                      <a:solidFill>
                        <a:srgbClr val="898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98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451"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300" b="1" spc="-25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손솔</a:t>
                      </a:r>
                      <a:endParaRPr sz="1300" dirty="0">
                        <a:latin typeface="+mj-ea"/>
                        <a:ea typeface="+mj-ea"/>
                        <a:cs typeface="Malgun Gothic"/>
                      </a:endParaRPr>
                    </a:p>
                    <a:p>
                      <a:pPr marL="18478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Malgun Gothic"/>
                        </a:rPr>
                        <a:t>진</a:t>
                      </a:r>
                      <a:r>
                        <a:rPr sz="600" b="1" spc="-130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Malgun Gothic"/>
                        </a:rPr>
                        <a:t>보</a:t>
                      </a:r>
                      <a:r>
                        <a:rPr sz="600" b="1" spc="-130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600" b="1" spc="-50" dirty="0">
                          <a:solidFill>
                            <a:srgbClr val="A7814D"/>
                          </a:solidFill>
                          <a:latin typeface="+mj-ea"/>
                          <a:ea typeface="+mj-ea"/>
                          <a:cs typeface="Malgun Gothic"/>
                        </a:rPr>
                        <a:t>당</a:t>
                      </a:r>
                      <a:endParaRPr sz="600" dirty="0">
                        <a:latin typeface="+mj-ea"/>
                        <a:ea typeface="+mj-ea"/>
                        <a:cs typeface="Malgun Gothic"/>
                      </a:endParaRPr>
                    </a:p>
                  </a:txBody>
                  <a:tcPr marL="0" marR="0" marT="153670" marB="0">
                    <a:lnL w="9525">
                      <a:noFill/>
                      <a:prstDash val="solid"/>
                    </a:lnL>
                    <a:lnR>
                      <a:noFill/>
                    </a:lnR>
                    <a:lnT w="3175" cap="flat" cmpd="sng" algn="ctr">
                      <a:solidFill>
                        <a:srgbClr val="898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 marL="698500">
                        <a:lnSpc>
                          <a:spcPct val="100000"/>
                        </a:lnSpc>
                      </a:pPr>
                      <a:endParaRPr lang="en-US" sz="900" b="1" dirty="0">
                        <a:solidFill>
                          <a:srgbClr val="1C2136"/>
                        </a:solidFill>
                        <a:latin typeface="+mj-ea"/>
                        <a:ea typeface="+mj-ea"/>
                        <a:cs typeface="Malgun Gothic"/>
                      </a:endParaRPr>
                    </a:p>
                    <a:p>
                      <a:pPr marL="698500">
                        <a:lnSpc>
                          <a:spcPct val="100000"/>
                        </a:lnSpc>
                      </a:pPr>
                      <a:r>
                        <a:rPr sz="900" b="1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제22대</a:t>
                      </a:r>
                      <a:r>
                        <a:rPr sz="900" b="1" spc="125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 </a:t>
                      </a:r>
                      <a:r>
                        <a:rPr sz="900" b="1" spc="-20" dirty="0">
                          <a:solidFill>
                            <a:srgbClr val="1C2136"/>
                          </a:solidFill>
                          <a:latin typeface="+mj-ea"/>
                          <a:ea typeface="+mj-ea"/>
                          <a:cs typeface="Malgun Gothic"/>
                        </a:rPr>
                        <a:t>국회의원</a:t>
                      </a:r>
                      <a:endParaRPr sz="900" dirty="0">
                        <a:latin typeface="+mj-ea"/>
                        <a:ea typeface="+mj-ea"/>
                        <a:cs typeface="Malgun Gothic"/>
                      </a:endParaRPr>
                    </a:p>
                    <a:p>
                      <a:pPr marL="6985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00" spc="-20" dirty="0">
                          <a:solidFill>
                            <a:srgbClr val="596074"/>
                          </a:solidFill>
                          <a:latin typeface="+mj-ea"/>
                          <a:ea typeface="+mj-ea"/>
                          <a:cs typeface="Malgun Gothic"/>
                        </a:rPr>
                        <a:t>비례대표</a:t>
                      </a:r>
                      <a:endParaRPr sz="900" dirty="0">
                        <a:latin typeface="+mj-ea"/>
                        <a:ea typeface="+mj-ea"/>
                        <a:cs typeface="Malgun Gothic"/>
                      </a:endParaRPr>
                    </a:p>
                  </a:txBody>
                  <a:tcPr marL="0" marR="0" marT="71755" marB="0">
                    <a:lnL>
                      <a:noFill/>
                    </a:lnL>
                    <a:lnR w="9525">
                      <a:noFill/>
                      <a:prstDash val="solid"/>
                    </a:lnR>
                    <a:lnT w="3175" cap="flat" cmpd="sng" algn="ctr">
                      <a:solidFill>
                        <a:srgbClr val="898C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object 8"/>
          <p:cNvSpPr/>
          <p:nvPr/>
        </p:nvSpPr>
        <p:spPr>
          <a:xfrm>
            <a:off x="2238375" y="5766427"/>
            <a:ext cx="4676775" cy="9525"/>
          </a:xfrm>
          <a:custGeom>
            <a:avLst/>
            <a:gdLst/>
            <a:ahLst/>
            <a:cxnLst/>
            <a:rect l="l" t="t" r="r" b="b"/>
            <a:pathLst>
              <a:path w="4676775" h="9525">
                <a:moveTo>
                  <a:pt x="4676775" y="9525"/>
                </a:moveTo>
                <a:lnTo>
                  <a:pt x="0" y="9525"/>
                </a:lnTo>
                <a:lnTo>
                  <a:pt x="0" y="0"/>
                </a:lnTo>
                <a:lnTo>
                  <a:pt x="4676775" y="0"/>
                </a:lnTo>
                <a:lnTo>
                  <a:pt x="4676775" y="9525"/>
                </a:lnTo>
                <a:close/>
              </a:path>
            </a:pathLst>
          </a:custGeom>
          <a:solidFill>
            <a:srgbClr val="A7814D">
              <a:alpha val="14118"/>
            </a:srgbClr>
          </a:solidFill>
        </p:spPr>
        <p:txBody>
          <a:bodyPr wrap="square" lIns="0" tIns="0" rIns="0" bIns="0" rtlCol="0"/>
          <a:lstStyle/>
          <a:p>
            <a:endParaRPr>
              <a:latin typeface="+mj-ea"/>
              <a:ea typeface="+mj-ea"/>
            </a:endParaRPr>
          </a:p>
        </p:txBody>
      </p:sp>
      <p:sp>
        <p:nvSpPr>
          <p:cNvPr id="25" name="object 37">
            <a:extLst>
              <a:ext uri="{FF2B5EF4-FFF2-40B4-BE49-F238E27FC236}">
                <a16:creationId xmlns:a16="http://schemas.microsoft.com/office/drawing/2014/main" id="{9A8C42BB-67D1-87FE-5A3C-0D8F6E371EEF}"/>
              </a:ext>
            </a:extLst>
          </p:cNvPr>
          <p:cNvSpPr txBox="1"/>
          <p:nvPr/>
        </p:nvSpPr>
        <p:spPr>
          <a:xfrm>
            <a:off x="597357" y="8518291"/>
            <a:ext cx="1336218" cy="19941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00" b="1" spc="-155" dirty="0">
                <a:solidFill>
                  <a:srgbClr val="A7814D"/>
                </a:solidFill>
                <a:latin typeface="+mj-ea"/>
                <a:ea typeface="+mj-ea"/>
                <a:cs typeface="Malgun Gothic"/>
              </a:rPr>
              <a:t>확정</a:t>
            </a:r>
            <a:r>
              <a:rPr sz="1200" b="1" spc="-80" dirty="0">
                <a:solidFill>
                  <a:srgbClr val="A7814D"/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1200" b="1" spc="-155" dirty="0">
                <a:solidFill>
                  <a:srgbClr val="A7814D"/>
                </a:solidFill>
                <a:latin typeface="+mj-ea"/>
                <a:ea typeface="+mj-ea"/>
                <a:cs typeface="Malgun Gothic"/>
              </a:rPr>
              <a:t>대표</a:t>
            </a:r>
            <a:r>
              <a:rPr sz="1200" b="1" spc="-80" dirty="0">
                <a:solidFill>
                  <a:srgbClr val="A7814D"/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1200" b="1" spc="-130" dirty="0">
                <a:solidFill>
                  <a:srgbClr val="A7814D"/>
                </a:solidFill>
                <a:latin typeface="+mj-ea"/>
                <a:ea typeface="+mj-ea"/>
                <a:cs typeface="Malgun Gothic"/>
              </a:rPr>
              <a:t>알럼나이</a:t>
            </a:r>
            <a:endParaRPr sz="1200" b="1" dirty="0">
              <a:latin typeface="+mj-ea"/>
              <a:ea typeface="+mj-ea"/>
              <a:cs typeface="Malgun Gothic"/>
            </a:endParaRPr>
          </a:p>
        </p:txBody>
      </p:sp>
      <p:sp>
        <p:nvSpPr>
          <p:cNvPr id="26" name="object 38">
            <a:extLst>
              <a:ext uri="{FF2B5EF4-FFF2-40B4-BE49-F238E27FC236}">
                <a16:creationId xmlns:a16="http://schemas.microsoft.com/office/drawing/2014/main" id="{2E940F34-B99A-F327-B8B2-E998D242F1B9}"/>
              </a:ext>
            </a:extLst>
          </p:cNvPr>
          <p:cNvSpPr/>
          <p:nvPr/>
        </p:nvSpPr>
        <p:spPr>
          <a:xfrm flipV="1">
            <a:off x="1859756" y="8589052"/>
            <a:ext cx="4890293" cy="3600"/>
          </a:xfrm>
          <a:custGeom>
            <a:avLst/>
            <a:gdLst/>
            <a:ahLst/>
            <a:cxnLst/>
            <a:rect l="l" t="t" r="r" b="b"/>
            <a:pathLst>
              <a:path w="3886200" h="9525">
                <a:moveTo>
                  <a:pt x="3886200" y="9525"/>
                </a:moveTo>
                <a:lnTo>
                  <a:pt x="0" y="9525"/>
                </a:lnTo>
                <a:lnTo>
                  <a:pt x="0" y="0"/>
                </a:lnTo>
                <a:lnTo>
                  <a:pt x="3886200" y="0"/>
                </a:lnTo>
                <a:lnTo>
                  <a:pt x="3886200" y="9525"/>
                </a:lnTo>
                <a:close/>
              </a:path>
            </a:pathLst>
          </a:custGeom>
          <a:solidFill>
            <a:srgbClr val="A7814D">
              <a:alpha val="14118"/>
            </a:srgbClr>
          </a:solidFill>
        </p:spPr>
        <p:txBody>
          <a:bodyPr wrap="square" lIns="0" tIns="0" rIns="0" bIns="0" rtlCol="0"/>
          <a:lstStyle/>
          <a:p>
            <a:endParaRPr>
              <a:latin typeface="+mj-ea"/>
              <a:ea typeface="+mj-ea"/>
            </a:endParaRPr>
          </a:p>
        </p:txBody>
      </p:sp>
      <p:sp>
        <p:nvSpPr>
          <p:cNvPr id="27" name="object 39">
            <a:extLst>
              <a:ext uri="{FF2B5EF4-FFF2-40B4-BE49-F238E27FC236}">
                <a16:creationId xmlns:a16="http://schemas.microsoft.com/office/drawing/2014/main" id="{0A4997C1-9115-B642-B8FB-DDE1AC04E74D}"/>
              </a:ext>
            </a:extLst>
          </p:cNvPr>
          <p:cNvSpPr txBox="1"/>
          <p:nvPr/>
        </p:nvSpPr>
        <p:spPr>
          <a:xfrm>
            <a:off x="856212" y="8777604"/>
            <a:ext cx="440690" cy="3790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300" b="1" spc="-160" dirty="0">
                <a:solidFill>
                  <a:srgbClr val="1C2136"/>
                </a:solidFill>
                <a:latin typeface="+mj-ea"/>
                <a:ea typeface="+mj-ea"/>
                <a:cs typeface="Malgun Gothic"/>
              </a:rPr>
              <a:t>오종훈</a:t>
            </a:r>
            <a:endParaRPr sz="1300" dirty="0">
              <a:latin typeface="+mj-ea"/>
              <a:ea typeface="+mj-ea"/>
              <a:cs typeface="Malgun Gothic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r>
              <a:rPr sz="6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E</a:t>
            </a:r>
            <a:r>
              <a:rPr sz="600" spc="-25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N</a:t>
            </a:r>
            <a:r>
              <a:rPr sz="600" spc="-245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E</a:t>
            </a:r>
            <a:r>
              <a:rPr sz="600" spc="-25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R</a:t>
            </a:r>
            <a:r>
              <a:rPr sz="600" spc="-245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G</a:t>
            </a:r>
            <a:r>
              <a:rPr sz="600" spc="-245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600" spc="-5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Y</a:t>
            </a:r>
            <a:endParaRPr sz="600" dirty="0">
              <a:latin typeface="+mj-ea"/>
              <a:ea typeface="+mj-ea"/>
              <a:cs typeface="Consolas"/>
            </a:endParaRPr>
          </a:p>
        </p:txBody>
      </p:sp>
      <p:sp>
        <p:nvSpPr>
          <p:cNvPr id="28" name="object 40">
            <a:extLst>
              <a:ext uri="{FF2B5EF4-FFF2-40B4-BE49-F238E27FC236}">
                <a16:creationId xmlns:a16="http://schemas.microsoft.com/office/drawing/2014/main" id="{B776CACF-B00A-8299-45FD-5E13A0890EE1}"/>
              </a:ext>
            </a:extLst>
          </p:cNvPr>
          <p:cNvSpPr txBox="1"/>
          <p:nvPr/>
        </p:nvSpPr>
        <p:spPr>
          <a:xfrm>
            <a:off x="2764032" y="8756221"/>
            <a:ext cx="2766818" cy="412292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5"/>
              </a:spcBef>
            </a:pPr>
            <a:r>
              <a:rPr sz="900" b="1" dirty="0">
                <a:solidFill>
                  <a:srgbClr val="1C2136"/>
                </a:solidFill>
                <a:latin typeface="+mj-ea"/>
                <a:ea typeface="+mj-ea"/>
                <a:cs typeface="Malgun Gothic"/>
              </a:rPr>
              <a:t>SK에너지</a:t>
            </a:r>
            <a:r>
              <a:rPr sz="900" b="1" spc="170" dirty="0">
                <a:solidFill>
                  <a:srgbClr val="1C2136"/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b="1" dirty="0">
                <a:solidFill>
                  <a:srgbClr val="1C2136"/>
                </a:solidFill>
                <a:latin typeface="+mj-ea"/>
                <a:ea typeface="+mj-ea"/>
                <a:cs typeface="Malgun Gothic"/>
              </a:rPr>
              <a:t>대표이사</a:t>
            </a:r>
            <a:r>
              <a:rPr sz="900" b="1" spc="175" dirty="0">
                <a:solidFill>
                  <a:srgbClr val="1C2136"/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b="1" spc="-25" dirty="0">
                <a:solidFill>
                  <a:srgbClr val="1C2136"/>
                </a:solidFill>
                <a:latin typeface="+mj-ea"/>
                <a:ea typeface="+mj-ea"/>
                <a:cs typeface="Malgun Gothic"/>
              </a:rPr>
              <a:t>사장</a:t>
            </a:r>
            <a:endParaRPr sz="900" dirty="0">
              <a:latin typeface="+mj-ea"/>
              <a:ea typeface="+mj-ea"/>
              <a:cs typeface="Malgun Gothic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r>
              <a:rPr sz="900" dirty="0">
                <a:solidFill>
                  <a:srgbClr val="596074"/>
                </a:solidFill>
                <a:latin typeface="+mj-ea"/>
                <a:ea typeface="+mj-ea"/>
                <a:cs typeface="Malgun Gothic"/>
              </a:rPr>
              <a:t>SK</a:t>
            </a:r>
            <a:r>
              <a:rPr sz="900" spc="85" dirty="0">
                <a:solidFill>
                  <a:srgbClr val="596074"/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dirty="0">
                <a:solidFill>
                  <a:srgbClr val="596074"/>
                </a:solidFill>
                <a:latin typeface="+mj-ea"/>
                <a:ea typeface="+mj-ea"/>
                <a:cs typeface="Malgun Gothic"/>
              </a:rPr>
              <a:t>Portfolio</a:t>
            </a:r>
            <a:r>
              <a:rPr sz="900" spc="90" dirty="0">
                <a:solidFill>
                  <a:srgbClr val="596074"/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dirty="0">
                <a:solidFill>
                  <a:srgbClr val="596074"/>
                </a:solidFill>
                <a:latin typeface="+mj-ea"/>
                <a:ea typeface="+mj-ea"/>
                <a:cs typeface="Malgun Gothic"/>
              </a:rPr>
              <a:t>Mgmt.</a:t>
            </a:r>
            <a:r>
              <a:rPr sz="900" spc="90" dirty="0">
                <a:solidFill>
                  <a:srgbClr val="596074"/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dirty="0">
                <a:solidFill>
                  <a:srgbClr val="596074"/>
                </a:solidFill>
                <a:latin typeface="+mj-ea"/>
                <a:ea typeface="+mj-ea"/>
                <a:cs typeface="Malgun Gothic"/>
              </a:rPr>
              <a:t>임원</a:t>
            </a:r>
            <a:r>
              <a:rPr sz="900" spc="90" dirty="0">
                <a:solidFill>
                  <a:srgbClr val="596074"/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dirty="0">
                <a:solidFill>
                  <a:srgbClr val="596074"/>
                </a:solidFill>
                <a:latin typeface="+mj-ea"/>
                <a:ea typeface="+mj-ea"/>
                <a:cs typeface="Malgun Gothic"/>
              </a:rPr>
              <a:t>·</a:t>
            </a:r>
            <a:r>
              <a:rPr sz="900" spc="85" dirty="0">
                <a:solidFill>
                  <a:srgbClr val="596074"/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dirty="0">
                <a:solidFill>
                  <a:srgbClr val="596074"/>
                </a:solidFill>
                <a:latin typeface="+mj-ea"/>
                <a:ea typeface="+mj-ea"/>
                <a:cs typeface="Malgun Gothic"/>
              </a:rPr>
              <a:t>연세대</a:t>
            </a:r>
            <a:r>
              <a:rPr sz="900" spc="90" dirty="0">
                <a:solidFill>
                  <a:srgbClr val="596074"/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dirty="0">
                <a:solidFill>
                  <a:srgbClr val="596074"/>
                </a:solidFill>
                <a:latin typeface="+mj-ea"/>
                <a:ea typeface="+mj-ea"/>
                <a:cs typeface="Malgun Gothic"/>
              </a:rPr>
              <a:t>법학</a:t>
            </a:r>
            <a:r>
              <a:rPr sz="900" spc="90" dirty="0">
                <a:solidFill>
                  <a:srgbClr val="596074"/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spc="-25" dirty="0">
                <a:solidFill>
                  <a:srgbClr val="596074"/>
                </a:solidFill>
                <a:latin typeface="+mj-ea"/>
                <a:ea typeface="+mj-ea"/>
                <a:cs typeface="Malgun Gothic"/>
              </a:rPr>
              <a:t>출신</a:t>
            </a:r>
            <a:endParaRPr sz="900" dirty="0">
              <a:latin typeface="+mj-ea"/>
              <a:ea typeface="+mj-ea"/>
              <a:cs typeface="Malgun Gothic"/>
            </a:endParaRPr>
          </a:p>
        </p:txBody>
      </p:sp>
      <p:sp>
        <p:nvSpPr>
          <p:cNvPr id="46" name="object 42">
            <a:extLst>
              <a:ext uri="{FF2B5EF4-FFF2-40B4-BE49-F238E27FC236}">
                <a16:creationId xmlns:a16="http://schemas.microsoft.com/office/drawing/2014/main" id="{F4AEC69A-BB60-80AB-B032-7D76C3637549}"/>
              </a:ext>
            </a:extLst>
          </p:cNvPr>
          <p:cNvSpPr txBox="1"/>
          <p:nvPr/>
        </p:nvSpPr>
        <p:spPr>
          <a:xfrm>
            <a:off x="856212" y="9311005"/>
            <a:ext cx="440690" cy="3790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300" b="1" spc="-160" dirty="0">
                <a:solidFill>
                  <a:srgbClr val="1C2136"/>
                </a:solidFill>
                <a:latin typeface="+mj-ea"/>
                <a:ea typeface="+mj-ea"/>
                <a:cs typeface="Malgun Gothic"/>
              </a:rPr>
              <a:t>이주호</a:t>
            </a:r>
            <a:endParaRPr sz="1300" dirty="0">
              <a:latin typeface="+mj-ea"/>
              <a:ea typeface="+mj-ea"/>
              <a:cs typeface="Malgun Gothic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r>
              <a:rPr sz="6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B</a:t>
            </a:r>
            <a:r>
              <a:rPr sz="600" spc="-25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E</a:t>
            </a:r>
            <a:r>
              <a:rPr sz="600" spc="-245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A</a:t>
            </a:r>
            <a:r>
              <a:rPr sz="600" spc="-25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U</a:t>
            </a:r>
            <a:r>
              <a:rPr sz="600" spc="-245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T</a:t>
            </a:r>
            <a:r>
              <a:rPr sz="600" spc="-245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600" spc="-5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Y</a:t>
            </a:r>
            <a:endParaRPr sz="600" dirty="0">
              <a:latin typeface="+mj-ea"/>
              <a:ea typeface="+mj-ea"/>
              <a:cs typeface="Consolas"/>
            </a:endParaRPr>
          </a:p>
        </p:txBody>
      </p:sp>
      <p:sp>
        <p:nvSpPr>
          <p:cNvPr id="47" name="object 43">
            <a:extLst>
              <a:ext uri="{FF2B5EF4-FFF2-40B4-BE49-F238E27FC236}">
                <a16:creationId xmlns:a16="http://schemas.microsoft.com/office/drawing/2014/main" id="{9D07F935-139B-2172-FB94-807FD780C004}"/>
              </a:ext>
            </a:extLst>
          </p:cNvPr>
          <p:cNvSpPr txBox="1"/>
          <p:nvPr/>
        </p:nvSpPr>
        <p:spPr>
          <a:xfrm>
            <a:off x="2764032" y="9289621"/>
            <a:ext cx="1151728" cy="412292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5"/>
              </a:spcBef>
            </a:pPr>
            <a:r>
              <a:rPr sz="900" b="1" dirty="0">
                <a:solidFill>
                  <a:srgbClr val="1C2136"/>
                </a:solidFill>
                <a:latin typeface="+mj-ea"/>
                <a:ea typeface="+mj-ea"/>
                <a:cs typeface="Malgun Gothic"/>
              </a:rPr>
              <a:t>Dr.G(닥터지)</a:t>
            </a:r>
            <a:r>
              <a:rPr sz="900" b="1" spc="150" dirty="0">
                <a:solidFill>
                  <a:srgbClr val="1C2136"/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b="1" spc="-25" dirty="0">
                <a:solidFill>
                  <a:srgbClr val="1C2136"/>
                </a:solidFill>
                <a:latin typeface="+mj-ea"/>
                <a:ea typeface="+mj-ea"/>
                <a:cs typeface="Malgun Gothic"/>
              </a:rPr>
              <a:t>대표</a:t>
            </a:r>
            <a:endParaRPr sz="900" dirty="0">
              <a:latin typeface="+mj-ea"/>
              <a:ea typeface="+mj-ea"/>
              <a:cs typeface="Malgun Gothic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r>
              <a:rPr sz="900" dirty="0">
                <a:solidFill>
                  <a:srgbClr val="596074"/>
                </a:solidFill>
                <a:latin typeface="+mj-ea"/>
                <a:ea typeface="+mj-ea"/>
                <a:cs typeface="Malgun Gothic"/>
              </a:rPr>
              <a:t>연세대</a:t>
            </a:r>
            <a:r>
              <a:rPr sz="900" spc="110" dirty="0">
                <a:solidFill>
                  <a:srgbClr val="596074"/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dirty="0">
                <a:solidFill>
                  <a:srgbClr val="596074"/>
                </a:solidFill>
                <a:latin typeface="+mj-ea"/>
                <a:ea typeface="+mj-ea"/>
                <a:cs typeface="Malgun Gothic"/>
              </a:rPr>
              <a:t>경영</a:t>
            </a:r>
            <a:r>
              <a:rPr sz="900" spc="110" dirty="0">
                <a:solidFill>
                  <a:srgbClr val="596074"/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spc="-25" dirty="0">
                <a:solidFill>
                  <a:srgbClr val="596074"/>
                </a:solidFill>
                <a:latin typeface="+mj-ea"/>
                <a:ea typeface="+mj-ea"/>
                <a:cs typeface="Malgun Gothic"/>
              </a:rPr>
              <a:t>출신</a:t>
            </a:r>
            <a:endParaRPr sz="900" dirty="0">
              <a:latin typeface="+mj-ea"/>
              <a:ea typeface="+mj-ea"/>
              <a:cs typeface="Malgun Gothic"/>
            </a:endParaRPr>
          </a:p>
        </p:txBody>
      </p:sp>
      <p:sp>
        <p:nvSpPr>
          <p:cNvPr id="48" name="object 24">
            <a:extLst>
              <a:ext uri="{FF2B5EF4-FFF2-40B4-BE49-F238E27FC236}">
                <a16:creationId xmlns:a16="http://schemas.microsoft.com/office/drawing/2014/main" id="{49363C6B-B5F0-B981-1BA5-63F28B8415CF}"/>
              </a:ext>
            </a:extLst>
          </p:cNvPr>
          <p:cNvSpPr/>
          <p:nvPr/>
        </p:nvSpPr>
        <p:spPr>
          <a:xfrm flipV="1">
            <a:off x="687101" y="9213421"/>
            <a:ext cx="6142324" cy="3600"/>
          </a:xfrm>
          <a:custGeom>
            <a:avLst/>
            <a:gdLst/>
            <a:ahLst/>
            <a:cxnLst/>
            <a:rect l="l" t="t" r="r" b="b"/>
            <a:pathLst>
              <a:path w="5076825" h="9525">
                <a:moveTo>
                  <a:pt x="5076825" y="9525"/>
                </a:moveTo>
                <a:lnTo>
                  <a:pt x="0" y="9525"/>
                </a:lnTo>
                <a:lnTo>
                  <a:pt x="0" y="0"/>
                </a:lnTo>
                <a:lnTo>
                  <a:pt x="5076825" y="0"/>
                </a:lnTo>
                <a:lnTo>
                  <a:pt x="5076825" y="9525"/>
                </a:lnTo>
                <a:close/>
              </a:path>
            </a:pathLst>
          </a:custGeom>
          <a:solidFill>
            <a:srgbClr val="1C2136">
              <a:alpha val="14118"/>
            </a:srgbClr>
          </a:solidFill>
        </p:spPr>
        <p:txBody>
          <a:bodyPr wrap="square" lIns="0" tIns="0" rIns="0" bIns="0" rtlCol="0"/>
          <a:lstStyle/>
          <a:p>
            <a:endParaRPr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8" y="649363"/>
            <a:ext cx="375920" cy="1218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V</a:t>
            </a:r>
            <a:r>
              <a:rPr sz="700" spc="-19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E</a:t>
            </a:r>
            <a:r>
              <a:rPr sz="700" spc="-185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N</a:t>
            </a:r>
            <a:r>
              <a:rPr sz="700" spc="-185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U</a:t>
            </a:r>
            <a:r>
              <a:rPr sz="700" spc="-185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700" spc="-5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E</a:t>
            </a:r>
            <a:endParaRPr sz="700" dirty="0">
              <a:latin typeface="+mj-ea"/>
              <a:ea typeface="+mj-ea"/>
              <a:cs typeface="Consola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5298" y="751566"/>
            <a:ext cx="1167765" cy="400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85" dirty="0">
                <a:latin typeface="+mj-ea"/>
              </a:rPr>
              <a:t>오시는</a:t>
            </a:r>
            <a:r>
              <a:rPr spc="-240" dirty="0">
                <a:latin typeface="+mj-ea"/>
              </a:rPr>
              <a:t> </a:t>
            </a:r>
            <a:r>
              <a:rPr spc="-420" dirty="0">
                <a:latin typeface="+mj-ea"/>
              </a:rPr>
              <a:t>길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71481" y="958925"/>
            <a:ext cx="141605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50" spc="-25" dirty="0">
                <a:solidFill>
                  <a:srgbClr val="596074"/>
                </a:solidFill>
                <a:latin typeface="+mj-ea"/>
                <a:ea typeface="+mj-ea"/>
                <a:cs typeface="Consolas"/>
              </a:rPr>
              <a:t>06</a:t>
            </a:r>
            <a:endParaRPr sz="750" dirty="0">
              <a:latin typeface="+mj-ea"/>
              <a:ea typeface="+mj-ea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2462" y="1719338"/>
            <a:ext cx="3048000" cy="3231334"/>
          </a:xfrm>
          <a:prstGeom prst="rect">
            <a:avLst/>
          </a:prstGeom>
          <a:ln w="9525">
            <a:noFill/>
          </a:ln>
        </p:spPr>
        <p:txBody>
          <a:bodyPr vert="horz" wrap="square" lIns="0" tIns="18542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460"/>
              </a:spcBef>
            </a:pPr>
            <a:r>
              <a:rPr sz="1500" b="1" spc="-229" dirty="0">
                <a:solidFill>
                  <a:srgbClr val="1C2136"/>
                </a:solidFill>
                <a:latin typeface="+mj-ea"/>
                <a:ea typeface="+mj-ea"/>
                <a:cs typeface="Malgun Gothic"/>
              </a:rPr>
              <a:t>숙명여자대학교</a:t>
            </a:r>
            <a:r>
              <a:rPr sz="1500" b="1" spc="-90" dirty="0">
                <a:solidFill>
                  <a:srgbClr val="1C2136"/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1500" b="1" spc="-10" dirty="0">
                <a:solidFill>
                  <a:srgbClr val="1C2136"/>
                </a:solidFill>
                <a:latin typeface="+mj-ea"/>
                <a:ea typeface="+mj-ea"/>
                <a:cs typeface="Malgun Gothic"/>
              </a:rPr>
              <a:t>눈꽃광장홀</a:t>
            </a:r>
            <a:endParaRPr sz="1500" dirty="0">
              <a:latin typeface="+mj-ea"/>
              <a:ea typeface="+mj-ea"/>
              <a:cs typeface="Malgun Gothic"/>
            </a:endParaRPr>
          </a:p>
          <a:p>
            <a:pPr marL="202565">
              <a:lnSpc>
                <a:spcPct val="100000"/>
              </a:lnSpc>
              <a:spcBef>
                <a:spcPts val="675"/>
              </a:spcBef>
            </a:pPr>
            <a:r>
              <a:rPr sz="900" b="1" dirty="0">
                <a:solidFill>
                  <a:srgbClr val="A7814D"/>
                </a:solidFill>
                <a:latin typeface="+mj-ea"/>
                <a:ea typeface="+mj-ea"/>
                <a:cs typeface="Malgun Gothic"/>
              </a:rPr>
              <a:t>서울특별시</a:t>
            </a:r>
            <a:r>
              <a:rPr sz="900" b="1" spc="40" dirty="0">
                <a:solidFill>
                  <a:srgbClr val="A7814D"/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b="1" dirty="0">
                <a:solidFill>
                  <a:srgbClr val="A7814D"/>
                </a:solidFill>
                <a:latin typeface="+mj-ea"/>
                <a:ea typeface="+mj-ea"/>
                <a:cs typeface="Malgun Gothic"/>
              </a:rPr>
              <a:t>용산구</a:t>
            </a:r>
            <a:r>
              <a:rPr sz="900" b="1" spc="45" dirty="0">
                <a:solidFill>
                  <a:srgbClr val="A7814D"/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b="1" dirty="0">
                <a:solidFill>
                  <a:srgbClr val="A7814D"/>
                </a:solidFill>
                <a:latin typeface="+mj-ea"/>
                <a:ea typeface="+mj-ea"/>
                <a:cs typeface="Malgun Gothic"/>
              </a:rPr>
              <a:t>청파로47길</a:t>
            </a:r>
            <a:r>
              <a:rPr sz="900" b="1" spc="45" dirty="0">
                <a:solidFill>
                  <a:srgbClr val="A7814D"/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b="1" spc="-25" dirty="0">
                <a:solidFill>
                  <a:srgbClr val="A7814D"/>
                </a:solidFill>
                <a:latin typeface="+mj-ea"/>
                <a:ea typeface="+mj-ea"/>
                <a:cs typeface="Malgun Gothic"/>
              </a:rPr>
              <a:t>100</a:t>
            </a:r>
            <a:endParaRPr sz="900" dirty="0">
              <a:latin typeface="+mj-ea"/>
              <a:ea typeface="+mj-ea"/>
              <a:cs typeface="Malgun Gothic"/>
            </a:endParaRPr>
          </a:p>
          <a:p>
            <a:pPr marL="202565" marR="192405">
              <a:lnSpc>
                <a:spcPct val="143500"/>
              </a:lnSpc>
              <a:spcBef>
                <a:spcPts val="1450"/>
              </a:spcBef>
            </a:pPr>
            <a:r>
              <a:rPr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행사장은</a:t>
            </a:r>
            <a:r>
              <a:rPr sz="900" spc="3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숙명여자대학교</a:t>
            </a:r>
            <a:r>
              <a:rPr sz="900" spc="4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캠퍼스</a:t>
            </a:r>
            <a:r>
              <a:rPr sz="900" spc="4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내</a:t>
            </a:r>
            <a:r>
              <a:rPr sz="900" spc="4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눈꽃광장홀에 </a:t>
            </a:r>
            <a:r>
              <a:rPr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서</a:t>
            </a:r>
            <a:r>
              <a:rPr sz="900" spc="3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진행됩니다.</a:t>
            </a:r>
            <a:r>
              <a:rPr sz="900" spc="3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참석자께서는</a:t>
            </a:r>
            <a:r>
              <a:rPr sz="900" spc="3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행사</a:t>
            </a:r>
            <a:r>
              <a:rPr sz="900" spc="3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당일</a:t>
            </a:r>
            <a:r>
              <a:rPr sz="900" spc="3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현장</a:t>
            </a:r>
            <a:r>
              <a:rPr sz="900" spc="3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spc="-2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안내 </a:t>
            </a:r>
            <a:r>
              <a:rPr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표지와</a:t>
            </a:r>
            <a:r>
              <a:rPr sz="900" spc="3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운영진의</a:t>
            </a:r>
            <a:r>
              <a:rPr sz="900" spc="3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안내에</a:t>
            </a:r>
            <a:r>
              <a:rPr sz="900" spc="4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따라</a:t>
            </a:r>
            <a:r>
              <a:rPr sz="900" spc="3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입장해주시기</a:t>
            </a:r>
            <a:r>
              <a:rPr sz="900" spc="4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spc="-25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바랍니다</a:t>
            </a:r>
            <a:r>
              <a:rPr sz="900" spc="-2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.</a:t>
            </a:r>
            <a:endParaRPr lang="en-US" sz="900" spc="-25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  <a:cs typeface="Malgun Gothic"/>
            </a:endParaRPr>
          </a:p>
          <a:p>
            <a:pPr marL="202565" marR="192405">
              <a:lnSpc>
                <a:spcPct val="143500"/>
              </a:lnSpc>
              <a:spcBef>
                <a:spcPts val="1450"/>
              </a:spcBef>
            </a:pPr>
            <a:endParaRPr lang="en-US" sz="800" spc="-25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  <a:cs typeface="Malgun Gothic"/>
            </a:endParaRPr>
          </a:p>
          <a:p>
            <a:pPr marL="346710">
              <a:lnSpc>
                <a:spcPct val="100000"/>
              </a:lnSpc>
            </a:pPr>
            <a:endParaRPr lang="en-US" altLang="ko-KR" sz="900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  <a:cs typeface="Malgun Gothic"/>
            </a:endParaRPr>
          </a:p>
          <a:p>
            <a:pPr marL="346710">
              <a:lnSpc>
                <a:spcPct val="100000"/>
              </a:lnSpc>
            </a:pPr>
            <a:r>
              <a:rPr lang="en-US" altLang="ko-KR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4</a:t>
            </a:r>
            <a:r>
              <a:rPr lang="ko-KR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호선</a:t>
            </a:r>
            <a:r>
              <a:rPr lang="ko-KR" altLang="en-US" sz="900" spc="2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lang="ko-KR" altLang="en-US"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숙대입구역</a:t>
            </a:r>
            <a:r>
              <a:rPr lang="ko-KR" altLang="en-US" sz="900" spc="2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lang="en-US" altLang="ko-KR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10</a:t>
            </a:r>
            <a:r>
              <a:rPr lang="ko-KR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번</a:t>
            </a:r>
            <a:r>
              <a:rPr lang="ko-KR" altLang="en-US" sz="900" spc="2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lang="ko-KR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출구</a:t>
            </a:r>
            <a:r>
              <a:rPr lang="ko-KR" altLang="en-US" sz="900" spc="2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lang="en-US" altLang="ko-KR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(</a:t>
            </a:r>
            <a:r>
              <a:rPr lang="ko-KR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도보</a:t>
            </a:r>
            <a:r>
              <a:rPr lang="ko-KR" altLang="en-US" sz="900" spc="2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lang="en-US" altLang="ko-KR" sz="9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12</a:t>
            </a:r>
            <a:r>
              <a:rPr lang="ko-KR" altLang="en-US" sz="9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분</a:t>
            </a:r>
            <a:r>
              <a:rPr lang="en-US" altLang="ko-KR" sz="9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)</a:t>
            </a:r>
            <a:endParaRPr lang="ko-KR" altLang="en-US" sz="900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  <a:cs typeface="Malgun Gothic"/>
            </a:endParaRPr>
          </a:p>
          <a:p>
            <a:pPr marL="346710">
              <a:lnSpc>
                <a:spcPct val="100000"/>
              </a:lnSpc>
              <a:spcBef>
                <a:spcPts val="390"/>
              </a:spcBef>
            </a:pPr>
            <a:r>
              <a:rPr lang="en-US" altLang="ko-KR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1</a:t>
            </a:r>
            <a:r>
              <a:rPr lang="ko-KR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호선</a:t>
            </a:r>
            <a:r>
              <a:rPr lang="ko-KR" altLang="en-US" sz="900" spc="1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lang="ko-KR" altLang="en-US"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남영역</a:t>
            </a:r>
            <a:r>
              <a:rPr lang="ko-KR" altLang="en-US" sz="900" spc="1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lang="en-US" altLang="ko-KR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1</a:t>
            </a:r>
            <a:r>
              <a:rPr lang="ko-KR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번</a:t>
            </a:r>
            <a:r>
              <a:rPr lang="ko-KR" altLang="en-US" sz="900" spc="2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lang="ko-KR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출구</a:t>
            </a:r>
            <a:r>
              <a:rPr lang="ko-KR" altLang="en-US" sz="900" spc="1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lang="en-US" altLang="ko-KR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(</a:t>
            </a:r>
            <a:r>
              <a:rPr lang="ko-KR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도보</a:t>
            </a:r>
            <a:r>
              <a:rPr lang="ko-KR" altLang="en-US" sz="900" spc="1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lang="en-US" altLang="ko-KR" sz="9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17</a:t>
            </a:r>
            <a:r>
              <a:rPr lang="ko-KR" altLang="en-US" sz="9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분</a:t>
            </a:r>
            <a:r>
              <a:rPr lang="en-US" altLang="ko-KR" sz="9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)</a:t>
            </a:r>
            <a:endParaRPr lang="ko-KR" altLang="en-US" sz="900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  <a:cs typeface="Malgun Gothic"/>
            </a:endParaRPr>
          </a:p>
          <a:p>
            <a:pPr marL="346710">
              <a:lnSpc>
                <a:spcPct val="100000"/>
              </a:lnSpc>
              <a:spcBef>
                <a:spcPts val="465"/>
              </a:spcBef>
            </a:pPr>
            <a:r>
              <a:rPr lang="en-US" altLang="ko-KR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6</a:t>
            </a:r>
            <a:r>
              <a:rPr lang="ko-KR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호선</a:t>
            </a:r>
            <a:r>
              <a:rPr lang="ko-KR" altLang="en-US" sz="900" spc="2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lang="ko-KR" altLang="en-US"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효창공원앞역</a:t>
            </a:r>
            <a:r>
              <a:rPr lang="ko-KR" altLang="en-US" sz="900" spc="2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lang="en-US" altLang="ko-KR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2</a:t>
            </a:r>
            <a:r>
              <a:rPr lang="ko-KR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번</a:t>
            </a:r>
            <a:r>
              <a:rPr lang="ko-KR" altLang="en-US" sz="900" spc="2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lang="ko-KR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출구</a:t>
            </a:r>
            <a:r>
              <a:rPr lang="ko-KR" altLang="en-US" sz="900" spc="2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lang="en-US" altLang="ko-KR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(</a:t>
            </a:r>
            <a:r>
              <a:rPr lang="ko-KR" alt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도보</a:t>
            </a:r>
            <a:r>
              <a:rPr lang="ko-KR" altLang="en-US" sz="900" spc="2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lang="en-US" altLang="ko-KR" sz="9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15</a:t>
            </a:r>
            <a:r>
              <a:rPr lang="ko-KR" altLang="en-US" sz="9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분</a:t>
            </a:r>
            <a:r>
              <a:rPr lang="en-US" altLang="ko-KR" sz="9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)</a:t>
            </a:r>
            <a:endParaRPr lang="ko-KR" altLang="en-US" sz="900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  <a:cs typeface="Malgun Gothic"/>
            </a:endParaRPr>
          </a:p>
          <a:p>
            <a:pPr marL="202565" marR="192405">
              <a:lnSpc>
                <a:spcPct val="143500"/>
              </a:lnSpc>
              <a:spcBef>
                <a:spcPts val="1450"/>
              </a:spcBef>
            </a:pPr>
            <a:endParaRPr sz="900" dirty="0">
              <a:latin typeface="+mj-ea"/>
              <a:ea typeface="+mj-ea"/>
              <a:cs typeface="Malgun Gothic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900" dirty="0">
              <a:latin typeface="+mj-ea"/>
              <a:ea typeface="+mj-ea"/>
              <a:cs typeface="Malgun Gothic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962400" y="1714575"/>
            <a:ext cx="2952750" cy="2197025"/>
            <a:chOff x="3962400" y="1714575"/>
            <a:chExt cx="2952750" cy="2143125"/>
          </a:xfrm>
        </p:grpSpPr>
        <p:sp>
          <p:nvSpPr>
            <p:cNvPr id="10" name="object 10"/>
            <p:cNvSpPr/>
            <p:nvPr/>
          </p:nvSpPr>
          <p:spPr>
            <a:xfrm>
              <a:off x="3962400" y="1714575"/>
              <a:ext cx="2952750" cy="2143125"/>
            </a:xfrm>
            <a:custGeom>
              <a:avLst/>
              <a:gdLst/>
              <a:ahLst/>
              <a:cxnLst/>
              <a:rect l="l" t="t" r="r" b="b"/>
              <a:pathLst>
                <a:path w="2952750" h="2143125">
                  <a:moveTo>
                    <a:pt x="2952750" y="2143125"/>
                  </a:moveTo>
                  <a:lnTo>
                    <a:pt x="0" y="2143125"/>
                  </a:lnTo>
                  <a:lnTo>
                    <a:pt x="0" y="0"/>
                  </a:lnTo>
                  <a:lnTo>
                    <a:pt x="2952750" y="0"/>
                  </a:lnTo>
                  <a:lnTo>
                    <a:pt x="2952750" y="2143125"/>
                  </a:lnTo>
                  <a:close/>
                </a:path>
              </a:pathLst>
            </a:custGeom>
            <a:solidFill>
              <a:srgbClr val="ECE3D5"/>
            </a:solidFill>
          </p:spPr>
          <p:txBody>
            <a:bodyPr wrap="square" lIns="0" tIns="0" rIns="0" bIns="0" rtlCol="0"/>
            <a:lstStyle/>
            <a:p>
              <a:endParaRPr>
                <a:latin typeface="+mj-ea"/>
                <a:ea typeface="+mj-ea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3967162" y="1719338"/>
              <a:ext cx="2943225" cy="2133600"/>
            </a:xfrm>
            <a:custGeom>
              <a:avLst/>
              <a:gdLst/>
              <a:ahLst/>
              <a:cxnLst/>
              <a:rect l="l" t="t" r="r" b="b"/>
              <a:pathLst>
                <a:path w="2943225" h="2133600">
                  <a:moveTo>
                    <a:pt x="0" y="0"/>
                  </a:moveTo>
                  <a:lnTo>
                    <a:pt x="2943225" y="0"/>
                  </a:lnTo>
                  <a:lnTo>
                    <a:pt x="2943225" y="2133600"/>
                  </a:lnTo>
                  <a:lnTo>
                    <a:pt x="0" y="21336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1C213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ea"/>
                <a:ea typeface="+mj-ea"/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8600" y="1790775"/>
              <a:ext cx="2790825" cy="1981200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6784282" y="10134434"/>
            <a:ext cx="16827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35"/>
              </a:lnSpc>
            </a:pPr>
            <a:r>
              <a:rPr spc="-25" dirty="0">
                <a:latin typeface="+mj-ea"/>
                <a:ea typeface="+mj-ea"/>
              </a:rPr>
              <a:t>0</a:t>
            </a:r>
            <a:fld id="{81D60167-4931-47E6-BA6A-407CBD079E47}" type="slidenum">
              <a:rPr spc="-25" dirty="0">
                <a:latin typeface="+mj-ea"/>
                <a:ea typeface="+mj-ea"/>
              </a:rPr>
              <a:t>6</a:t>
            </a:fld>
            <a:endParaRPr spc="-25" dirty="0">
              <a:latin typeface="+mj-ea"/>
              <a:ea typeface="+mj-ea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5A97C28E-9825-551A-5A04-A603FB66C7F5}"/>
              </a:ext>
            </a:extLst>
          </p:cNvPr>
          <p:cNvSpPr/>
          <p:nvPr/>
        </p:nvSpPr>
        <p:spPr>
          <a:xfrm>
            <a:off x="857885" y="3849772"/>
            <a:ext cx="118582" cy="11858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latin typeface="+mj-ea"/>
                <a:ea typeface="+mj-ea"/>
              </a:rPr>
              <a:t>4</a:t>
            </a:r>
            <a:endParaRPr lang="ko-KR" altLang="en-US" sz="1600" dirty="0">
              <a:latin typeface="+mj-ea"/>
              <a:ea typeface="+mj-ea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9ADD477A-E209-599E-F0BC-8AE465C6BAB5}"/>
              </a:ext>
            </a:extLst>
          </p:cNvPr>
          <p:cNvSpPr/>
          <p:nvPr/>
        </p:nvSpPr>
        <p:spPr>
          <a:xfrm>
            <a:off x="857885" y="4043645"/>
            <a:ext cx="118582" cy="118582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latin typeface="+mj-ea"/>
                <a:ea typeface="+mj-ea"/>
              </a:rPr>
              <a:t>1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65B627B-098C-70D1-9AEE-0B5F36EE422B}"/>
              </a:ext>
            </a:extLst>
          </p:cNvPr>
          <p:cNvSpPr/>
          <p:nvPr/>
        </p:nvSpPr>
        <p:spPr>
          <a:xfrm>
            <a:off x="857885" y="4237518"/>
            <a:ext cx="118582" cy="118582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latin typeface="+mj-ea"/>
                <a:ea typeface="+mj-ea"/>
              </a:rPr>
              <a:t>6</a:t>
            </a:r>
            <a:endParaRPr lang="ko-KR" altLang="en-US" sz="1600" dirty="0">
              <a:latin typeface="+mj-ea"/>
              <a:ea typeface="+mj-ea"/>
            </a:endParaRPr>
          </a:p>
        </p:txBody>
      </p:sp>
      <p:sp>
        <p:nvSpPr>
          <p:cNvPr id="5" name="object 2"/>
          <p:cNvSpPr txBox="1"/>
          <p:nvPr/>
        </p:nvSpPr>
        <p:spPr>
          <a:xfrm>
            <a:off x="635298" y="4814809"/>
            <a:ext cx="826135" cy="1218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S</a:t>
            </a:r>
            <a:r>
              <a:rPr sz="700" spc="-19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P</a:t>
            </a:r>
            <a:r>
              <a:rPr sz="700" spc="-185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O</a:t>
            </a:r>
            <a:r>
              <a:rPr sz="700" spc="-185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N</a:t>
            </a:r>
            <a:r>
              <a:rPr sz="700" spc="-185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S</a:t>
            </a:r>
            <a:r>
              <a:rPr sz="700" spc="-19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O</a:t>
            </a:r>
            <a:r>
              <a:rPr sz="700" spc="-185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R</a:t>
            </a:r>
            <a:r>
              <a:rPr sz="700" spc="-185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S</a:t>
            </a:r>
            <a:r>
              <a:rPr sz="700" spc="-185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H</a:t>
            </a:r>
            <a:r>
              <a:rPr sz="700" spc="-19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I</a:t>
            </a:r>
            <a:r>
              <a:rPr sz="700" spc="-185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700" spc="-5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P</a:t>
            </a:r>
            <a:endParaRPr sz="700" dirty="0">
              <a:latin typeface="+mj-ea"/>
              <a:ea typeface="+mj-ea"/>
              <a:cs typeface="Consolas"/>
            </a:endParaRPr>
          </a:p>
        </p:txBody>
      </p:sp>
      <p:sp>
        <p:nvSpPr>
          <p:cNvPr id="6" name="object 3"/>
          <p:cNvSpPr txBox="1">
            <a:spLocks/>
          </p:cNvSpPr>
          <p:nvPr/>
        </p:nvSpPr>
        <p:spPr>
          <a:xfrm>
            <a:off x="635298" y="4917012"/>
            <a:ext cx="2125345" cy="400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2450" b="1" i="0">
                <a:solidFill>
                  <a:srgbClr val="1C2136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ko-KR" altLang="en-US" spc="-380">
                <a:latin typeface="+mj-ea"/>
              </a:rPr>
              <a:t>후원</a:t>
            </a:r>
            <a:r>
              <a:rPr lang="ko-KR" altLang="en-US" spc="-245">
                <a:latin typeface="+mj-ea"/>
              </a:rPr>
              <a:t> </a:t>
            </a:r>
            <a:r>
              <a:rPr lang="ko-KR" altLang="en-US" spc="-370">
                <a:latin typeface="+mj-ea"/>
              </a:rPr>
              <a:t>및</a:t>
            </a:r>
            <a:r>
              <a:rPr lang="ko-KR" altLang="en-US" spc="-235">
                <a:latin typeface="+mj-ea"/>
              </a:rPr>
              <a:t> </a:t>
            </a:r>
            <a:r>
              <a:rPr lang="ko-KR" altLang="en-US" spc="-380">
                <a:latin typeface="+mj-ea"/>
              </a:rPr>
              <a:t>협력</a:t>
            </a:r>
            <a:r>
              <a:rPr lang="ko-KR" altLang="en-US" spc="-229">
                <a:latin typeface="+mj-ea"/>
              </a:rPr>
              <a:t> </a:t>
            </a:r>
            <a:r>
              <a:rPr lang="ko-KR" altLang="en-US" spc="-405">
                <a:latin typeface="+mj-ea"/>
              </a:rPr>
              <a:t>안내</a:t>
            </a:r>
            <a:endParaRPr lang="ko-KR" altLang="en-US" spc="-405" dirty="0">
              <a:latin typeface="+mj-ea"/>
            </a:endParaRPr>
          </a:p>
        </p:txBody>
      </p:sp>
      <p:sp>
        <p:nvSpPr>
          <p:cNvPr id="17" name="object 5"/>
          <p:cNvSpPr txBox="1"/>
          <p:nvPr/>
        </p:nvSpPr>
        <p:spPr>
          <a:xfrm>
            <a:off x="635298" y="5517960"/>
            <a:ext cx="5772150" cy="4274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9700"/>
              </a:lnSpc>
              <a:spcBef>
                <a:spcPts val="95"/>
              </a:spcBef>
            </a:pPr>
            <a:r>
              <a:rPr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VAN</a:t>
            </a:r>
            <a:r>
              <a:rPr sz="900" spc="1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컨퍼런스는</a:t>
            </a:r>
            <a:r>
              <a:rPr sz="900" spc="1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청년</a:t>
            </a:r>
            <a:r>
              <a:rPr sz="900" spc="10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세대가</a:t>
            </a:r>
            <a:r>
              <a:rPr sz="900" spc="1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기술혁신과</a:t>
            </a:r>
            <a:r>
              <a:rPr sz="900" spc="10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사회·정치혁신의</a:t>
            </a:r>
            <a:r>
              <a:rPr sz="900" spc="1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방향을</a:t>
            </a:r>
            <a:r>
              <a:rPr sz="900" spc="10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함께</a:t>
            </a:r>
            <a:r>
              <a:rPr sz="900" spc="1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질문하는</a:t>
            </a:r>
            <a:r>
              <a:rPr sz="900" spc="10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공론장입니다.</a:t>
            </a:r>
            <a:r>
              <a:rPr sz="900" spc="1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본</a:t>
            </a:r>
            <a:r>
              <a:rPr sz="900" spc="1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행사의</a:t>
            </a:r>
            <a:r>
              <a:rPr sz="900" spc="10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취 </a:t>
            </a:r>
            <a:r>
              <a:rPr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지에</a:t>
            </a:r>
            <a:r>
              <a:rPr sz="900" spc="8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공감하는</a:t>
            </a:r>
            <a:r>
              <a:rPr sz="900" spc="8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개인,</a:t>
            </a:r>
            <a:r>
              <a:rPr sz="900" spc="8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기관,</a:t>
            </a:r>
            <a:r>
              <a:rPr sz="900" spc="8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기업,</a:t>
            </a:r>
            <a:r>
              <a:rPr sz="900" spc="8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단체,</a:t>
            </a:r>
            <a:r>
              <a:rPr sz="900" spc="9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알럼나이의</a:t>
            </a:r>
            <a:r>
              <a:rPr sz="900" spc="8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후원과</a:t>
            </a:r>
            <a:r>
              <a:rPr sz="900" spc="8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협력을</a:t>
            </a:r>
            <a:r>
              <a:rPr sz="900" spc="8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9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기다립니다.</a:t>
            </a:r>
            <a:endParaRPr sz="900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  <a:cs typeface="Malgun Gothic"/>
            </a:endParaRPr>
          </a:p>
        </p:txBody>
      </p:sp>
      <p:grpSp>
        <p:nvGrpSpPr>
          <p:cNvPr id="18" name="object 6"/>
          <p:cNvGrpSpPr/>
          <p:nvPr/>
        </p:nvGrpSpPr>
        <p:grpSpPr>
          <a:xfrm>
            <a:off x="647700" y="6297612"/>
            <a:ext cx="3028950" cy="2762250"/>
            <a:chOff x="647700" y="2438399"/>
            <a:chExt cx="3028950" cy="2762250"/>
          </a:xfrm>
        </p:grpSpPr>
        <p:sp>
          <p:nvSpPr>
            <p:cNvPr id="19" name="object 7"/>
            <p:cNvSpPr/>
            <p:nvPr/>
          </p:nvSpPr>
          <p:spPr>
            <a:xfrm>
              <a:off x="647700" y="2438399"/>
              <a:ext cx="3028950" cy="2762250"/>
            </a:xfrm>
            <a:custGeom>
              <a:avLst/>
              <a:gdLst/>
              <a:ahLst/>
              <a:cxnLst/>
              <a:rect l="l" t="t" r="r" b="b"/>
              <a:pathLst>
                <a:path w="3028950" h="2762250">
                  <a:moveTo>
                    <a:pt x="3028950" y="2762250"/>
                  </a:moveTo>
                  <a:lnTo>
                    <a:pt x="0" y="2762250"/>
                  </a:lnTo>
                  <a:lnTo>
                    <a:pt x="0" y="0"/>
                  </a:lnTo>
                  <a:lnTo>
                    <a:pt x="3028950" y="0"/>
                  </a:lnTo>
                  <a:lnTo>
                    <a:pt x="3028950" y="2762250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+mj-ea"/>
                <a:ea typeface="+mj-ea"/>
              </a:endParaRPr>
            </a:p>
          </p:txBody>
        </p:sp>
        <p:sp>
          <p:nvSpPr>
            <p:cNvPr id="20" name="object 8"/>
            <p:cNvSpPr/>
            <p:nvPr/>
          </p:nvSpPr>
          <p:spPr>
            <a:xfrm>
              <a:off x="652462" y="2443162"/>
              <a:ext cx="3019425" cy="2752725"/>
            </a:xfrm>
            <a:custGeom>
              <a:avLst/>
              <a:gdLst/>
              <a:ahLst/>
              <a:cxnLst/>
              <a:rect l="l" t="t" r="r" b="b"/>
              <a:pathLst>
                <a:path w="3019425" h="2752725">
                  <a:moveTo>
                    <a:pt x="0" y="0"/>
                  </a:moveTo>
                  <a:lnTo>
                    <a:pt x="3019425" y="0"/>
                  </a:lnTo>
                  <a:lnTo>
                    <a:pt x="3019425" y="2752725"/>
                  </a:lnTo>
                  <a:lnTo>
                    <a:pt x="0" y="275272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1C213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ea"/>
                <a:ea typeface="+mj-ea"/>
              </a:endParaRPr>
            </a:p>
          </p:txBody>
        </p:sp>
      </p:grpSp>
      <p:sp>
        <p:nvSpPr>
          <p:cNvPr id="21" name="object 9"/>
          <p:cNvSpPr txBox="1"/>
          <p:nvPr/>
        </p:nvSpPr>
        <p:spPr>
          <a:xfrm>
            <a:off x="855464" y="6472174"/>
            <a:ext cx="2612390" cy="6788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00" b="1" spc="-22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후원</a:t>
            </a:r>
            <a:r>
              <a:rPr sz="1500" b="1" spc="-12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1500" b="1" spc="-2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계좌</a:t>
            </a:r>
            <a:endParaRPr sz="1500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  <a:cs typeface="Malgun Gothic"/>
            </a:endParaRPr>
          </a:p>
          <a:p>
            <a:pPr marR="5080">
              <a:lnSpc>
                <a:spcPct val="148400"/>
              </a:lnSpc>
              <a:spcBef>
                <a:spcPts val="459"/>
              </a:spcBef>
            </a:pP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후원금은</a:t>
            </a:r>
            <a:r>
              <a:rPr sz="800" spc="6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VAN</a:t>
            </a:r>
            <a:r>
              <a:rPr sz="800" spc="6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컨퍼런스</a:t>
            </a:r>
            <a:r>
              <a:rPr sz="800" spc="6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운영</a:t>
            </a:r>
            <a:r>
              <a:rPr sz="800" spc="6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및</a:t>
            </a:r>
            <a:r>
              <a:rPr sz="800" spc="6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청년</a:t>
            </a:r>
            <a:r>
              <a:rPr sz="800" spc="6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공론장</a:t>
            </a:r>
            <a:r>
              <a:rPr sz="800" spc="6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조성을</a:t>
            </a:r>
            <a:r>
              <a:rPr sz="800" spc="6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8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위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한</a:t>
            </a:r>
            <a:r>
              <a:rPr sz="800" spc="6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행사</a:t>
            </a:r>
            <a:r>
              <a:rPr sz="800" spc="6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운영비로</a:t>
            </a:r>
            <a:r>
              <a:rPr sz="800" spc="6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8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사용됩니다.</a:t>
            </a:r>
            <a:endParaRPr sz="800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  <a:cs typeface="Malgun Gothic"/>
            </a:endParaRPr>
          </a:p>
        </p:txBody>
      </p:sp>
      <p:sp>
        <p:nvSpPr>
          <p:cNvPr id="22" name="object 10"/>
          <p:cNvSpPr txBox="1"/>
          <p:nvPr/>
        </p:nvSpPr>
        <p:spPr>
          <a:xfrm>
            <a:off x="855464" y="7318375"/>
            <a:ext cx="229870" cy="1096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6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B</a:t>
            </a:r>
            <a:r>
              <a:rPr sz="600" spc="-21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A</a:t>
            </a:r>
            <a:r>
              <a:rPr sz="600" spc="-204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N</a:t>
            </a:r>
            <a:r>
              <a:rPr sz="600" spc="-21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600" spc="-5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K</a:t>
            </a:r>
            <a:endParaRPr sz="600">
              <a:latin typeface="+mj-ea"/>
              <a:ea typeface="+mj-ea"/>
              <a:cs typeface="Consolas"/>
            </a:endParaRPr>
          </a:p>
        </p:txBody>
      </p:sp>
      <p:sp>
        <p:nvSpPr>
          <p:cNvPr id="23" name="object 11"/>
          <p:cNvSpPr txBox="1"/>
          <p:nvPr/>
        </p:nvSpPr>
        <p:spPr>
          <a:xfrm>
            <a:off x="2007241" y="7328853"/>
            <a:ext cx="447040" cy="144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850" spc="-20" dirty="0">
                <a:solidFill>
                  <a:srgbClr val="1C2136"/>
                </a:solidFill>
                <a:latin typeface="+mj-ea"/>
                <a:ea typeface="+mj-ea"/>
                <a:cs typeface="Malgun Gothic"/>
              </a:rPr>
              <a:t>토스뱅크</a:t>
            </a:r>
            <a:endParaRPr sz="850" dirty="0">
              <a:latin typeface="+mj-ea"/>
              <a:ea typeface="+mj-ea"/>
              <a:cs typeface="Malgun Gothic"/>
            </a:endParaRPr>
          </a:p>
        </p:txBody>
      </p:sp>
      <p:sp>
        <p:nvSpPr>
          <p:cNvPr id="24" name="object 12"/>
          <p:cNvSpPr txBox="1"/>
          <p:nvPr/>
        </p:nvSpPr>
        <p:spPr>
          <a:xfrm>
            <a:off x="855464" y="7594600"/>
            <a:ext cx="402590" cy="1096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6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A</a:t>
            </a:r>
            <a:r>
              <a:rPr sz="600" spc="-21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C</a:t>
            </a:r>
            <a:r>
              <a:rPr sz="600" spc="-204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C</a:t>
            </a:r>
            <a:r>
              <a:rPr sz="600" spc="-21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O</a:t>
            </a:r>
            <a:r>
              <a:rPr sz="600" spc="-204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U</a:t>
            </a:r>
            <a:r>
              <a:rPr sz="600" spc="-21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N</a:t>
            </a:r>
            <a:r>
              <a:rPr sz="600" spc="-204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600" spc="-5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T</a:t>
            </a:r>
            <a:endParaRPr sz="600">
              <a:latin typeface="+mj-ea"/>
              <a:ea typeface="+mj-ea"/>
              <a:cs typeface="Consolas"/>
            </a:endParaRPr>
          </a:p>
        </p:txBody>
      </p:sp>
      <p:sp>
        <p:nvSpPr>
          <p:cNvPr id="25" name="object 13"/>
          <p:cNvSpPr txBox="1"/>
          <p:nvPr/>
        </p:nvSpPr>
        <p:spPr>
          <a:xfrm>
            <a:off x="2007241" y="7605078"/>
            <a:ext cx="857885" cy="144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850" dirty="0">
                <a:solidFill>
                  <a:srgbClr val="1C2136"/>
                </a:solidFill>
                <a:latin typeface="+mj-ea"/>
                <a:ea typeface="+mj-ea"/>
                <a:cs typeface="Malgun Gothic"/>
              </a:rPr>
              <a:t>1002-3139-</a:t>
            </a:r>
            <a:r>
              <a:rPr sz="850" spc="-20" dirty="0">
                <a:solidFill>
                  <a:srgbClr val="1C2136"/>
                </a:solidFill>
                <a:latin typeface="+mj-ea"/>
                <a:ea typeface="+mj-ea"/>
                <a:cs typeface="Malgun Gothic"/>
              </a:rPr>
              <a:t>5718</a:t>
            </a:r>
            <a:endParaRPr sz="850" dirty="0">
              <a:latin typeface="+mj-ea"/>
              <a:ea typeface="+mj-ea"/>
              <a:cs typeface="Malgun Gothic"/>
            </a:endParaRPr>
          </a:p>
        </p:txBody>
      </p:sp>
      <p:sp>
        <p:nvSpPr>
          <p:cNvPr id="26" name="object 14"/>
          <p:cNvSpPr txBox="1"/>
          <p:nvPr/>
        </p:nvSpPr>
        <p:spPr>
          <a:xfrm>
            <a:off x="855464" y="7870825"/>
            <a:ext cx="344805" cy="1096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6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H</a:t>
            </a:r>
            <a:r>
              <a:rPr sz="600" spc="-21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O</a:t>
            </a:r>
            <a:r>
              <a:rPr sz="600" spc="-204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L</a:t>
            </a:r>
            <a:r>
              <a:rPr sz="600" spc="-21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D</a:t>
            </a:r>
            <a:r>
              <a:rPr sz="600" spc="-204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E</a:t>
            </a:r>
            <a:r>
              <a:rPr sz="600" spc="-21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600" spc="-5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R</a:t>
            </a:r>
            <a:endParaRPr sz="600">
              <a:latin typeface="+mj-ea"/>
              <a:ea typeface="+mj-ea"/>
              <a:cs typeface="Consolas"/>
            </a:endParaRPr>
          </a:p>
        </p:txBody>
      </p:sp>
      <p:sp>
        <p:nvSpPr>
          <p:cNvPr id="27" name="object 15"/>
          <p:cNvSpPr txBox="1"/>
          <p:nvPr/>
        </p:nvSpPr>
        <p:spPr>
          <a:xfrm>
            <a:off x="2007241" y="7881303"/>
            <a:ext cx="242570" cy="144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850" spc="-25" dirty="0">
                <a:solidFill>
                  <a:srgbClr val="1C2136"/>
                </a:solidFill>
                <a:latin typeface="+mj-ea"/>
                <a:ea typeface="+mj-ea"/>
                <a:cs typeface="Malgun Gothic"/>
              </a:rPr>
              <a:t>VAN</a:t>
            </a:r>
            <a:endParaRPr sz="850" dirty="0">
              <a:latin typeface="+mj-ea"/>
              <a:ea typeface="+mj-ea"/>
              <a:cs typeface="Malgun Gothic"/>
            </a:endParaRPr>
          </a:p>
        </p:txBody>
      </p:sp>
      <p:sp>
        <p:nvSpPr>
          <p:cNvPr id="28" name="object 16"/>
          <p:cNvSpPr txBox="1"/>
          <p:nvPr/>
        </p:nvSpPr>
        <p:spPr>
          <a:xfrm>
            <a:off x="855464" y="8172767"/>
            <a:ext cx="2618105" cy="654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40600"/>
              </a:lnSpc>
              <a:spcBef>
                <a:spcPts val="95"/>
              </a:spcBef>
            </a:pP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입금자명은</a:t>
            </a:r>
            <a:r>
              <a:rPr sz="800" spc="1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가급적</a:t>
            </a:r>
            <a:r>
              <a:rPr sz="800" spc="1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“성함+VAN후원”</a:t>
            </a:r>
            <a:r>
              <a:rPr sz="800" spc="1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형식으로</a:t>
            </a:r>
            <a:r>
              <a:rPr sz="800" spc="1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8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기재해주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시기</a:t>
            </a:r>
            <a:r>
              <a:rPr sz="800" spc="5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8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바랍니다.</a:t>
            </a:r>
            <a:endParaRPr sz="800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  <a:cs typeface="Malgun Gothic"/>
            </a:endParaRPr>
          </a:p>
          <a:p>
            <a:pPr>
              <a:lnSpc>
                <a:spcPct val="100000"/>
              </a:lnSpc>
              <a:spcBef>
                <a:spcPts val="1290"/>
              </a:spcBef>
            </a:pP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예시:</a:t>
            </a:r>
            <a:r>
              <a:rPr sz="800" spc="5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8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홍길동VAN후원</a:t>
            </a:r>
            <a:endParaRPr sz="800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  <a:cs typeface="Malgun Gothic"/>
            </a:endParaRPr>
          </a:p>
        </p:txBody>
      </p:sp>
      <p:grpSp>
        <p:nvGrpSpPr>
          <p:cNvPr id="29" name="object 17"/>
          <p:cNvGrpSpPr/>
          <p:nvPr/>
        </p:nvGrpSpPr>
        <p:grpSpPr>
          <a:xfrm>
            <a:off x="3886200" y="6297612"/>
            <a:ext cx="3028950" cy="2762250"/>
            <a:chOff x="3886200" y="2438399"/>
            <a:chExt cx="3028950" cy="2762250"/>
          </a:xfrm>
        </p:grpSpPr>
        <p:sp>
          <p:nvSpPr>
            <p:cNvPr id="30" name="object 18"/>
            <p:cNvSpPr/>
            <p:nvPr/>
          </p:nvSpPr>
          <p:spPr>
            <a:xfrm>
              <a:off x="3886200" y="2438399"/>
              <a:ext cx="3028950" cy="2762250"/>
            </a:xfrm>
            <a:custGeom>
              <a:avLst/>
              <a:gdLst/>
              <a:ahLst/>
              <a:cxnLst/>
              <a:rect l="l" t="t" r="r" b="b"/>
              <a:pathLst>
                <a:path w="3028950" h="2762250">
                  <a:moveTo>
                    <a:pt x="3028950" y="2762250"/>
                  </a:moveTo>
                  <a:lnTo>
                    <a:pt x="0" y="2762250"/>
                  </a:lnTo>
                  <a:lnTo>
                    <a:pt x="0" y="0"/>
                  </a:lnTo>
                  <a:lnTo>
                    <a:pt x="3028950" y="0"/>
                  </a:lnTo>
                  <a:lnTo>
                    <a:pt x="3028950" y="2762250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+mj-ea"/>
                <a:ea typeface="+mj-ea"/>
              </a:endParaRPr>
            </a:p>
          </p:txBody>
        </p:sp>
        <p:sp>
          <p:nvSpPr>
            <p:cNvPr id="31" name="object 19"/>
            <p:cNvSpPr/>
            <p:nvPr/>
          </p:nvSpPr>
          <p:spPr>
            <a:xfrm>
              <a:off x="3890962" y="2443162"/>
              <a:ext cx="3019425" cy="2752725"/>
            </a:xfrm>
            <a:custGeom>
              <a:avLst/>
              <a:gdLst/>
              <a:ahLst/>
              <a:cxnLst/>
              <a:rect l="l" t="t" r="r" b="b"/>
              <a:pathLst>
                <a:path w="3019425" h="2752725">
                  <a:moveTo>
                    <a:pt x="0" y="0"/>
                  </a:moveTo>
                  <a:lnTo>
                    <a:pt x="3019425" y="0"/>
                  </a:lnTo>
                  <a:lnTo>
                    <a:pt x="3019425" y="2752725"/>
                  </a:lnTo>
                  <a:lnTo>
                    <a:pt x="0" y="275272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1C213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ea"/>
                <a:ea typeface="+mj-ea"/>
              </a:endParaRPr>
            </a:p>
          </p:txBody>
        </p:sp>
      </p:grpSp>
      <p:sp>
        <p:nvSpPr>
          <p:cNvPr id="32" name="object 20"/>
          <p:cNvSpPr txBox="1"/>
          <p:nvPr/>
        </p:nvSpPr>
        <p:spPr>
          <a:xfrm>
            <a:off x="4095302" y="6454549"/>
            <a:ext cx="2576830" cy="663387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1500" b="1" spc="-21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후원</a:t>
            </a:r>
            <a:r>
              <a:rPr lang="en-US" sz="1650" b="1" spc="-21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&amp; </a:t>
            </a:r>
            <a:r>
              <a:rPr sz="1500" b="1" spc="-21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협찬</a:t>
            </a:r>
            <a:r>
              <a:rPr sz="1500" b="1" spc="-11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1500" b="1" spc="-22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관련</a:t>
            </a:r>
            <a:r>
              <a:rPr sz="1500" b="1" spc="-11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1500" b="1" spc="-2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문의</a:t>
            </a:r>
            <a:endParaRPr sz="1500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  <a:cs typeface="Malgun Gothic"/>
            </a:endParaRPr>
          </a:p>
          <a:p>
            <a:pPr marR="5080">
              <a:lnSpc>
                <a:spcPct val="148400"/>
              </a:lnSpc>
              <a:spcBef>
                <a:spcPts val="430"/>
              </a:spcBef>
            </a:pP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기업,</a:t>
            </a:r>
            <a:r>
              <a:rPr sz="800" spc="6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기관,</a:t>
            </a:r>
            <a:r>
              <a:rPr sz="800" spc="6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단체,</a:t>
            </a:r>
            <a:r>
              <a:rPr sz="800" spc="6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알럼나이</a:t>
            </a:r>
            <a:r>
              <a:rPr sz="800" spc="6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후원</a:t>
            </a:r>
            <a:r>
              <a:rPr sz="800" spc="6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또는</a:t>
            </a:r>
            <a:r>
              <a:rPr sz="800" spc="6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협찬</a:t>
            </a:r>
            <a:r>
              <a:rPr sz="800" spc="6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관련</a:t>
            </a:r>
            <a:r>
              <a:rPr sz="800" spc="6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800" spc="-2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문의는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아래</a:t>
            </a:r>
            <a:r>
              <a:rPr sz="800" spc="9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채널로</a:t>
            </a:r>
            <a:r>
              <a:rPr sz="800" spc="9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연락해주시기</a:t>
            </a:r>
            <a:r>
              <a:rPr sz="800" spc="9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8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바랍니다.</a:t>
            </a:r>
            <a:endParaRPr sz="800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  <a:cs typeface="Malgun Gothic"/>
            </a:endParaRPr>
          </a:p>
        </p:txBody>
      </p:sp>
      <p:sp>
        <p:nvSpPr>
          <p:cNvPr id="33" name="object 21"/>
          <p:cNvSpPr txBox="1"/>
          <p:nvPr/>
        </p:nvSpPr>
        <p:spPr>
          <a:xfrm>
            <a:off x="4095302" y="7318375"/>
            <a:ext cx="287655" cy="1096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6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E</a:t>
            </a:r>
            <a:r>
              <a:rPr sz="600" spc="-21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M</a:t>
            </a:r>
            <a:r>
              <a:rPr sz="600" spc="-204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A</a:t>
            </a:r>
            <a:r>
              <a:rPr sz="600" spc="-21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I</a:t>
            </a:r>
            <a:r>
              <a:rPr sz="600" spc="-204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600" spc="-5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L</a:t>
            </a:r>
            <a:endParaRPr sz="600" dirty="0">
              <a:latin typeface="+mj-ea"/>
              <a:ea typeface="+mj-ea"/>
              <a:cs typeface="Consolas"/>
            </a:endParaRPr>
          </a:p>
        </p:txBody>
      </p:sp>
      <p:sp>
        <p:nvSpPr>
          <p:cNvPr id="34" name="object 22"/>
          <p:cNvSpPr txBox="1"/>
          <p:nvPr/>
        </p:nvSpPr>
        <p:spPr>
          <a:xfrm>
            <a:off x="5247084" y="7328853"/>
            <a:ext cx="1211580" cy="144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850" u="sng" spc="-10" dirty="0">
                <a:solidFill>
                  <a:srgbClr val="1C2136"/>
                </a:solidFill>
                <a:latin typeface="+mj-ea"/>
                <a:ea typeface="+mj-ea"/>
                <a:cs typeface="Malgun Gothic"/>
                <a:hlinkClick r:id="rId3"/>
              </a:rPr>
              <a:t>veritas_van@naver.com</a:t>
            </a:r>
            <a:endParaRPr sz="850" u="sng" dirty="0">
              <a:latin typeface="+mj-ea"/>
              <a:ea typeface="+mj-ea"/>
              <a:cs typeface="Malgun Gothic"/>
            </a:endParaRPr>
          </a:p>
        </p:txBody>
      </p:sp>
      <p:sp>
        <p:nvSpPr>
          <p:cNvPr id="35" name="object 23"/>
          <p:cNvSpPr txBox="1"/>
          <p:nvPr/>
        </p:nvSpPr>
        <p:spPr>
          <a:xfrm>
            <a:off x="4095302" y="7594600"/>
            <a:ext cx="517525" cy="1096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6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I</a:t>
            </a:r>
            <a:r>
              <a:rPr sz="600" spc="-21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N</a:t>
            </a:r>
            <a:r>
              <a:rPr sz="600" spc="-204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S</a:t>
            </a:r>
            <a:r>
              <a:rPr sz="600" spc="-21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T</a:t>
            </a:r>
            <a:r>
              <a:rPr sz="600" spc="-204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A</a:t>
            </a:r>
            <a:r>
              <a:rPr sz="600" spc="-21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G</a:t>
            </a:r>
            <a:r>
              <a:rPr sz="600" spc="-204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R</a:t>
            </a:r>
            <a:r>
              <a:rPr sz="600" spc="-21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A</a:t>
            </a:r>
            <a:r>
              <a:rPr sz="600" spc="-204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 </a:t>
            </a:r>
            <a:r>
              <a:rPr sz="600" spc="-50" dirty="0">
                <a:solidFill>
                  <a:srgbClr val="A7814D"/>
                </a:solidFill>
                <a:latin typeface="+mj-ea"/>
                <a:ea typeface="+mj-ea"/>
                <a:cs typeface="Consolas"/>
              </a:rPr>
              <a:t>M</a:t>
            </a:r>
            <a:endParaRPr sz="600" dirty="0">
              <a:latin typeface="+mj-ea"/>
              <a:ea typeface="+mj-ea"/>
              <a:cs typeface="Consolas"/>
            </a:endParaRPr>
          </a:p>
        </p:txBody>
      </p:sp>
      <p:sp>
        <p:nvSpPr>
          <p:cNvPr id="36" name="object 24"/>
          <p:cNvSpPr txBox="1"/>
          <p:nvPr/>
        </p:nvSpPr>
        <p:spPr>
          <a:xfrm>
            <a:off x="5247084" y="7605078"/>
            <a:ext cx="687705" cy="144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850" spc="-10" dirty="0">
                <a:solidFill>
                  <a:srgbClr val="1C2136"/>
                </a:solidFill>
                <a:latin typeface="+mj-ea"/>
                <a:ea typeface="+mj-ea"/>
                <a:cs typeface="Malgun Gothic"/>
              </a:rPr>
              <a:t>@veritas_van</a:t>
            </a:r>
            <a:endParaRPr sz="850" dirty="0">
              <a:latin typeface="+mj-ea"/>
              <a:ea typeface="+mj-ea"/>
              <a:cs typeface="Malgun Gothic"/>
            </a:endParaRPr>
          </a:p>
        </p:txBody>
      </p:sp>
      <p:sp>
        <p:nvSpPr>
          <p:cNvPr id="37" name="object 25"/>
          <p:cNvSpPr txBox="1"/>
          <p:nvPr/>
        </p:nvSpPr>
        <p:spPr>
          <a:xfrm>
            <a:off x="635298" y="9209087"/>
            <a:ext cx="6220460" cy="3044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sz="75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후원금은</a:t>
            </a:r>
            <a:r>
              <a:rPr sz="75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75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VAN 컨퍼런스</a:t>
            </a:r>
            <a:r>
              <a:rPr sz="75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75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운영 및</a:t>
            </a:r>
            <a:r>
              <a:rPr sz="75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75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청년 공론장</a:t>
            </a:r>
            <a:r>
              <a:rPr sz="75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75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조성을 위한</a:t>
            </a:r>
            <a:r>
              <a:rPr sz="75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75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행사 운영비로</a:t>
            </a:r>
            <a:r>
              <a:rPr sz="75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75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사용됩니다. 세부</a:t>
            </a:r>
            <a:r>
              <a:rPr sz="75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75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후원 방식,</a:t>
            </a:r>
            <a:r>
              <a:rPr sz="75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75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증빙 처리,</a:t>
            </a:r>
            <a:r>
              <a:rPr sz="75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75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기부금 영수증</a:t>
            </a:r>
            <a:r>
              <a:rPr sz="75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 </a:t>
            </a:r>
            <a:r>
              <a:rPr sz="75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발급 여부는 </a:t>
            </a:r>
            <a:r>
              <a:rPr sz="750" spc="-25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문의 </a:t>
            </a:r>
            <a:r>
              <a:rPr sz="75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후 별도 </a:t>
            </a:r>
            <a:r>
              <a:rPr sz="75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Malgun Gothic"/>
              </a:rPr>
              <a:t>안내드립니다.</a:t>
            </a:r>
            <a:endParaRPr sz="750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  <a:cs typeface="Malgun Gothic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08BCF019-3933-3E27-82A9-7BD2735641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2217" y="7932102"/>
            <a:ext cx="687705" cy="790129"/>
          </a:xfrm>
          <a:prstGeom prst="rect">
            <a:avLst/>
          </a:prstGeom>
        </p:spPr>
      </p:pic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D9664314-EEA5-39F0-D72F-15D5942A794B}"/>
              </a:ext>
            </a:extLst>
          </p:cNvPr>
          <p:cNvCxnSpPr>
            <a:cxnSpLocks/>
          </p:cNvCxnSpPr>
          <p:nvPr/>
        </p:nvCxnSpPr>
        <p:spPr>
          <a:xfrm>
            <a:off x="635298" y="5422900"/>
            <a:ext cx="6571952" cy="0"/>
          </a:xfrm>
          <a:prstGeom prst="line">
            <a:avLst/>
          </a:prstGeom>
          <a:ln>
            <a:solidFill>
              <a:srgbClr val="D6D2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86025" y="3905249"/>
            <a:ext cx="2590800" cy="165735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2771775" y="6000673"/>
            <a:ext cx="2019300" cy="9525"/>
          </a:xfrm>
          <a:custGeom>
            <a:avLst/>
            <a:gdLst/>
            <a:ahLst/>
            <a:cxnLst/>
            <a:rect l="l" t="t" r="r" b="b"/>
            <a:pathLst>
              <a:path w="2019300" h="9525">
                <a:moveTo>
                  <a:pt x="2019300" y="9525"/>
                </a:moveTo>
                <a:lnTo>
                  <a:pt x="0" y="9525"/>
                </a:lnTo>
                <a:lnTo>
                  <a:pt x="0" y="0"/>
                </a:lnTo>
                <a:lnTo>
                  <a:pt x="2019300" y="0"/>
                </a:lnTo>
                <a:lnTo>
                  <a:pt x="2019300" y="9525"/>
                </a:lnTo>
                <a:close/>
              </a:path>
            </a:pathLst>
          </a:custGeom>
          <a:solidFill>
            <a:srgbClr val="ECE7DB">
              <a:alpha val="160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91492" y="6543888"/>
            <a:ext cx="2371090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solidFill>
                  <a:srgbClr val="BEC2CD"/>
                </a:solidFill>
                <a:latin typeface="Century"/>
                <a:cs typeface="Century"/>
              </a:rPr>
              <a:t>The </a:t>
            </a:r>
            <a:r>
              <a:rPr sz="1300" spc="-25" dirty="0">
                <a:solidFill>
                  <a:srgbClr val="BEC2CD"/>
                </a:solidFill>
                <a:latin typeface="Century"/>
                <a:cs typeface="Century"/>
              </a:rPr>
              <a:t>Arena</a:t>
            </a:r>
            <a:r>
              <a:rPr sz="1300" dirty="0">
                <a:solidFill>
                  <a:srgbClr val="BEC2CD"/>
                </a:solidFill>
                <a:latin typeface="Century"/>
                <a:cs typeface="Century"/>
              </a:rPr>
              <a:t> of Innovation </a:t>
            </a:r>
            <a:r>
              <a:rPr sz="1250" dirty="0">
                <a:solidFill>
                  <a:srgbClr val="BEC2CD"/>
                </a:solidFill>
                <a:latin typeface="Times New Roman"/>
                <a:cs typeface="Times New Roman"/>
              </a:rPr>
              <a:t>·</a:t>
            </a:r>
            <a:r>
              <a:rPr sz="1250" spc="50" dirty="0">
                <a:solidFill>
                  <a:srgbClr val="BEC2CD"/>
                </a:solidFill>
                <a:latin typeface="Times New Roman"/>
                <a:cs typeface="Times New Roman"/>
              </a:rPr>
              <a:t> </a:t>
            </a:r>
            <a:r>
              <a:rPr sz="1300" spc="-40" dirty="0">
                <a:solidFill>
                  <a:srgbClr val="BEC2CD"/>
                </a:solidFill>
                <a:latin typeface="Century"/>
                <a:cs typeface="Century"/>
              </a:rPr>
              <a:t>2026</a:t>
            </a:r>
            <a:endParaRPr sz="1300">
              <a:latin typeface="Century"/>
              <a:cs typeface="Century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84282" y="10134357"/>
            <a:ext cx="130175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30"/>
              </a:lnSpc>
            </a:pPr>
            <a:r>
              <a:rPr sz="650" spc="-25" dirty="0">
                <a:solidFill>
                  <a:srgbClr val="C8A062"/>
                </a:solidFill>
                <a:latin typeface="Consolas"/>
                <a:cs typeface="Consolas"/>
              </a:rPr>
              <a:t>10</a:t>
            </a:r>
            <a:endParaRPr sz="650">
              <a:latin typeface="Consolas"/>
              <a:cs typeface="Consolas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6B636DB7-88CA-620F-F744-11FEB29A218B}"/>
              </a:ext>
            </a:extLst>
          </p:cNvPr>
          <p:cNvSpPr/>
          <p:nvPr/>
        </p:nvSpPr>
        <p:spPr>
          <a:xfrm>
            <a:off x="0" y="360620"/>
            <a:ext cx="7556500" cy="63500"/>
          </a:xfrm>
          <a:custGeom>
            <a:avLst/>
            <a:gdLst/>
            <a:ahLst/>
            <a:cxnLst/>
            <a:rect l="l" t="t" r="r" b="b"/>
            <a:pathLst>
              <a:path w="7556500" h="63500">
                <a:moveTo>
                  <a:pt x="0" y="62998"/>
                </a:moveTo>
                <a:lnTo>
                  <a:pt x="4304922" y="62998"/>
                </a:lnTo>
                <a:lnTo>
                  <a:pt x="4514918" y="0"/>
                </a:lnTo>
                <a:lnTo>
                  <a:pt x="7555992" y="0"/>
                </a:lnTo>
              </a:path>
            </a:pathLst>
          </a:custGeom>
          <a:ln w="5249">
            <a:solidFill>
              <a:srgbClr val="ECE7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C213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</TotalTime>
  <Words>1272</Words>
  <Application>Microsoft Office PowerPoint</Application>
  <PresentationFormat>사용자 지정</PresentationFormat>
  <Paragraphs>189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Noto Serif KR SemiBold</vt:lpstr>
      <vt:lpstr>Malgun Gothic</vt:lpstr>
      <vt:lpstr>Calibri</vt:lpstr>
      <vt:lpstr>Century</vt:lpstr>
      <vt:lpstr>Consolas</vt:lpstr>
      <vt:lpstr>Georgia</vt:lpstr>
      <vt:lpstr>Times New Roman</vt:lpstr>
      <vt:lpstr>Office Theme</vt:lpstr>
      <vt:lpstr>PowerPoint 프레젠테이션</vt:lpstr>
      <vt:lpstr>PowerPoint 프레젠테이션</vt:lpstr>
      <vt:lpstr>Time Table</vt:lpstr>
      <vt:lpstr>세션 구성</vt:lpstr>
      <vt:lpstr>확정 연사</vt:lpstr>
      <vt:lpstr>오시는 길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 Conference Invitation PDF</dc:title>
  <cp:lastModifiedBy>정영일 [학부 / 전기전자공학부]</cp:lastModifiedBy>
  <cp:revision>8</cp:revision>
  <dcterms:created xsi:type="dcterms:W3CDTF">2026-06-24T06:47:38Z</dcterms:created>
  <dcterms:modified xsi:type="dcterms:W3CDTF">2026-07-23T02:14:54Z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2026-06-24T00:00:00Z</vt:filetime>
  </property>
  <property fmtid="{D5CDD505-2E9C-101B-9397-08002B2CF9AE}" pid="3" name="Creator">
    <vt:lpwstr>Mozilla/5.0 (Windows NT 10.0; Win64; x64) AppleWebKit/537.36 (KHTML, like Gecko) HeadlessChrome/149.0.0.0 Safari/537.36</vt:lpwstr>
  </property>
  <property fmtid="{D5CDD505-2E9C-101B-9397-08002B2CF9AE}" pid="4" name="LastSaved">
    <vt:filetime>2026-06-24T00:00:00Z</vt:filetime>
  </property>
  <property fmtid="{D5CDD505-2E9C-101B-9397-08002B2CF9AE}" pid="5" name="Producer">
    <vt:lpwstr>3-Heights(TM) PDF Security Shell 4.8.25.2 (http://www.pdf-tools.com)</vt:lpwstr>
  </property>
</Properties>
</file>